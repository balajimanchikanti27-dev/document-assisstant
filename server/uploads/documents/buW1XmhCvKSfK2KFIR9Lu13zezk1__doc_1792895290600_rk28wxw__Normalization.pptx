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9F475-29BE-4360-B4F7-D37AF85DB617}" type="datetimeFigureOut">
              <a:rPr lang="en-US" smtClean="0"/>
              <a:t>11/11/2022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D2CC-7BAD-4DDC-84A6-7AF770738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46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9F475-29BE-4360-B4F7-D37AF85DB617}" type="datetimeFigureOut">
              <a:rPr lang="en-US" smtClean="0"/>
              <a:t>11/11/2022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D2CC-7BAD-4DDC-84A6-7AF770738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020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9F475-29BE-4360-B4F7-D37AF85DB617}" type="datetimeFigureOut">
              <a:rPr lang="en-US" smtClean="0"/>
              <a:t>11/11/2022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D2CC-7BAD-4DDC-84A6-7AF770738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461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9F475-29BE-4360-B4F7-D37AF85DB617}" type="datetimeFigureOut">
              <a:rPr lang="en-US" smtClean="0"/>
              <a:t>11/11/2022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D2CC-7BAD-4DDC-84A6-7AF770738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108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9F475-29BE-4360-B4F7-D37AF85DB617}" type="datetimeFigureOut">
              <a:rPr lang="en-US" smtClean="0"/>
              <a:t>11/11/2022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D2CC-7BAD-4DDC-84A6-7AF770738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31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9F475-29BE-4360-B4F7-D37AF85DB617}" type="datetimeFigureOut">
              <a:rPr lang="en-US" smtClean="0"/>
              <a:t>11/11/2022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D2CC-7BAD-4DDC-84A6-7AF770738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89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9F475-29BE-4360-B4F7-D37AF85DB617}" type="datetimeFigureOut">
              <a:rPr lang="en-US" smtClean="0"/>
              <a:t>11/11/2022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D2CC-7BAD-4DDC-84A6-7AF770738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063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9F475-29BE-4360-B4F7-D37AF85DB617}" type="datetimeFigureOut">
              <a:rPr lang="en-US" smtClean="0"/>
              <a:t>11/11/2022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D2CC-7BAD-4DDC-84A6-7AF770738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169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9F475-29BE-4360-B4F7-D37AF85DB617}" type="datetimeFigureOut">
              <a:rPr lang="en-US" smtClean="0"/>
              <a:t>11/11/2022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D2CC-7BAD-4DDC-84A6-7AF770738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92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9F475-29BE-4360-B4F7-D37AF85DB617}" type="datetimeFigureOut">
              <a:rPr lang="en-US" smtClean="0"/>
              <a:t>11/11/2022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D2CC-7BAD-4DDC-84A6-7AF770738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930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9F475-29BE-4360-B4F7-D37AF85DB617}" type="datetimeFigureOut">
              <a:rPr lang="en-US" smtClean="0"/>
              <a:t>11/11/2022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D2CC-7BAD-4DDC-84A6-7AF770738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679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A9F475-29BE-4360-B4F7-D37AF85DB617}" type="datetimeFigureOut">
              <a:rPr lang="en-US" smtClean="0"/>
              <a:t>11/11/2022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AD2CC-7BAD-4DDC-84A6-7AF770738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693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Normalization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577" y="1690688"/>
            <a:ext cx="1081822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Def: It is the process of analyzing the given relation schema based on their functional dependencies and primary keys to achieve the desirable properties of</a:t>
            </a:r>
          </a:p>
          <a:p>
            <a:pPr marL="0" indent="0">
              <a:buNone/>
            </a:pPr>
            <a:r>
              <a:rPr lang="en-US" dirty="0" err="1" smtClean="0"/>
              <a:t>i</a:t>
            </a:r>
            <a:r>
              <a:rPr lang="en-US" dirty="0" smtClean="0"/>
              <a:t>) minimize the redundancy </a:t>
            </a:r>
            <a:r>
              <a:rPr lang="en-US" dirty="0" err="1" smtClean="0"/>
              <a:t>i.e</a:t>
            </a:r>
            <a:r>
              <a:rPr lang="en-US" dirty="0" smtClean="0"/>
              <a:t> insert, update, delete anomalies</a:t>
            </a:r>
          </a:p>
          <a:p>
            <a:pPr marL="0" indent="0">
              <a:buNone/>
            </a:pPr>
            <a:r>
              <a:rPr lang="en-US" dirty="0"/>
              <a:t>i</a:t>
            </a:r>
            <a:r>
              <a:rPr lang="en-US" dirty="0" smtClean="0"/>
              <a:t>i) minimize the null values in tuples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The main objective is each and every relation must be well defined relation.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513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>First Normal Form(1NF)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383" y="1512117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Each attribute should be atomic (simple)</a:t>
            </a:r>
          </a:p>
          <a:p>
            <a:r>
              <a:rPr lang="en-US" dirty="0" smtClean="0"/>
              <a:t>Disallow multivalued and composite attributes and their combinations</a:t>
            </a:r>
          </a:p>
          <a:p>
            <a:pPr marL="0" indent="0">
              <a:buNone/>
            </a:pPr>
            <a:r>
              <a:rPr lang="en-US" dirty="0" smtClean="0"/>
              <a:t>Example: 							</a:t>
            </a:r>
            <a:r>
              <a:rPr lang="en-US" b="1" dirty="0" smtClean="0">
                <a:solidFill>
                  <a:srgbClr val="002060"/>
                </a:solidFill>
              </a:rPr>
              <a:t>IT IS 1NF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                                     IT IS NOT IN 1NF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853" y="2729449"/>
            <a:ext cx="5541744" cy="493819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370701"/>
              </p:ext>
            </p:extLst>
          </p:nvPr>
        </p:nvGraphicFramePr>
        <p:xfrm>
          <a:off x="838200" y="3628580"/>
          <a:ext cx="81280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83991974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2034051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1787928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952449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DNO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DNAME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DMGRENO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DLOCATIONS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625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CSE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111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{B1,B2,B3}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404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2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IT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222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{B3}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943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3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CS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333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{B4}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8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5536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15684" y="323396"/>
            <a:ext cx="11453949" cy="5959837"/>
          </a:xfrm>
        </p:spPr>
        <p:txBody>
          <a:bodyPr/>
          <a:lstStyle/>
          <a:p>
            <a:r>
              <a:rPr lang="en-US" dirty="0"/>
              <a:t>Create a separate relation for multivalued attribute along with primary key of a table which is having multivalued attribute</a:t>
            </a:r>
            <a:endParaRPr lang="en-US" dirty="0" smtClean="0"/>
          </a:p>
          <a:p>
            <a:r>
              <a:rPr lang="en-US" dirty="0" smtClean="0"/>
              <a:t>Normalize the table in to 1NF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883416"/>
              </p:ext>
            </p:extLst>
          </p:nvPr>
        </p:nvGraphicFramePr>
        <p:xfrm>
          <a:off x="1091474" y="1986764"/>
          <a:ext cx="81280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3201245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055445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1430533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62489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DNO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DNAME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DMGRENO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DLOCATIONS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354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CSE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111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{B1}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9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CSE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111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{B2}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759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CSE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111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{B3}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629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2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IT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222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{B3}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74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3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CS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333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{B4}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111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7877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749" y="260622"/>
            <a:ext cx="10515600" cy="666841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2NF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749" y="927463"/>
            <a:ext cx="11362508" cy="5551714"/>
          </a:xfrm>
        </p:spPr>
        <p:txBody>
          <a:bodyPr>
            <a:normAutofit/>
          </a:bodyPr>
          <a:lstStyle/>
          <a:p>
            <a:r>
              <a:rPr lang="en-US" dirty="0" smtClean="0"/>
              <a:t>It should be in 1NF</a:t>
            </a:r>
          </a:p>
          <a:p>
            <a:r>
              <a:rPr lang="en-US" dirty="0" smtClean="0"/>
              <a:t>Should not contain partial dependencies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Def: </a:t>
            </a:r>
            <a:r>
              <a:rPr lang="en-US" dirty="0" smtClean="0"/>
              <a:t>A relation is in 1nf and every non-prime attribute is fully functional dependent on the primary key. (</a:t>
            </a:r>
            <a:r>
              <a:rPr lang="en-US" dirty="0" err="1" smtClean="0">
                <a:solidFill>
                  <a:srgbClr val="FF0000"/>
                </a:solidFill>
              </a:rPr>
              <a:t>i.e</a:t>
            </a:r>
            <a:r>
              <a:rPr lang="en-US" dirty="0" smtClean="0">
                <a:solidFill>
                  <a:srgbClr val="FF0000"/>
                </a:solidFill>
              </a:rPr>
              <a:t> no partial dependencies allowed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2060"/>
                </a:solidFill>
              </a:rPr>
              <a:t>Partial Dependency:  </a:t>
            </a:r>
            <a:r>
              <a:rPr lang="en-US" dirty="0" smtClean="0"/>
              <a:t>A dependency in which non-key attributes are depending on part of key attribute.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2060"/>
                </a:solidFill>
              </a:rPr>
              <a:t>Under the following conditions a table cannot have Partial Dependencies:</a:t>
            </a:r>
          </a:p>
          <a:p>
            <a:pPr marL="514350" indent="-514350">
              <a:buAutoNum type="arabicParenR"/>
            </a:pPr>
            <a:r>
              <a:rPr lang="en-US" dirty="0" smtClean="0">
                <a:solidFill>
                  <a:srgbClr val="002060"/>
                </a:solidFill>
              </a:rPr>
              <a:t>If primary key consists of a single attribute</a:t>
            </a:r>
          </a:p>
          <a:p>
            <a:pPr marL="514350" indent="-514350">
              <a:buAutoNum type="arabicParenR"/>
            </a:pPr>
            <a:r>
              <a:rPr lang="en-US" dirty="0" smtClean="0">
                <a:solidFill>
                  <a:srgbClr val="002060"/>
                </a:solidFill>
              </a:rPr>
              <a:t>If table consists only two attributes</a:t>
            </a:r>
          </a:p>
          <a:p>
            <a:pPr marL="514350" indent="-514350">
              <a:buAutoNum type="arabicParenR"/>
            </a:pPr>
            <a:r>
              <a:rPr lang="en-US" dirty="0" smtClean="0">
                <a:solidFill>
                  <a:srgbClr val="002060"/>
                </a:solidFill>
              </a:rPr>
              <a:t>If all the attributes in the table are part of primary key</a:t>
            </a:r>
          </a:p>
          <a:p>
            <a:pPr marL="0" indent="0">
              <a:buNone/>
            </a:pPr>
            <a:endParaRPr lang="en-US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dirty="0" smtClean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122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9559" y="519339"/>
            <a:ext cx="11545389" cy="5685518"/>
          </a:xfrm>
        </p:spPr>
        <p:txBody>
          <a:bodyPr/>
          <a:lstStyle/>
          <a:p>
            <a:r>
              <a:rPr lang="en-US" b="1" dirty="0"/>
              <a:t>An attribute that is a part of one of the candidate keys</a:t>
            </a:r>
            <a:r>
              <a:rPr lang="en-US" dirty="0"/>
              <a:t> is known as </a:t>
            </a:r>
            <a:r>
              <a:rPr lang="en-US" dirty="0">
                <a:solidFill>
                  <a:srgbClr val="FF0000"/>
                </a:solidFill>
              </a:rPr>
              <a:t>prime </a:t>
            </a:r>
            <a:r>
              <a:rPr lang="en-US" dirty="0" smtClean="0">
                <a:solidFill>
                  <a:srgbClr val="FF0000"/>
                </a:solidFill>
              </a:rPr>
              <a:t>attribute</a:t>
            </a:r>
          </a:p>
          <a:p>
            <a:r>
              <a:rPr lang="en-US" b="1" dirty="0" smtClean="0"/>
              <a:t>An attribute that are not part of the candidate keys</a:t>
            </a:r>
            <a:r>
              <a:rPr lang="en-US" dirty="0" smtClean="0"/>
              <a:t> is known as </a:t>
            </a:r>
            <a:r>
              <a:rPr lang="en-US" dirty="0" smtClean="0">
                <a:solidFill>
                  <a:srgbClr val="FF0000"/>
                </a:solidFill>
              </a:rPr>
              <a:t>non- prime attribute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2060"/>
                </a:solidFill>
              </a:rPr>
              <a:t>Examples: 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CHECK the relation is in 2nf or not, if not convert into 2nf</a:t>
            </a:r>
          </a:p>
          <a:p>
            <a:pPr marL="0" indent="0">
              <a:buNone/>
            </a:pPr>
            <a:r>
              <a:rPr lang="en-US" sz="3200" dirty="0" smtClean="0">
                <a:solidFill>
                  <a:srgbClr val="FF0000"/>
                </a:solidFill>
              </a:rPr>
              <a:t>Q1) </a:t>
            </a:r>
            <a:r>
              <a:rPr lang="en-US" sz="3200" dirty="0" smtClean="0">
                <a:solidFill>
                  <a:srgbClr val="C00000"/>
                </a:solidFill>
              </a:rPr>
              <a:t>R(A,B,C,D)</a:t>
            </a:r>
          </a:p>
          <a:p>
            <a:pPr marL="0" indent="0">
              <a:buNone/>
            </a:pPr>
            <a:r>
              <a:rPr lang="en-US" sz="3200" dirty="0" smtClean="0"/>
              <a:t>      AB-&gt;D</a:t>
            </a:r>
          </a:p>
          <a:p>
            <a:pPr marL="0" indent="0">
              <a:buNone/>
            </a:pPr>
            <a:r>
              <a:rPr lang="en-US" sz="3200" dirty="0" smtClean="0"/>
              <a:t>      B-&gt;C</a:t>
            </a:r>
          </a:p>
          <a:p>
            <a:pPr marL="0" indent="0">
              <a:buNone/>
            </a:pPr>
            <a:r>
              <a:rPr lang="en-US" b="1" dirty="0" smtClean="0"/>
              <a:t>NOTE: </a:t>
            </a:r>
            <a:r>
              <a:rPr lang="en-US" b="1" dirty="0" smtClean="0">
                <a:solidFill>
                  <a:srgbClr val="002060"/>
                </a:solidFill>
              </a:rPr>
              <a:t>part of candidate key -&gt; non-prime attribute is not allowed</a:t>
            </a:r>
            <a:endParaRPr 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327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063" y="610778"/>
            <a:ext cx="10515600" cy="5972901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Q2)  </a:t>
            </a:r>
            <a:r>
              <a:rPr lang="en-US" dirty="0" smtClean="0">
                <a:solidFill>
                  <a:srgbClr val="C00000"/>
                </a:solidFill>
              </a:rPr>
              <a:t>EMP_PROJ(ENO,PNO,HOURS,ENAME,PNAME,PLOC)</a:t>
            </a:r>
          </a:p>
          <a:p>
            <a:pPr marL="0" indent="0">
              <a:buNone/>
            </a:pPr>
            <a:r>
              <a:rPr lang="en-US" dirty="0" smtClean="0"/>
              <a:t>       {ENO,PNO} -&gt; HOURS</a:t>
            </a:r>
          </a:p>
          <a:p>
            <a:pPr marL="0" indent="0">
              <a:buNone/>
            </a:pPr>
            <a:r>
              <a:rPr lang="en-US" dirty="0" smtClean="0"/>
              <a:t>       {ENO} -&gt; ENAME</a:t>
            </a:r>
          </a:p>
          <a:p>
            <a:pPr marL="0" indent="0">
              <a:buNone/>
            </a:pPr>
            <a:r>
              <a:rPr lang="en-US" dirty="0" smtClean="0"/>
              <a:t>      {PNO} -&gt; {PNAME,PLOC}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Q3) R(A,B,C,D,E,F)</a:t>
            </a:r>
          </a:p>
          <a:p>
            <a:pPr marL="0" indent="0">
              <a:buNone/>
            </a:pPr>
            <a:r>
              <a:rPr lang="en-US" dirty="0" smtClean="0"/>
              <a:t>A-&gt;B</a:t>
            </a:r>
          </a:p>
          <a:p>
            <a:pPr marL="0" indent="0">
              <a:buNone/>
            </a:pPr>
            <a:r>
              <a:rPr lang="en-US" dirty="0" smtClean="0"/>
              <a:t>B-&gt;C</a:t>
            </a:r>
          </a:p>
          <a:p>
            <a:pPr marL="0" indent="0">
              <a:buNone/>
            </a:pPr>
            <a:r>
              <a:rPr lang="en-US" dirty="0" smtClean="0"/>
              <a:t>C-&gt;D</a:t>
            </a:r>
          </a:p>
          <a:p>
            <a:pPr marL="0" indent="0">
              <a:buNone/>
            </a:pPr>
            <a:r>
              <a:rPr lang="en-US" dirty="0" smtClean="0"/>
              <a:t>D-&gt;E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723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371" y="362585"/>
            <a:ext cx="11532326" cy="5933712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Q4) R(A,B,C,D)</a:t>
            </a:r>
          </a:p>
          <a:p>
            <a:pPr marL="0" indent="0">
              <a:buNone/>
            </a:pPr>
            <a:r>
              <a:rPr lang="en-US" dirty="0" smtClean="0"/>
              <a:t>AB-&gt;CD</a:t>
            </a:r>
          </a:p>
          <a:p>
            <a:pPr marL="0" indent="0">
              <a:buNone/>
            </a:pPr>
            <a:r>
              <a:rPr lang="en-US" dirty="0" smtClean="0"/>
              <a:t>C-&gt;A</a:t>
            </a:r>
          </a:p>
          <a:p>
            <a:pPr marL="0" indent="0">
              <a:buNone/>
            </a:pPr>
            <a:r>
              <a:rPr lang="en-US" dirty="0" smtClean="0"/>
              <a:t>D-&gt;B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Q5) R(A,B,C,D)</a:t>
            </a:r>
          </a:p>
          <a:p>
            <a:pPr marL="0" indent="0">
              <a:buNone/>
            </a:pPr>
            <a:r>
              <a:rPr lang="en-US" dirty="0" smtClean="0"/>
              <a:t>A-&gt;B</a:t>
            </a:r>
          </a:p>
          <a:p>
            <a:pPr marL="0" indent="0">
              <a:buNone/>
            </a:pPr>
            <a:r>
              <a:rPr lang="en-US" dirty="0" smtClean="0"/>
              <a:t>B-&gt;C</a:t>
            </a:r>
          </a:p>
          <a:p>
            <a:pPr marL="0" indent="0">
              <a:buNone/>
            </a:pPr>
            <a:r>
              <a:rPr lang="en-US" dirty="0" smtClean="0"/>
              <a:t>C-&gt;D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518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747" y="454025"/>
            <a:ext cx="11414761" cy="5842272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Q6) R(A,B,C,D)</a:t>
            </a:r>
          </a:p>
          <a:p>
            <a:pPr marL="0" indent="0">
              <a:buNone/>
            </a:pPr>
            <a:r>
              <a:rPr lang="en-US" dirty="0" smtClean="0"/>
              <a:t>A-&gt;B</a:t>
            </a:r>
          </a:p>
          <a:p>
            <a:pPr marL="0" indent="0">
              <a:buNone/>
            </a:pPr>
            <a:r>
              <a:rPr lang="en-US" dirty="0" smtClean="0"/>
              <a:t>B-&gt;D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Q7) R(A,B,C,D)</a:t>
            </a:r>
          </a:p>
          <a:p>
            <a:pPr marL="0" indent="0">
              <a:buNone/>
            </a:pPr>
            <a:r>
              <a:rPr lang="en-US" dirty="0" smtClean="0"/>
              <a:t>A-&gt;B</a:t>
            </a:r>
          </a:p>
          <a:p>
            <a:pPr marL="0" indent="0">
              <a:buNone/>
            </a:pPr>
            <a:r>
              <a:rPr lang="en-US" dirty="0" smtClean="0"/>
              <a:t>B-&gt;C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Q8) R(A,B,C,D)</a:t>
            </a:r>
          </a:p>
          <a:p>
            <a:pPr marL="0" indent="0">
              <a:buNone/>
            </a:pPr>
            <a:r>
              <a:rPr lang="en-US" dirty="0" smtClean="0"/>
              <a:t>A-&gt;B</a:t>
            </a:r>
          </a:p>
          <a:p>
            <a:pPr marL="0" indent="0">
              <a:buNone/>
            </a:pPr>
            <a:r>
              <a:rPr lang="en-US" dirty="0" smtClean="0"/>
              <a:t>C-&gt;D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34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idx="1"/>
          </p:nvPr>
        </p:nvSpPr>
        <p:spPr>
          <a:xfrm>
            <a:off x="223838" y="284163"/>
            <a:ext cx="11623675" cy="6156325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Q9) R(A,B,C,D,E)</a:t>
            </a:r>
          </a:p>
          <a:p>
            <a:pPr marL="0" indent="0">
              <a:buNone/>
            </a:pPr>
            <a:r>
              <a:rPr lang="en-US" dirty="0" smtClean="0"/>
              <a:t>AB-&gt;C</a:t>
            </a:r>
          </a:p>
          <a:p>
            <a:pPr marL="0" indent="0">
              <a:buNone/>
            </a:pPr>
            <a:r>
              <a:rPr lang="en-US" dirty="0"/>
              <a:t>D</a:t>
            </a:r>
            <a:r>
              <a:rPr lang="en-US" dirty="0" smtClean="0"/>
              <a:t>-&gt;</a:t>
            </a:r>
            <a:r>
              <a:rPr lang="en-US" dirty="0"/>
              <a:t>E</a:t>
            </a:r>
            <a:endParaRPr lang="en-US" dirty="0" smtClean="0"/>
          </a:p>
          <a:p>
            <a:pPr marL="0" indent="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Q10) R(A,B,C,D,E)</a:t>
            </a:r>
          </a:p>
          <a:p>
            <a:pPr marL="0" indent="0">
              <a:buNone/>
            </a:pPr>
            <a:r>
              <a:rPr lang="en-US" dirty="0" smtClean="0"/>
              <a:t>A-&gt;B</a:t>
            </a:r>
          </a:p>
          <a:p>
            <a:pPr marL="0" indent="0">
              <a:buNone/>
            </a:pPr>
            <a:r>
              <a:rPr lang="en-US" dirty="0"/>
              <a:t>B</a:t>
            </a:r>
            <a:r>
              <a:rPr lang="en-US" dirty="0" smtClean="0"/>
              <a:t>-&gt;E</a:t>
            </a:r>
          </a:p>
          <a:p>
            <a:pPr marL="0" indent="0">
              <a:buNone/>
            </a:pPr>
            <a:r>
              <a:rPr lang="en-US" dirty="0" smtClean="0"/>
              <a:t>C-&gt;D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957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623" y="480149"/>
            <a:ext cx="11545388" cy="602515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Q11) R(A,B,C,D,E,F,G,H,I,J)</a:t>
            </a:r>
          </a:p>
          <a:p>
            <a:pPr marL="0" indent="0">
              <a:buNone/>
            </a:pPr>
            <a:r>
              <a:rPr lang="en-US" dirty="0" smtClean="0"/>
              <a:t>AB-&gt;C</a:t>
            </a:r>
          </a:p>
          <a:p>
            <a:pPr marL="0" indent="0">
              <a:buNone/>
            </a:pPr>
            <a:r>
              <a:rPr lang="en-US" dirty="0" smtClean="0"/>
              <a:t>AD-&gt;GH</a:t>
            </a:r>
          </a:p>
          <a:p>
            <a:pPr marL="0" indent="0">
              <a:buNone/>
            </a:pPr>
            <a:r>
              <a:rPr lang="en-US" dirty="0" smtClean="0"/>
              <a:t>BD-&gt;EF</a:t>
            </a:r>
          </a:p>
          <a:p>
            <a:pPr marL="0" indent="0">
              <a:buNone/>
            </a:pPr>
            <a:r>
              <a:rPr lang="en-US" dirty="0" smtClean="0"/>
              <a:t>A-&gt;I</a:t>
            </a:r>
          </a:p>
          <a:p>
            <a:pPr marL="0" indent="0">
              <a:buNone/>
            </a:pPr>
            <a:r>
              <a:rPr lang="en-US" dirty="0" smtClean="0"/>
              <a:t>H-&gt;J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386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5684" y="440963"/>
            <a:ext cx="11702143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3NF:</a:t>
            </a:r>
          </a:p>
          <a:p>
            <a:r>
              <a:rPr lang="en-US" dirty="0" smtClean="0"/>
              <a:t>A relation is in 3NF, if there is no transitive dependency for non-prime attributes as well as it is in 2nf.</a:t>
            </a:r>
          </a:p>
          <a:p>
            <a:r>
              <a:rPr lang="en-US" dirty="0" smtClean="0"/>
              <a:t>A relation is in 3NF, if atleast one of the following conditions holds in every non-trivial functional dependency X-&gt; Y</a:t>
            </a:r>
          </a:p>
          <a:p>
            <a:pPr marL="571500" indent="-571500">
              <a:buAutoNum type="romanLcParenR"/>
            </a:pPr>
            <a:r>
              <a:rPr lang="en-US" dirty="0" smtClean="0"/>
              <a:t>X is a super key</a:t>
            </a:r>
          </a:p>
          <a:p>
            <a:pPr marL="571500" indent="-571500">
              <a:buAutoNum type="romanLcParenR"/>
            </a:pPr>
            <a:r>
              <a:rPr lang="en-US" dirty="0" smtClean="0"/>
              <a:t>Y is a prime attribute(each element of y is a part of some candidate key)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897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182" y="440962"/>
            <a:ext cx="11702143" cy="605127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Examples: 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Q1)</a:t>
            </a:r>
            <a:r>
              <a:rPr lang="en-US" b="1" dirty="0" smtClean="0"/>
              <a:t> </a:t>
            </a:r>
            <a:r>
              <a:rPr lang="en-US" dirty="0" smtClean="0"/>
              <a:t>R(A,B,C,D)</a:t>
            </a:r>
          </a:p>
          <a:p>
            <a:pPr marL="0" indent="0">
              <a:buNone/>
            </a:pPr>
            <a:r>
              <a:rPr lang="en-US" dirty="0" smtClean="0"/>
              <a:t>	AB-&gt;C</a:t>
            </a:r>
          </a:p>
          <a:p>
            <a:pPr marL="0" indent="0">
              <a:buNone/>
            </a:pPr>
            <a:r>
              <a:rPr lang="en-US" dirty="0" smtClean="0"/>
              <a:t>	C-&gt;D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Q2)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ENO -&gt; {ENAME,DOB,ADDRESS,DNO}</a:t>
            </a:r>
          </a:p>
          <a:p>
            <a:pPr marL="0" indent="0">
              <a:buNone/>
            </a:pPr>
            <a:r>
              <a:rPr lang="en-US" dirty="0" smtClean="0"/>
              <a:t>DNO -&gt; {DNAME,DMGRENO}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375780"/>
              </p:ext>
            </p:extLst>
          </p:nvPr>
        </p:nvGraphicFramePr>
        <p:xfrm>
          <a:off x="1391920" y="3095761"/>
          <a:ext cx="870566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3667">
                  <a:extLst>
                    <a:ext uri="{9D8B030D-6E8A-4147-A177-3AD203B41FA5}">
                      <a16:colId xmlns:a16="http://schemas.microsoft.com/office/drawing/2014/main" val="258769425"/>
                    </a:ext>
                  </a:extLst>
                </a:gridCol>
                <a:gridCol w="1243667">
                  <a:extLst>
                    <a:ext uri="{9D8B030D-6E8A-4147-A177-3AD203B41FA5}">
                      <a16:colId xmlns:a16="http://schemas.microsoft.com/office/drawing/2014/main" val="3755135355"/>
                    </a:ext>
                  </a:extLst>
                </a:gridCol>
                <a:gridCol w="1243667">
                  <a:extLst>
                    <a:ext uri="{9D8B030D-6E8A-4147-A177-3AD203B41FA5}">
                      <a16:colId xmlns:a16="http://schemas.microsoft.com/office/drawing/2014/main" val="2485979016"/>
                    </a:ext>
                  </a:extLst>
                </a:gridCol>
                <a:gridCol w="1243667">
                  <a:extLst>
                    <a:ext uri="{9D8B030D-6E8A-4147-A177-3AD203B41FA5}">
                      <a16:colId xmlns:a16="http://schemas.microsoft.com/office/drawing/2014/main" val="3494433485"/>
                    </a:ext>
                  </a:extLst>
                </a:gridCol>
                <a:gridCol w="1243667">
                  <a:extLst>
                    <a:ext uri="{9D8B030D-6E8A-4147-A177-3AD203B41FA5}">
                      <a16:colId xmlns:a16="http://schemas.microsoft.com/office/drawing/2014/main" val="2752687096"/>
                    </a:ext>
                  </a:extLst>
                </a:gridCol>
                <a:gridCol w="958979">
                  <a:extLst>
                    <a:ext uri="{9D8B030D-6E8A-4147-A177-3AD203B41FA5}">
                      <a16:colId xmlns:a16="http://schemas.microsoft.com/office/drawing/2014/main" val="665967509"/>
                    </a:ext>
                  </a:extLst>
                </a:gridCol>
                <a:gridCol w="1528355">
                  <a:extLst>
                    <a:ext uri="{9D8B030D-6E8A-4147-A177-3AD203B41FA5}">
                      <a16:colId xmlns:a16="http://schemas.microsoft.com/office/drawing/2014/main" val="20435799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ENAME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ENO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DOB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ADDRESS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DNO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DNAME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DMGR_ENO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855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2267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434" y="467087"/>
            <a:ext cx="10515600" cy="6012089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Q3)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ISBN -&gt; {PAGE_COUNT,P_ID}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PAGE_COUNT -&gt; PRICE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Q4) R(A,B,C,D,E)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A-&gt; B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B-&gt; E</a:t>
            </a:r>
          </a:p>
          <a:p>
            <a:pPr marL="0" indent="0">
              <a:buNone/>
            </a:pPr>
            <a:r>
              <a:rPr lang="en-US" dirty="0" smtClean="0"/>
              <a:t>  C-&gt;D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365734"/>
              </p:ext>
            </p:extLst>
          </p:nvPr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76065293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7631321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2982753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935501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ISBN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PRICE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PAGE_COUNT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P_ID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253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4339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308" y="297271"/>
            <a:ext cx="11506199" cy="5985964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Q5) R(A,B,C,D,E,F,G,H,I,J)</a:t>
            </a:r>
          </a:p>
          <a:p>
            <a:pPr marL="457200" lvl="1" indent="0">
              <a:buNone/>
            </a:pPr>
            <a:r>
              <a:rPr lang="en-US" sz="3200" dirty="0" smtClean="0"/>
              <a:t>AB-&gt;C</a:t>
            </a:r>
          </a:p>
          <a:p>
            <a:pPr marL="457200" lvl="1" indent="0">
              <a:buNone/>
            </a:pPr>
            <a:r>
              <a:rPr lang="en-US" sz="3200" dirty="0" smtClean="0"/>
              <a:t>A-&gt;DE</a:t>
            </a:r>
          </a:p>
          <a:p>
            <a:pPr marL="457200" lvl="1" indent="0">
              <a:buNone/>
            </a:pPr>
            <a:r>
              <a:rPr lang="en-US" sz="3200" dirty="0" smtClean="0"/>
              <a:t>B-&gt;F</a:t>
            </a:r>
          </a:p>
          <a:p>
            <a:pPr marL="457200" lvl="1" indent="0">
              <a:buNone/>
            </a:pPr>
            <a:r>
              <a:rPr lang="en-US" sz="3200" dirty="0" smtClean="0"/>
              <a:t>F-&gt;GH</a:t>
            </a:r>
          </a:p>
          <a:p>
            <a:pPr marL="457200" lvl="1" indent="0">
              <a:buNone/>
            </a:pPr>
            <a:r>
              <a:rPr lang="en-US" sz="3200" dirty="0" smtClean="0"/>
              <a:t>D-&gt;IJ</a:t>
            </a:r>
          </a:p>
          <a:p>
            <a:pPr marL="457200" lvl="1" indent="0">
              <a:buNone/>
            </a:pPr>
            <a:endParaRPr lang="en-US" sz="3200" dirty="0" smtClean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800" dirty="0" smtClean="0">
                <a:solidFill>
                  <a:srgbClr val="FF0000"/>
                </a:solidFill>
              </a:rPr>
              <a:t>Q6) R(A,B,C,D,E)</a:t>
            </a:r>
          </a:p>
          <a:p>
            <a:pPr marL="457200" lvl="2" indent="0">
              <a:spcBef>
                <a:spcPts val="1000"/>
              </a:spcBef>
              <a:buNone/>
            </a:pPr>
            <a:r>
              <a:rPr lang="en-US" sz="3200" dirty="0" smtClean="0"/>
              <a:t>AB-&gt;C</a:t>
            </a:r>
          </a:p>
          <a:p>
            <a:pPr marL="457200" lvl="2" indent="0">
              <a:spcBef>
                <a:spcPts val="1000"/>
              </a:spcBef>
              <a:buNone/>
            </a:pPr>
            <a:r>
              <a:rPr lang="en-US" sz="3200" dirty="0" smtClean="0"/>
              <a:t>B-&gt;D</a:t>
            </a:r>
          </a:p>
          <a:p>
            <a:pPr marL="457200" lvl="2" indent="0">
              <a:spcBef>
                <a:spcPts val="1000"/>
              </a:spcBef>
              <a:buNone/>
            </a:pPr>
            <a:r>
              <a:rPr lang="en-US" sz="3200" dirty="0" smtClean="0"/>
              <a:t>D-&gt;E</a:t>
            </a:r>
          </a:p>
          <a:p>
            <a:pPr marL="0" lvl="1" indent="0">
              <a:spcBef>
                <a:spcPts val="1000"/>
              </a:spcBef>
              <a:buNone/>
            </a:pPr>
            <a:endParaRPr lang="en-US" sz="32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925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937" y="388710"/>
            <a:ext cx="11480074" cy="601209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Q7) R(A,B,C,D,E,F,G,H,I,J)</a:t>
            </a:r>
          </a:p>
          <a:p>
            <a:pPr marL="457200" lvl="1" indent="0">
              <a:buNone/>
            </a:pPr>
            <a:r>
              <a:rPr lang="en-US" sz="3200" dirty="0" smtClean="0"/>
              <a:t>AB-&gt;C</a:t>
            </a:r>
          </a:p>
          <a:p>
            <a:pPr marL="457200" lvl="1" indent="0">
              <a:buNone/>
            </a:pPr>
            <a:r>
              <a:rPr lang="en-US" sz="3200" dirty="0" smtClean="0"/>
              <a:t>AD-&gt;GH</a:t>
            </a:r>
          </a:p>
          <a:p>
            <a:pPr marL="457200" lvl="1" indent="0">
              <a:buNone/>
            </a:pPr>
            <a:r>
              <a:rPr lang="en-US" sz="3200" dirty="0" smtClean="0"/>
              <a:t>BD-&gt;EF</a:t>
            </a:r>
          </a:p>
          <a:p>
            <a:pPr marL="457200" lvl="1" indent="0">
              <a:buNone/>
            </a:pPr>
            <a:r>
              <a:rPr lang="en-US" sz="3200" dirty="0" smtClean="0"/>
              <a:t>A-&gt;I</a:t>
            </a:r>
          </a:p>
          <a:p>
            <a:pPr marL="457200" lvl="1" indent="0">
              <a:buNone/>
            </a:pPr>
            <a:r>
              <a:rPr lang="en-US" sz="3200" dirty="0"/>
              <a:t>H</a:t>
            </a:r>
            <a:r>
              <a:rPr lang="en-US" sz="3200" dirty="0" smtClean="0"/>
              <a:t>-&gt;J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16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544</Words>
  <Application>Microsoft Office PowerPoint</Application>
  <PresentationFormat>Widescreen</PresentationFormat>
  <Paragraphs>175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Normalization</vt:lpstr>
      <vt:lpstr>First Normal Form(1NF)</vt:lpstr>
      <vt:lpstr>PowerPoint Presentation</vt:lpstr>
      <vt:lpstr>2NF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Normalization</dc:title>
  <dc:creator>Windows User</dc:creator>
  <cp:lastModifiedBy>Windows User</cp:lastModifiedBy>
  <cp:revision>16</cp:revision>
  <dcterms:created xsi:type="dcterms:W3CDTF">2022-11-09T18:21:05Z</dcterms:created>
  <dcterms:modified xsi:type="dcterms:W3CDTF">2022-11-11T21:49:27Z</dcterms:modified>
</cp:coreProperties>
</file>