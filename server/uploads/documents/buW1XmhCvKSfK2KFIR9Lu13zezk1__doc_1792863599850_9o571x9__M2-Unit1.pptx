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86" r:id="rId19"/>
    <p:sldId id="274" r:id="rId20"/>
    <p:sldId id="275" r:id="rId21"/>
    <p:sldId id="276" r:id="rId22"/>
    <p:sldId id="277" r:id="rId23"/>
    <p:sldId id="279" r:id="rId24"/>
    <p:sldId id="278"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300" r:id="rId38"/>
    <p:sldId id="293" r:id="rId39"/>
    <p:sldId id="298" r:id="rId40"/>
    <p:sldId id="294" r:id="rId41"/>
    <p:sldId id="295" r:id="rId42"/>
    <p:sldId id="296" r:id="rId43"/>
    <p:sldId id="297"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4" r:id="rId66"/>
    <p:sldId id="325" r:id="rId67"/>
    <p:sldId id="323" r:id="rId68"/>
    <p:sldId id="326" r:id="rId69"/>
    <p:sldId id="327" r:id="rId70"/>
    <p:sldId id="328" r:id="rId71"/>
    <p:sldId id="329" r:id="rId72"/>
    <p:sldId id="330" r:id="rId73"/>
    <p:sldId id="331" r:id="rId74"/>
    <p:sldId id="332"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16446E-9680-4000-983E-6EFE63B58E21}" type="datetimeFigureOut">
              <a:rPr lang="en-US" smtClean="0"/>
              <a:pPr/>
              <a:t>9/2/2026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D99476-82A4-4CF3-BE50-C554F7F4065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F8F81E3-3EA3-434E-A319-7FCD386D057C}" type="datetime1">
              <a:rPr lang="en-US" smtClean="0"/>
              <a:pPr/>
              <a:t>9/2/2026</a:t>
            </a:fld>
            <a:endParaRPr lang="en-US"/>
          </a:p>
        </p:txBody>
      </p:sp>
      <p:sp>
        <p:nvSpPr>
          <p:cNvPr id="5" name="Footer Placeholder 4"/>
          <p:cNvSpPr>
            <a:spLocks noGrp="1"/>
          </p:cNvSpPr>
          <p:nvPr>
            <p:ph type="ftr" sz="quarter" idx="11"/>
          </p:nvPr>
        </p:nvSpPr>
        <p:spPr/>
        <p:txBody>
          <a:bodyPr/>
          <a:lstStyle/>
          <a:p>
            <a:r>
              <a:rPr lang="en-US" smtClean="0"/>
              <a:t>M.Bhargavi,Asst.Prof,CSE </a:t>
            </a:r>
            <a:endParaRPr lang="en-US"/>
          </a:p>
        </p:txBody>
      </p:sp>
      <p:sp>
        <p:nvSpPr>
          <p:cNvPr id="6" name="Slide Number Placeholder 5"/>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B3A159C-0EA9-4023-88AB-5CB64AE647BD}" type="datetime1">
              <a:rPr lang="en-US" smtClean="0"/>
              <a:pPr/>
              <a:t>9/2/2026</a:t>
            </a:fld>
            <a:endParaRPr lang="en-US"/>
          </a:p>
        </p:txBody>
      </p:sp>
      <p:sp>
        <p:nvSpPr>
          <p:cNvPr id="5" name="Footer Placeholder 4"/>
          <p:cNvSpPr>
            <a:spLocks noGrp="1"/>
          </p:cNvSpPr>
          <p:nvPr>
            <p:ph type="ftr" sz="quarter" idx="11"/>
          </p:nvPr>
        </p:nvSpPr>
        <p:spPr/>
        <p:txBody>
          <a:bodyPr/>
          <a:lstStyle/>
          <a:p>
            <a:r>
              <a:rPr lang="en-US" smtClean="0"/>
              <a:t>M.Bhargavi,Asst.Prof,CSE </a:t>
            </a:r>
            <a:endParaRPr lang="en-US"/>
          </a:p>
        </p:txBody>
      </p:sp>
      <p:sp>
        <p:nvSpPr>
          <p:cNvPr id="6" name="Slide Number Placeholder 5"/>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3C9529-6208-410F-95D3-A0B44EE3B12A}" type="datetime1">
              <a:rPr lang="en-US" smtClean="0"/>
              <a:pPr/>
              <a:t>9/2/2026</a:t>
            </a:fld>
            <a:endParaRPr lang="en-US"/>
          </a:p>
        </p:txBody>
      </p:sp>
      <p:sp>
        <p:nvSpPr>
          <p:cNvPr id="5" name="Footer Placeholder 4"/>
          <p:cNvSpPr>
            <a:spLocks noGrp="1"/>
          </p:cNvSpPr>
          <p:nvPr>
            <p:ph type="ftr" sz="quarter" idx="11"/>
          </p:nvPr>
        </p:nvSpPr>
        <p:spPr/>
        <p:txBody>
          <a:bodyPr/>
          <a:lstStyle/>
          <a:p>
            <a:r>
              <a:rPr lang="en-US" smtClean="0"/>
              <a:t>M.Bhargavi,Asst.Prof,CSE </a:t>
            </a:r>
            <a:endParaRPr lang="en-US"/>
          </a:p>
        </p:txBody>
      </p:sp>
      <p:sp>
        <p:nvSpPr>
          <p:cNvPr id="6" name="Slide Number Placeholder 5"/>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2534C95-4B22-4F8F-B33E-05D2CBF84B5B}" type="datetime1">
              <a:rPr lang="en-US" smtClean="0"/>
              <a:pPr/>
              <a:t>9/2/2026</a:t>
            </a:fld>
            <a:endParaRPr lang="en-US"/>
          </a:p>
        </p:txBody>
      </p:sp>
      <p:sp>
        <p:nvSpPr>
          <p:cNvPr id="6" name="Footer Placeholder 5"/>
          <p:cNvSpPr>
            <a:spLocks noGrp="1"/>
          </p:cNvSpPr>
          <p:nvPr>
            <p:ph type="ftr" sz="quarter" idx="11"/>
          </p:nvPr>
        </p:nvSpPr>
        <p:spPr/>
        <p:txBody>
          <a:bodyPr/>
          <a:lstStyle/>
          <a:p>
            <a:r>
              <a:rPr lang="en-US" smtClean="0"/>
              <a:t>M.Bhargavi,Asst.Prof,CSE </a:t>
            </a:r>
            <a:endParaRPr lang="en-US"/>
          </a:p>
        </p:txBody>
      </p:sp>
      <p:sp>
        <p:nvSpPr>
          <p:cNvPr id="7" name="Slide Number Placeholder 6"/>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B6EFFCE-4862-464A-A53E-5F2013702BC1}" type="datetime1">
              <a:rPr lang="en-US" smtClean="0"/>
              <a:pPr/>
              <a:t>9/2/2026</a:t>
            </a:fld>
            <a:endParaRPr lang="en-US"/>
          </a:p>
        </p:txBody>
      </p:sp>
      <p:sp>
        <p:nvSpPr>
          <p:cNvPr id="8" name="Footer Placeholder 7"/>
          <p:cNvSpPr>
            <a:spLocks noGrp="1"/>
          </p:cNvSpPr>
          <p:nvPr>
            <p:ph type="ftr" sz="quarter" idx="11"/>
          </p:nvPr>
        </p:nvSpPr>
        <p:spPr/>
        <p:txBody>
          <a:bodyPr/>
          <a:lstStyle/>
          <a:p>
            <a:r>
              <a:rPr lang="en-US" smtClean="0"/>
              <a:t>M.Bhargavi,Asst.Prof,CSE </a:t>
            </a:r>
            <a:endParaRPr lang="en-US"/>
          </a:p>
        </p:txBody>
      </p:sp>
      <p:sp>
        <p:nvSpPr>
          <p:cNvPr id="9" name="Slide Number Placeholder 8"/>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EB0418F-4439-4EC3-B12D-48CDBEC30C85}" type="datetime1">
              <a:rPr lang="en-US" smtClean="0"/>
              <a:pPr/>
              <a:t>9/2/2026</a:t>
            </a:fld>
            <a:endParaRPr lang="en-US"/>
          </a:p>
        </p:txBody>
      </p:sp>
      <p:sp>
        <p:nvSpPr>
          <p:cNvPr id="4" name="Footer Placeholder 3"/>
          <p:cNvSpPr>
            <a:spLocks noGrp="1"/>
          </p:cNvSpPr>
          <p:nvPr>
            <p:ph type="ftr" sz="quarter" idx="11"/>
          </p:nvPr>
        </p:nvSpPr>
        <p:spPr/>
        <p:txBody>
          <a:bodyPr/>
          <a:lstStyle/>
          <a:p>
            <a:r>
              <a:rPr lang="en-US" smtClean="0"/>
              <a:t>M.Bhargavi,Asst.Prof,CSE </a:t>
            </a:r>
            <a:endParaRPr lang="en-US"/>
          </a:p>
        </p:txBody>
      </p:sp>
      <p:sp>
        <p:nvSpPr>
          <p:cNvPr id="5" name="Slide Number Placeholder 4"/>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F18E15-5445-4060-9BEC-741B5C9FB949}" type="datetime1">
              <a:rPr lang="en-US" smtClean="0"/>
              <a:pPr/>
              <a:t>9/2/2026</a:t>
            </a:fld>
            <a:endParaRPr lang="en-US"/>
          </a:p>
        </p:txBody>
      </p:sp>
      <p:sp>
        <p:nvSpPr>
          <p:cNvPr id="3" name="Footer Placeholder 2"/>
          <p:cNvSpPr>
            <a:spLocks noGrp="1"/>
          </p:cNvSpPr>
          <p:nvPr>
            <p:ph type="ftr" sz="quarter" idx="11"/>
          </p:nvPr>
        </p:nvSpPr>
        <p:spPr/>
        <p:txBody>
          <a:bodyPr/>
          <a:lstStyle/>
          <a:p>
            <a:r>
              <a:rPr lang="en-US" smtClean="0"/>
              <a:t>M.Bhargavi,Asst.Prof,CSE </a:t>
            </a:r>
            <a:endParaRPr lang="en-US"/>
          </a:p>
        </p:txBody>
      </p:sp>
      <p:sp>
        <p:nvSpPr>
          <p:cNvPr id="4" name="Slide Number Placeholder 3"/>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71D1D36-DB69-41EA-912D-D21F9FA53F0D}" type="datetime1">
              <a:rPr lang="en-US" smtClean="0"/>
              <a:pPr/>
              <a:t>9/2/2026</a:t>
            </a:fld>
            <a:endParaRPr lang="en-US"/>
          </a:p>
        </p:txBody>
      </p:sp>
      <p:sp>
        <p:nvSpPr>
          <p:cNvPr id="6" name="Footer Placeholder 5"/>
          <p:cNvSpPr>
            <a:spLocks noGrp="1"/>
          </p:cNvSpPr>
          <p:nvPr>
            <p:ph type="ftr" sz="quarter" idx="11"/>
          </p:nvPr>
        </p:nvSpPr>
        <p:spPr/>
        <p:txBody>
          <a:bodyPr/>
          <a:lstStyle/>
          <a:p>
            <a:r>
              <a:rPr lang="en-US" smtClean="0"/>
              <a:t>M.Bhargavi,Asst.Prof,CSE </a:t>
            </a:r>
            <a:endParaRPr lang="en-US"/>
          </a:p>
        </p:txBody>
      </p:sp>
      <p:sp>
        <p:nvSpPr>
          <p:cNvPr id="7" name="Slide Number Placeholder 6"/>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8A2E8D-1B45-4CE0-9C62-F84E30B96452}" type="datetime1">
              <a:rPr lang="en-US" smtClean="0"/>
              <a:pPr/>
              <a:t>9/2/2026</a:t>
            </a:fld>
            <a:endParaRPr lang="en-US"/>
          </a:p>
        </p:txBody>
      </p:sp>
      <p:sp>
        <p:nvSpPr>
          <p:cNvPr id="6" name="Footer Placeholder 5"/>
          <p:cNvSpPr>
            <a:spLocks noGrp="1"/>
          </p:cNvSpPr>
          <p:nvPr>
            <p:ph type="ftr" sz="quarter" idx="11"/>
          </p:nvPr>
        </p:nvSpPr>
        <p:spPr/>
        <p:txBody>
          <a:bodyPr/>
          <a:lstStyle/>
          <a:p>
            <a:r>
              <a:rPr lang="en-US" smtClean="0"/>
              <a:t>M.Bhargavi,Asst.Prof,CSE </a:t>
            </a:r>
            <a:endParaRPr lang="en-US"/>
          </a:p>
        </p:txBody>
      </p:sp>
      <p:sp>
        <p:nvSpPr>
          <p:cNvPr id="7" name="Slide Number Placeholder 6"/>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8893CA-3264-4AF3-B4CC-794970DD8758}" type="datetime1">
              <a:rPr lang="en-US" smtClean="0"/>
              <a:pPr/>
              <a:t>9/2/2026</a:t>
            </a:fld>
            <a:endParaRPr lang="en-US"/>
          </a:p>
        </p:txBody>
      </p:sp>
      <p:sp>
        <p:nvSpPr>
          <p:cNvPr id="5" name="Footer Placeholder 4"/>
          <p:cNvSpPr>
            <a:spLocks noGrp="1"/>
          </p:cNvSpPr>
          <p:nvPr>
            <p:ph type="ftr" sz="quarter" idx="11"/>
          </p:nvPr>
        </p:nvSpPr>
        <p:spPr/>
        <p:txBody>
          <a:bodyPr/>
          <a:lstStyle/>
          <a:p>
            <a:r>
              <a:rPr lang="en-US" smtClean="0"/>
              <a:t>M.Bhargavi,Asst.Prof,CSE </a:t>
            </a:r>
            <a:endParaRPr lang="en-US"/>
          </a:p>
        </p:txBody>
      </p:sp>
      <p:sp>
        <p:nvSpPr>
          <p:cNvPr id="6" name="Slide Number Placeholder 5"/>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C1DB665-7681-4526-A81C-B93F3987CD79}" type="datetime1">
              <a:rPr lang="en-US" smtClean="0"/>
              <a:pPr/>
              <a:t>9/2/2026</a:t>
            </a:fld>
            <a:endParaRPr lang="en-US"/>
          </a:p>
        </p:txBody>
      </p:sp>
      <p:sp>
        <p:nvSpPr>
          <p:cNvPr id="5" name="Footer Placeholder 4"/>
          <p:cNvSpPr>
            <a:spLocks noGrp="1"/>
          </p:cNvSpPr>
          <p:nvPr>
            <p:ph type="ftr" sz="quarter" idx="11"/>
          </p:nvPr>
        </p:nvSpPr>
        <p:spPr/>
        <p:txBody>
          <a:bodyPr/>
          <a:lstStyle/>
          <a:p>
            <a:r>
              <a:rPr lang="en-US" smtClean="0"/>
              <a:t>M.Bhargavi,Asst.Prof,CSE </a:t>
            </a:r>
            <a:endParaRPr lang="en-US"/>
          </a:p>
        </p:txBody>
      </p:sp>
      <p:sp>
        <p:nvSpPr>
          <p:cNvPr id="6" name="Slide Number Placeholder 5"/>
          <p:cNvSpPr>
            <a:spLocks noGrp="1"/>
          </p:cNvSpPr>
          <p:nvPr>
            <p:ph type="sldNum" sz="quarter" idx="12"/>
          </p:nvPr>
        </p:nvSpPr>
        <p:spPr/>
        <p:txBody>
          <a:bodyPr/>
          <a:lstStyle/>
          <a:p>
            <a:fld id="{A6EFD8EE-71C0-46AB-8F3A-39489F8E571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043367-1D87-4BC1-AF82-41F7855B4C2A}" type="datetime1">
              <a:rPr lang="en-US" smtClean="0"/>
              <a:pPr/>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M.Bhargavi,Asst.Prof,CSE </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EFD8EE-71C0-46AB-8F3A-39489F8E571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solidFill>
                  <a:schemeClr val="accent5">
                    <a:lumMod val="75000"/>
                  </a:schemeClr>
                </a:solidFill>
                <a:latin typeface="Times New Roman" pitchFamily="18" charset="0"/>
                <a:ea typeface="Calibri" pitchFamily="34" charset="0"/>
                <a:cs typeface="Times New Roman" pitchFamily="18" charset="0"/>
              </a:rPr>
              <a:t>M2:Unit-1</a:t>
            </a:r>
            <a:r>
              <a:rPr lang="en-US" b="1" dirty="0" smtClean="0">
                <a:solidFill>
                  <a:schemeClr val="accent5">
                    <a:lumMod val="75000"/>
                  </a:schemeClr>
                </a:solidFill>
                <a:latin typeface="Times New Roman" pitchFamily="18" charset="0"/>
                <a:ea typeface="Calibri" pitchFamily="34" charset="0"/>
                <a:cs typeface="Times New Roman" pitchFamily="18" charset="0"/>
              </a:rPr>
              <a:t> </a:t>
            </a:r>
            <a:r>
              <a:rPr lang="en-US" b="1" dirty="0" smtClean="0">
                <a:solidFill>
                  <a:schemeClr val="accent5">
                    <a:lumMod val="75000"/>
                  </a:schemeClr>
                </a:solidFill>
                <a:latin typeface="Times New Roman" pitchFamily="18" charset="0"/>
                <a:ea typeface="Calibri" pitchFamily="34" charset="0"/>
                <a:cs typeface="Times New Roman" pitchFamily="18" charset="0"/>
              </a:rPr>
              <a:t>- Inheritance, </a:t>
            </a:r>
            <a:r>
              <a:rPr lang="en-US" b="1" dirty="0" smtClean="0">
                <a:solidFill>
                  <a:schemeClr val="accent5">
                    <a:lumMod val="75000"/>
                  </a:schemeClr>
                </a:solidFill>
                <a:latin typeface="Times New Roman" pitchFamily="18" charset="0"/>
                <a:ea typeface="Calibri" pitchFamily="34" charset="0"/>
                <a:cs typeface="Times New Roman" pitchFamily="18" charset="0"/>
              </a:rPr>
              <a:t>Packages</a:t>
            </a:r>
            <a:r>
              <a:rPr lang="en-US" b="1" dirty="0" smtClean="0">
                <a:solidFill>
                  <a:schemeClr val="accent5">
                    <a:lumMod val="75000"/>
                  </a:schemeClr>
                </a:solidFill>
                <a:latin typeface="Times New Roman" pitchFamily="18" charset="0"/>
                <a:ea typeface="Calibri" pitchFamily="34" charset="0"/>
                <a:cs typeface="Times New Roman" pitchFamily="18" charset="0"/>
              </a:rPr>
              <a:t>, </a:t>
            </a:r>
            <a:r>
              <a:rPr lang="en-US" b="1" dirty="0" smtClean="0">
                <a:solidFill>
                  <a:schemeClr val="accent5">
                    <a:lumMod val="75000"/>
                  </a:schemeClr>
                </a:solidFill>
                <a:latin typeface="Times New Roman" pitchFamily="18" charset="0"/>
                <a:ea typeface="Calibri" pitchFamily="34" charset="0"/>
                <a:cs typeface="Times New Roman" pitchFamily="18" charset="0"/>
              </a:rPr>
              <a:t>Interfaces &amp;Exception handling</a:t>
            </a:r>
            <a:r>
              <a:rPr lang="en-US" dirty="0" smtClean="0">
                <a:solidFill>
                  <a:schemeClr val="accent5">
                    <a:lumMod val="75000"/>
                  </a:schemeClr>
                </a:solidFill>
                <a:latin typeface="Times New Roman" pitchFamily="18" charset="0"/>
                <a:cs typeface="Times New Roman" pitchFamily="18" charset="0"/>
              </a:rPr>
              <a:t/>
            </a:r>
            <a:br>
              <a:rPr lang="en-US" dirty="0" smtClean="0">
                <a:solidFill>
                  <a:schemeClr val="accent5">
                    <a:lumMod val="75000"/>
                  </a:schemeClr>
                </a:solidFill>
                <a:latin typeface="Times New Roman" pitchFamily="18" charset="0"/>
                <a:cs typeface="Times New Roman" pitchFamily="18" charset="0"/>
              </a:rPr>
            </a:br>
            <a:endParaRPr lang="en-US" dirty="0"/>
          </a:p>
        </p:txBody>
      </p:sp>
      <p:sp>
        <p:nvSpPr>
          <p:cNvPr id="3" name="Subtitle 2"/>
          <p:cNvSpPr>
            <a:spLocks noGrp="1"/>
          </p:cNvSpPr>
          <p:nvPr>
            <p:ph type="subTitle" idx="1"/>
          </p:nvPr>
        </p:nvSpPr>
        <p:spPr>
          <a:xfrm>
            <a:off x="5181600" y="3886200"/>
            <a:ext cx="3733800" cy="1752600"/>
          </a:xfrm>
        </p:spPr>
        <p:txBody>
          <a:bodyPr>
            <a:normAutofit/>
          </a:bodyPr>
          <a:lstStyle/>
          <a:p>
            <a:pPr algn="l"/>
            <a:endParaRPr lang="en-US"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Syllabus</a:t>
            </a:r>
            <a:endParaRPr lang="en-US" dirty="0"/>
          </a:p>
        </p:txBody>
      </p:sp>
      <p:sp>
        <p:nvSpPr>
          <p:cNvPr id="3" name="Content Placeholder 2"/>
          <p:cNvSpPr>
            <a:spLocks noGrp="1"/>
          </p:cNvSpPr>
          <p:nvPr>
            <p:ph idx="1"/>
          </p:nvPr>
        </p:nvSpPr>
        <p:spPr/>
        <p:txBody>
          <a:bodyPr>
            <a:normAutofit/>
          </a:bodyPr>
          <a:lstStyle/>
          <a:p>
            <a:pPr algn="just">
              <a:lnSpc>
                <a:spcPct val="150000"/>
              </a:lnSpc>
            </a:pPr>
            <a:r>
              <a:rPr lang="en-US" sz="2000" dirty="0" smtClean="0">
                <a:solidFill>
                  <a:schemeClr val="accent2">
                    <a:lumMod val="75000"/>
                  </a:schemeClr>
                </a:solidFill>
                <a:latin typeface="Times New Roman" pitchFamily="18" charset="0"/>
                <a:ea typeface="Calibri" pitchFamily="34" charset="0"/>
                <a:cs typeface="Times New Roman" pitchFamily="18" charset="0"/>
              </a:rPr>
              <a:t>Inheritance  Basic ,Types of inheritance,  Member access rules, Usage of super key word, Method overriding, Using final, Abstract classes, Differences between abstract classes and interfaces, Defining an interface, Implementing interface, Applying interfaces, Variables in interface and Extending interfaces. Defining , creating and accessing a package ,Importing packages ,Access control in package</a:t>
            </a:r>
            <a:endParaRPr lang="en-US" sz="2000" dirty="0">
              <a:solidFill>
                <a:schemeClr val="accent2">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US" b="1" u="sng" dirty="0" smtClean="0">
                <a:solidFill>
                  <a:srgbClr val="00B0F0"/>
                </a:solidFill>
              </a:rPr>
              <a:t>Inheritance-Introduction</a:t>
            </a:r>
            <a:endParaRPr lang="en-US" b="1" u="sng" dirty="0">
              <a:solidFill>
                <a:srgbClr val="00B0F0"/>
              </a:solidFill>
            </a:endParaRPr>
          </a:p>
        </p:txBody>
      </p:sp>
      <p:sp>
        <p:nvSpPr>
          <p:cNvPr id="3" name="Content Placeholder 2"/>
          <p:cNvSpPr>
            <a:spLocks noGrp="1"/>
          </p:cNvSpPr>
          <p:nvPr>
            <p:ph idx="1"/>
          </p:nvPr>
        </p:nvSpPr>
        <p:spPr>
          <a:xfrm>
            <a:off x="152400" y="914400"/>
            <a:ext cx="8991600" cy="6172200"/>
          </a:xfrm>
        </p:spPr>
        <p:txBody>
          <a:bodyPr>
            <a:normAutofit fontScale="55000" lnSpcReduction="20000"/>
          </a:bodyPr>
          <a:lstStyle/>
          <a:p>
            <a:pPr marL="0" indent="0" algn="just" fontAlgn="base">
              <a:lnSpc>
                <a:spcPct val="170000"/>
              </a:lnSpc>
              <a:spcBef>
                <a:spcPct val="0"/>
              </a:spcBef>
              <a:spcAft>
                <a:spcPct val="0"/>
              </a:spcAft>
            </a:pPr>
            <a:r>
              <a:rPr kumimoji="0" lang="en-US" sz="4400" b="0" i="0" u="none" strike="noStrike" cap="none" normalizeH="0" baseline="0" dirty="0" smtClean="0">
                <a:ln>
                  <a:noFill/>
                </a:ln>
                <a:effectLst/>
                <a:latin typeface="Times New Roman" pitchFamily="18" charset="0"/>
                <a:ea typeface="Times New Roman" pitchFamily="18" charset="0"/>
                <a:cs typeface="Times New Roman" pitchFamily="18" charset="0"/>
              </a:rPr>
              <a:t>    Inheritance is an important feature of object oriented  programming.</a:t>
            </a:r>
          </a:p>
          <a:p>
            <a:pPr algn="just">
              <a:lnSpc>
                <a:spcPct val="170000"/>
              </a:lnSpc>
            </a:pPr>
            <a:r>
              <a:rPr lang="en-US" sz="4400" b="1" dirty="0" smtClean="0">
                <a:latin typeface="Times New Roman" pitchFamily="18" charset="0"/>
                <a:cs typeface="Times New Roman" pitchFamily="18" charset="0"/>
              </a:rPr>
              <a:t>Inheritance</a:t>
            </a:r>
            <a:r>
              <a:rPr lang="en-US" sz="4400" dirty="0" smtClean="0">
                <a:latin typeface="Times New Roman" pitchFamily="18" charset="0"/>
                <a:cs typeface="Times New Roman" pitchFamily="18" charset="0"/>
              </a:rPr>
              <a:t> can be defined as the process where one class acquires the properties </a:t>
            </a:r>
            <a:r>
              <a:rPr lang="en-US" sz="4400" i="1" dirty="0" smtClean="0">
                <a:solidFill>
                  <a:schemeClr val="accent2">
                    <a:lumMod val="75000"/>
                  </a:schemeClr>
                </a:solidFill>
                <a:latin typeface="Times New Roman" pitchFamily="18" charset="0"/>
                <a:cs typeface="Times New Roman" pitchFamily="18" charset="0"/>
              </a:rPr>
              <a:t>methods and fields </a:t>
            </a:r>
            <a:r>
              <a:rPr lang="en-US" sz="4400" dirty="0" smtClean="0">
                <a:latin typeface="Times New Roman" pitchFamily="18" charset="0"/>
                <a:cs typeface="Times New Roman" pitchFamily="18" charset="0"/>
              </a:rPr>
              <a:t>of another class.</a:t>
            </a:r>
          </a:p>
          <a:p>
            <a:pPr algn="just">
              <a:lnSpc>
                <a:spcPct val="170000"/>
              </a:lnSpc>
            </a:pPr>
            <a:r>
              <a:rPr lang="en-US" sz="4400" dirty="0" smtClean="0">
                <a:latin typeface="Times New Roman" pitchFamily="18" charset="0"/>
                <a:cs typeface="Times New Roman" pitchFamily="18" charset="0"/>
              </a:rPr>
              <a:t>The class which inherits the properties of other is known as </a:t>
            </a:r>
            <a:r>
              <a:rPr lang="en-US" sz="4400" dirty="0" smtClean="0">
                <a:solidFill>
                  <a:srgbClr val="FF0000"/>
                </a:solidFill>
                <a:latin typeface="Times New Roman" pitchFamily="18" charset="0"/>
                <a:cs typeface="Times New Roman" pitchFamily="18" charset="0"/>
              </a:rPr>
              <a:t>subclass/</a:t>
            </a:r>
            <a:r>
              <a:rPr lang="en-US" sz="4400" dirty="0" err="1" smtClean="0">
                <a:solidFill>
                  <a:srgbClr val="FF0000"/>
                </a:solidFill>
                <a:latin typeface="Times New Roman" pitchFamily="18" charset="0"/>
                <a:cs typeface="Times New Roman" pitchFamily="18" charset="0"/>
              </a:rPr>
              <a:t>derivedclass</a:t>
            </a:r>
            <a:r>
              <a:rPr lang="en-US" sz="4400" dirty="0" smtClean="0">
                <a:solidFill>
                  <a:srgbClr val="FF0000"/>
                </a:solidFill>
                <a:latin typeface="Times New Roman" pitchFamily="18" charset="0"/>
                <a:cs typeface="Times New Roman" pitchFamily="18" charset="0"/>
              </a:rPr>
              <a:t>/child class</a:t>
            </a:r>
          </a:p>
          <a:p>
            <a:pPr algn="just">
              <a:lnSpc>
                <a:spcPct val="170000"/>
              </a:lnSpc>
            </a:pPr>
            <a:r>
              <a:rPr lang="en-US" sz="4400" dirty="0" smtClean="0">
                <a:latin typeface="Times New Roman" pitchFamily="18" charset="0"/>
                <a:cs typeface="Times New Roman" pitchFamily="18" charset="0"/>
              </a:rPr>
              <a:t>the class whose properties are inherited is known as </a:t>
            </a:r>
            <a:r>
              <a:rPr lang="en-US" sz="4400" dirty="0" err="1" smtClean="0">
                <a:solidFill>
                  <a:srgbClr val="FF0000"/>
                </a:solidFill>
                <a:latin typeface="Times New Roman" pitchFamily="18" charset="0"/>
                <a:cs typeface="Times New Roman" pitchFamily="18" charset="0"/>
              </a:rPr>
              <a:t>superclass</a:t>
            </a:r>
            <a:r>
              <a:rPr lang="en-US" sz="4400" dirty="0" smtClean="0">
                <a:solidFill>
                  <a:srgbClr val="FF0000"/>
                </a:solidFill>
                <a:latin typeface="Times New Roman" pitchFamily="18" charset="0"/>
                <a:cs typeface="Times New Roman" pitchFamily="18" charset="0"/>
              </a:rPr>
              <a:t>/</a:t>
            </a:r>
            <a:r>
              <a:rPr lang="en-US" sz="4400" dirty="0" err="1" smtClean="0">
                <a:solidFill>
                  <a:srgbClr val="FF0000"/>
                </a:solidFill>
                <a:latin typeface="Times New Roman" pitchFamily="18" charset="0"/>
                <a:cs typeface="Times New Roman" pitchFamily="18" charset="0"/>
              </a:rPr>
              <a:t>baseclass</a:t>
            </a:r>
            <a:r>
              <a:rPr lang="en-US" sz="4400" dirty="0" smtClean="0">
                <a:solidFill>
                  <a:srgbClr val="FF0000"/>
                </a:solidFill>
                <a:latin typeface="Times New Roman" pitchFamily="18" charset="0"/>
                <a:cs typeface="Times New Roman" pitchFamily="18" charset="0"/>
              </a:rPr>
              <a:t>/</a:t>
            </a:r>
            <a:r>
              <a:rPr lang="en-US" sz="4400" dirty="0" err="1" smtClean="0">
                <a:solidFill>
                  <a:srgbClr val="FF0000"/>
                </a:solidFill>
                <a:latin typeface="Times New Roman" pitchFamily="18" charset="0"/>
                <a:cs typeface="Times New Roman" pitchFamily="18" charset="0"/>
              </a:rPr>
              <a:t>parentclass</a:t>
            </a:r>
            <a:r>
              <a:rPr lang="en-US" sz="4400" dirty="0" smtClean="0">
                <a:latin typeface="Times New Roman" pitchFamily="18" charset="0"/>
                <a:cs typeface="Times New Roman" pitchFamily="18" charset="0"/>
              </a:rPr>
              <a:t>.</a:t>
            </a:r>
          </a:p>
          <a:p>
            <a:pPr algn="just">
              <a:lnSpc>
                <a:spcPct val="170000"/>
              </a:lnSpc>
            </a:pPr>
            <a:r>
              <a:rPr lang="en-US" sz="4400" dirty="0" smtClean="0">
                <a:latin typeface="Times New Roman" pitchFamily="18" charset="0"/>
                <a:cs typeface="Times New Roman" pitchFamily="18" charset="0"/>
              </a:rPr>
              <a:t>Inheritance provides the idea of reusability, i.e., a code once written can be used again and again in a number of new classes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457200"/>
            <a:ext cx="8229600" cy="5668963"/>
          </a:xfrm>
        </p:spPr>
        <p:txBody>
          <a:bodyPr/>
          <a:lstStyle/>
          <a:p>
            <a:pPr>
              <a:buNone/>
            </a:pPr>
            <a:r>
              <a:rPr lang="en-US" u="sng" dirty="0" smtClean="0">
                <a:solidFill>
                  <a:srgbClr val="00B050"/>
                </a:solidFill>
              </a:rPr>
              <a:t>extends Keyword :</a:t>
            </a:r>
          </a:p>
          <a:p>
            <a:r>
              <a:rPr lang="en-US" dirty="0" smtClean="0"/>
              <a:t>extends is the keyword used to inherit the properties of a class. </a:t>
            </a:r>
          </a:p>
          <a:p>
            <a:r>
              <a:rPr lang="en-US" dirty="0" smtClean="0"/>
              <a:t>syntax of extends keyword. </a:t>
            </a:r>
          </a:p>
          <a:p>
            <a:endParaRPr lang="en-US" dirty="0" smtClean="0"/>
          </a:p>
        </p:txBody>
      </p:sp>
      <p:pic>
        <p:nvPicPr>
          <p:cNvPr id="4" name="Content Placeholder 3" descr="1.PNG"/>
          <p:cNvPicPr>
            <a:picLocks noChangeAspect="1"/>
          </p:cNvPicPr>
          <p:nvPr/>
        </p:nvPicPr>
        <p:blipFill>
          <a:blip r:embed="rId2"/>
          <a:stretch>
            <a:fillRect/>
          </a:stretch>
        </p:blipFill>
        <p:spPr>
          <a:xfrm>
            <a:off x="1981200" y="2819400"/>
            <a:ext cx="4953000" cy="32196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p>
            <a:r>
              <a:rPr lang="en-US" u="sng" dirty="0" smtClean="0">
                <a:solidFill>
                  <a:srgbClr val="0070C0"/>
                </a:solidFill>
              </a:rPr>
              <a:t>Types of Inheritance</a:t>
            </a:r>
            <a:endParaRPr lang="en-US" u="sng" dirty="0">
              <a:solidFill>
                <a:srgbClr val="0070C0"/>
              </a:solidFill>
            </a:endParaRPr>
          </a:p>
        </p:txBody>
      </p:sp>
      <p:sp>
        <p:nvSpPr>
          <p:cNvPr id="10" name="Content Placeholder 9"/>
          <p:cNvSpPr>
            <a:spLocks noGrp="1"/>
          </p:cNvSpPr>
          <p:nvPr>
            <p:ph idx="1"/>
          </p:nvPr>
        </p:nvSpPr>
        <p:spPr>
          <a:xfrm>
            <a:off x="457200" y="1066800"/>
            <a:ext cx="8229600" cy="5059363"/>
          </a:xfrm>
        </p:spPr>
        <p:txBody>
          <a:bodyPr/>
          <a:lstStyle/>
          <a:p>
            <a:r>
              <a:rPr lang="en-US" sz="2400" b="1" dirty="0" smtClean="0"/>
              <a:t>Inheritance is generally of five types : single level, multilevel, multiple, hierarchical and hybrid. </a:t>
            </a:r>
          </a:p>
          <a:p>
            <a:endParaRPr lang="en-US" b="1" dirty="0" smtClean="0">
              <a:solidFill>
                <a:srgbClr val="FF0000"/>
              </a:solidFill>
            </a:endParaRPr>
          </a:p>
          <a:p>
            <a:endParaRPr lang="en-US" dirty="0"/>
          </a:p>
        </p:txBody>
      </p:sp>
      <p:pic>
        <p:nvPicPr>
          <p:cNvPr id="11" name="Content Placeholder 3"/>
          <p:cNvPicPr>
            <a:picLocks noChangeAspect="1" noChangeArrowheads="1"/>
          </p:cNvPicPr>
          <p:nvPr/>
        </p:nvPicPr>
        <p:blipFill>
          <a:blip r:embed="rId2"/>
          <a:srcRect/>
          <a:stretch>
            <a:fillRect/>
          </a:stretch>
        </p:blipFill>
        <p:spPr bwMode="auto">
          <a:xfrm>
            <a:off x="990600" y="1905000"/>
            <a:ext cx="7010399" cy="4724399"/>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Single-level Inheritance</a:t>
            </a:r>
            <a:endParaRPr lang="en-US" dirty="0"/>
          </a:p>
        </p:txBody>
      </p:sp>
      <p:sp>
        <p:nvSpPr>
          <p:cNvPr id="3" name="Content Placeholder 2"/>
          <p:cNvSpPr>
            <a:spLocks noGrp="1"/>
          </p:cNvSpPr>
          <p:nvPr>
            <p:ph idx="1"/>
          </p:nvPr>
        </p:nvSpPr>
        <p:spPr/>
        <p:txBody>
          <a:bodyPr/>
          <a:lstStyle/>
          <a:p>
            <a:r>
              <a:rPr lang="en-US" sz="2400" b="1" dirty="0" smtClean="0"/>
              <a:t>In single level inheritance, there is just one base and one derived class. It is represented as follows</a:t>
            </a:r>
            <a:r>
              <a:rPr lang="en-US" b="1" dirty="0" smtClean="0">
                <a:solidFill>
                  <a:srgbClr val="7030A0"/>
                </a:solidFill>
              </a:rPr>
              <a:t>: </a:t>
            </a:r>
          </a:p>
          <a:p>
            <a:endParaRPr lang="en-US" dirty="0"/>
          </a:p>
        </p:txBody>
      </p:sp>
      <p:pic>
        <p:nvPicPr>
          <p:cNvPr id="4" name="Picture 5"/>
          <p:cNvPicPr>
            <a:picLocks noChangeAspect="1" noChangeArrowheads="1"/>
          </p:cNvPicPr>
          <p:nvPr/>
        </p:nvPicPr>
        <p:blipFill>
          <a:blip r:embed="rId2">
            <a:lum bright="-20000" contrast="30000"/>
          </a:blip>
          <a:srcRect/>
          <a:stretch>
            <a:fillRect/>
          </a:stretch>
        </p:blipFill>
        <p:spPr bwMode="auto">
          <a:xfrm>
            <a:off x="228600" y="2743200"/>
            <a:ext cx="8763000" cy="36576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2.PNG"/>
          <p:cNvPicPr>
            <a:picLocks noGrp="1" noChangeAspect="1"/>
          </p:cNvPicPr>
          <p:nvPr>
            <p:ph idx="1"/>
          </p:nvPr>
        </p:nvPicPr>
        <p:blipFill>
          <a:blip r:embed="rId2"/>
          <a:stretch>
            <a:fillRect/>
          </a:stretch>
        </p:blipFill>
        <p:spPr>
          <a:xfrm>
            <a:off x="228600" y="0"/>
            <a:ext cx="8610600" cy="66294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Multilevel Inheritance</a:t>
            </a:r>
            <a:endParaRPr lang="en-US" dirty="0"/>
          </a:p>
        </p:txBody>
      </p:sp>
      <p:sp>
        <p:nvSpPr>
          <p:cNvPr id="3" name="Content Placeholder 2"/>
          <p:cNvSpPr>
            <a:spLocks noGrp="1"/>
          </p:cNvSpPr>
          <p:nvPr>
            <p:ph idx="1"/>
          </p:nvPr>
        </p:nvSpPr>
        <p:spPr/>
        <p:txBody>
          <a:bodyPr/>
          <a:lstStyle/>
          <a:p>
            <a:pPr>
              <a:defRPr/>
            </a:pPr>
            <a:r>
              <a:rPr lang="en-US" dirty="0"/>
              <a:t>In multilevel inheritance, there is one base class and one derived class at the same time at one level. </a:t>
            </a:r>
            <a:endParaRPr lang="en-US" dirty="0" smtClean="0"/>
          </a:p>
          <a:p>
            <a:pPr>
              <a:defRPr/>
            </a:pPr>
            <a:r>
              <a:rPr lang="en-US" dirty="0" smtClean="0"/>
              <a:t>At </a:t>
            </a:r>
            <a:r>
              <a:rPr lang="en-US" dirty="0"/>
              <a:t>the next level, the derived class becomes base class for the next derived class and so on. This is shown as: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lum bright="-20000" contrast="30000"/>
          </a:blip>
          <a:srcRect/>
          <a:stretch>
            <a:fillRect/>
          </a:stretch>
        </p:blipFill>
        <p:spPr bwMode="auto">
          <a:xfrm>
            <a:off x="457201" y="457200"/>
            <a:ext cx="8382000" cy="5610743"/>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itchFamily="2" charset="2"/>
              <a:buChar char="v"/>
            </a:pPr>
            <a:r>
              <a:rPr lang="en-US" dirty="0" smtClean="0"/>
              <a:t>The class A and class B together form one level, class B and class C together form another level and so on. </a:t>
            </a:r>
          </a:p>
          <a:p>
            <a:pPr>
              <a:buFont typeface="Wingdings" pitchFamily="2" charset="2"/>
              <a:buChar char="v"/>
            </a:pPr>
            <a:r>
              <a:rPr lang="en-US" dirty="0" smtClean="0"/>
              <a:t>For class B, class A is the parent and for class C, class B is the parent; thus in this inheritance level, A can be called the grandparent of class C, and class C the grandchild of class A</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3.PNG"/>
          <p:cNvPicPr>
            <a:picLocks noGrp="1" noChangeAspect="1"/>
          </p:cNvPicPr>
          <p:nvPr>
            <p:ph idx="1"/>
          </p:nvPr>
        </p:nvPicPr>
        <p:blipFill>
          <a:blip r:embed="rId2"/>
          <a:stretch>
            <a:fillRect/>
          </a:stretch>
        </p:blipFill>
        <p:spPr>
          <a:xfrm>
            <a:off x="0" y="152400"/>
            <a:ext cx="9144000" cy="67056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Multiple Inheritance</a:t>
            </a:r>
            <a:endParaRPr lang="en-US" dirty="0"/>
          </a:p>
        </p:txBody>
      </p:sp>
      <p:sp>
        <p:nvSpPr>
          <p:cNvPr id="3" name="Content Placeholder 2"/>
          <p:cNvSpPr>
            <a:spLocks noGrp="1"/>
          </p:cNvSpPr>
          <p:nvPr>
            <p:ph idx="1"/>
          </p:nvPr>
        </p:nvSpPr>
        <p:spPr/>
        <p:txBody>
          <a:bodyPr/>
          <a:lstStyle/>
          <a:p>
            <a:r>
              <a:rPr lang="en-US" sz="2400" dirty="0" smtClean="0"/>
              <a:t>In a multiple inheritance, a child can have more than one parent, i.e., a child can inherit properties from more than one class. </a:t>
            </a:r>
          </a:p>
          <a:p>
            <a:r>
              <a:rPr lang="en-US" sz="2400" dirty="0" smtClean="0"/>
              <a:t>Java does not support Multiple inheritance ,to implement this we can use the concept of interfaces</a:t>
            </a:r>
          </a:p>
          <a:p>
            <a:endParaRPr lang="en-US" sz="2400" dirty="0" smtClean="0"/>
          </a:p>
          <a:p>
            <a:endParaRPr lang="en-US" sz="2400" dirty="0" smtClean="0"/>
          </a:p>
          <a:p>
            <a:endParaRPr lang="en-US" dirty="0"/>
          </a:p>
        </p:txBody>
      </p:sp>
      <p:pic>
        <p:nvPicPr>
          <p:cNvPr id="6" name="Picture 2" descr="C:\Users\Bhargavi\Desktop\images.jpg"/>
          <p:cNvPicPr>
            <a:picLocks noChangeAspect="1" noChangeArrowheads="1"/>
          </p:cNvPicPr>
          <p:nvPr/>
        </p:nvPicPr>
        <p:blipFill>
          <a:blip r:embed="rId2"/>
          <a:srcRect/>
          <a:stretch>
            <a:fillRect/>
          </a:stretch>
        </p:blipFill>
        <p:spPr bwMode="auto">
          <a:xfrm>
            <a:off x="3048000" y="4343400"/>
            <a:ext cx="2790825" cy="22479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smtClean="0"/>
              <a:t>Unfortunately, Java does not support the multiple inheritances through classes though it supports using interfaces</a:t>
            </a:r>
          </a:p>
          <a:p>
            <a:pPr>
              <a:defRPr/>
            </a:pPr>
            <a:r>
              <a:rPr lang="en-US" dirty="0"/>
              <a:t>That is, in Java one cannot write the following syntax: </a:t>
            </a:r>
          </a:p>
          <a:p>
            <a:pPr>
              <a:buNone/>
              <a:defRPr/>
            </a:pPr>
            <a:r>
              <a:rPr lang="en-US" dirty="0"/>
              <a:t>class A { </a:t>
            </a:r>
            <a:r>
              <a:rPr lang="en-US" dirty="0" smtClean="0"/>
              <a:t>    } </a:t>
            </a:r>
            <a:r>
              <a:rPr lang="en-US" dirty="0"/>
              <a:t>class B </a:t>
            </a:r>
            <a:r>
              <a:rPr lang="en-US" dirty="0" smtClean="0"/>
              <a:t>{     } 			</a:t>
            </a:r>
            <a:endParaRPr lang="en-US" dirty="0"/>
          </a:p>
          <a:p>
            <a:pPr>
              <a:buNone/>
              <a:defRPr/>
            </a:pPr>
            <a:r>
              <a:rPr lang="en-US" dirty="0"/>
              <a:t>	class C extends A extends </a:t>
            </a:r>
            <a:r>
              <a:rPr lang="en-US" dirty="0" smtClean="0"/>
              <a:t>B{    } </a:t>
            </a:r>
            <a:endParaRPr lang="en-US" dirty="0"/>
          </a:p>
          <a:p>
            <a:endParaRPr lang="en-US" dirty="0"/>
          </a:p>
        </p:txBody>
      </p:sp>
      <p:pic>
        <p:nvPicPr>
          <p:cNvPr id="7" name="Content Placeholder 3" descr="5.PNG"/>
          <p:cNvPicPr>
            <a:picLocks noChangeAspect="1"/>
          </p:cNvPicPr>
          <p:nvPr/>
        </p:nvPicPr>
        <p:blipFill>
          <a:blip r:embed="rId2" cstate="print"/>
          <a:stretch>
            <a:fillRect/>
          </a:stretch>
        </p:blipFill>
        <p:spPr>
          <a:xfrm rot="20651983">
            <a:off x="6132928" y="4375627"/>
            <a:ext cx="929629" cy="959953"/>
          </a:xfrm>
          <a:prstGeom prst="rect">
            <a:avLst/>
          </a:prstGeom>
          <a:ln>
            <a:solidFill>
              <a:schemeClr val="bg1"/>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Hierarchical Inheritance</a:t>
            </a:r>
            <a:endParaRPr lang="en-US" dirty="0"/>
          </a:p>
        </p:txBody>
      </p:sp>
      <p:sp>
        <p:nvSpPr>
          <p:cNvPr id="5" name="Content Placeholder 4"/>
          <p:cNvSpPr>
            <a:spLocks noGrp="1"/>
          </p:cNvSpPr>
          <p:nvPr>
            <p:ph idx="1"/>
          </p:nvPr>
        </p:nvSpPr>
        <p:spPr/>
        <p:txBody>
          <a:bodyPr>
            <a:normAutofit/>
          </a:bodyPr>
          <a:lstStyle/>
          <a:p>
            <a:pPr algn="just">
              <a:lnSpc>
                <a:spcPct val="120000"/>
              </a:lnSpc>
            </a:pPr>
            <a:r>
              <a:rPr lang="en-US" dirty="0" smtClean="0"/>
              <a:t>In this type of inheritance, multiple classes share the same base class. </a:t>
            </a:r>
          </a:p>
          <a:p>
            <a:pPr algn="just">
              <a:lnSpc>
                <a:spcPct val="120000"/>
              </a:lnSpc>
            </a:pPr>
            <a:r>
              <a:rPr lang="en-US" dirty="0" smtClean="0"/>
              <a:t>That is, numbers of classes inherit the properties of one common base class. </a:t>
            </a:r>
          </a:p>
          <a:p>
            <a:pPr algn="just">
              <a:lnSpc>
                <a:spcPct val="120000"/>
              </a:lnSpc>
            </a:pPr>
            <a:r>
              <a:rPr lang="en-US" dirty="0" smtClean="0"/>
              <a:t>The derived classes may also become base classes for other classes.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6.PNG"/>
          <p:cNvPicPr>
            <a:picLocks noGrp="1" noChangeAspect="1"/>
          </p:cNvPicPr>
          <p:nvPr>
            <p:ph idx="1"/>
          </p:nvPr>
        </p:nvPicPr>
        <p:blipFill>
          <a:blip r:embed="rId2"/>
          <a:stretch>
            <a:fillRect/>
          </a:stretch>
        </p:blipFill>
        <p:spPr>
          <a:xfrm>
            <a:off x="0" y="0"/>
            <a:ext cx="9144000" cy="685800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Hybrid  Inheritance</a:t>
            </a:r>
            <a:endParaRPr lang="en-US" dirty="0"/>
          </a:p>
        </p:txBody>
      </p:sp>
      <p:sp>
        <p:nvSpPr>
          <p:cNvPr id="3" name="Content Placeholder 2"/>
          <p:cNvSpPr>
            <a:spLocks noGrp="1"/>
          </p:cNvSpPr>
          <p:nvPr>
            <p:ph idx="1"/>
          </p:nvPr>
        </p:nvSpPr>
        <p:spPr/>
        <p:txBody>
          <a:bodyPr/>
          <a:lstStyle/>
          <a:p>
            <a:pPr algn="just"/>
            <a:r>
              <a:rPr lang="en-US" dirty="0"/>
              <a:t>Hybrid Inheritance is a combination of both Single Inheritance and Multiple Inheritance. </a:t>
            </a:r>
            <a:endParaRPr lang="en-US" dirty="0" smtClean="0"/>
          </a:p>
          <a:p>
            <a:pPr algn="just"/>
            <a:r>
              <a:rPr lang="en-US" dirty="0"/>
              <a:t> Since in Java Multiple Inheritance is not supported directly we can achieve Hybrid inheritance also through Interfaces only.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7.png"/>
          <p:cNvPicPr>
            <a:picLocks noGrp="1" noChangeAspect="1"/>
          </p:cNvPicPr>
          <p:nvPr>
            <p:ph idx="1"/>
          </p:nvPr>
        </p:nvPicPr>
        <p:blipFill>
          <a:blip r:embed="rId2"/>
          <a:stretch>
            <a:fillRect/>
          </a:stretch>
        </p:blipFill>
        <p:spPr>
          <a:xfrm>
            <a:off x="1143000" y="1752600"/>
            <a:ext cx="5800725" cy="3505200"/>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2800" b="1" dirty="0" smtClean="0">
                <a:solidFill>
                  <a:srgbClr val="00B050"/>
                </a:solidFill>
              </a:rPr>
              <a:t>Why use inheritance in java</a:t>
            </a:r>
          </a:p>
          <a:p>
            <a:r>
              <a:rPr lang="en-US" sz="2800" dirty="0" smtClean="0"/>
              <a:t>For Method Overriding (so runtime polymorphism can be achieved).</a:t>
            </a:r>
          </a:p>
          <a:p>
            <a:r>
              <a:rPr lang="en-US" sz="2800" dirty="0" smtClean="0"/>
              <a:t>For Code Reusability.</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70C0"/>
                </a:solidFill>
              </a:rPr>
              <a:t>Super Keyword</a:t>
            </a:r>
            <a:endParaRPr lang="en-US" b="1" u="sng" dirty="0">
              <a:solidFill>
                <a:srgbClr val="0070C0"/>
              </a:solidFill>
            </a:endParaRPr>
          </a:p>
        </p:txBody>
      </p:sp>
      <p:sp>
        <p:nvSpPr>
          <p:cNvPr id="3" name="Content Placeholder 2"/>
          <p:cNvSpPr>
            <a:spLocks noGrp="1"/>
          </p:cNvSpPr>
          <p:nvPr>
            <p:ph idx="1"/>
          </p:nvPr>
        </p:nvSpPr>
        <p:spPr/>
        <p:txBody>
          <a:bodyPr>
            <a:normAutofit fontScale="92500"/>
          </a:bodyPr>
          <a:lstStyle/>
          <a:p>
            <a:pPr algn="just"/>
            <a:r>
              <a:rPr lang="en-US" dirty="0" smtClean="0"/>
              <a:t>The super keyword in java is a reference variable that is used to refer parent class objects. </a:t>
            </a:r>
          </a:p>
          <a:p>
            <a:pPr algn="just"/>
            <a:r>
              <a:rPr lang="en-US" dirty="0" smtClean="0"/>
              <a:t> The keyword “super” came into the picture with the concept of Inheritance. </a:t>
            </a:r>
          </a:p>
          <a:p>
            <a:pPr algn="just"/>
            <a:r>
              <a:rPr lang="en-US" dirty="0" smtClean="0"/>
              <a:t>Whenever the base class version of the function is called which is overridden in the derived class, the super keyword can be used. </a:t>
            </a:r>
          </a:p>
          <a:p>
            <a:pPr algn="just"/>
            <a:r>
              <a:rPr lang="en-US" dirty="0" smtClean="0"/>
              <a:t>The super keyword always refers to the immediate base class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Autofit/>
          </a:bodyPr>
          <a:lstStyle/>
          <a:p>
            <a:pPr>
              <a:lnSpc>
                <a:spcPct val="120000"/>
              </a:lnSpc>
              <a:buNone/>
            </a:pPr>
            <a:r>
              <a:rPr lang="en-US" sz="2400" dirty="0" smtClean="0"/>
              <a:t>class </a:t>
            </a:r>
            <a:r>
              <a:rPr lang="en-US" sz="2400" dirty="0" err="1" smtClean="0"/>
              <a:t>SuperKeyword</a:t>
            </a:r>
            <a:r>
              <a:rPr lang="en-US" sz="2400" dirty="0" smtClean="0"/>
              <a:t> { </a:t>
            </a:r>
          </a:p>
          <a:p>
            <a:pPr>
              <a:lnSpc>
                <a:spcPct val="120000"/>
              </a:lnSpc>
              <a:buNone/>
            </a:pPr>
            <a:r>
              <a:rPr lang="en-US" sz="2400" dirty="0" smtClean="0"/>
              <a:t>	</a:t>
            </a:r>
            <a:r>
              <a:rPr lang="en-US" sz="2400" dirty="0" err="1" smtClean="0"/>
              <a:t>int</a:t>
            </a:r>
            <a:r>
              <a:rPr lang="en-US" sz="2400" dirty="0" smtClean="0"/>
              <a:t>    a = 120; </a:t>
            </a:r>
          </a:p>
          <a:p>
            <a:pPr>
              <a:lnSpc>
                <a:spcPct val="120000"/>
              </a:lnSpc>
              <a:buNone/>
            </a:pPr>
            <a:r>
              <a:rPr lang="en-US" sz="2400" dirty="0" smtClean="0"/>
              <a:t>}</a:t>
            </a:r>
          </a:p>
          <a:p>
            <a:pPr>
              <a:lnSpc>
                <a:spcPct val="120000"/>
              </a:lnSpc>
              <a:buNone/>
            </a:pPr>
            <a:r>
              <a:rPr lang="en-US" sz="2400" dirty="0" smtClean="0"/>
              <a:t>class Keyword extends </a:t>
            </a:r>
            <a:r>
              <a:rPr lang="en-US" sz="2400" dirty="0" err="1" smtClean="0"/>
              <a:t>SuperKeyword</a:t>
            </a:r>
            <a:r>
              <a:rPr lang="en-US" sz="2400" dirty="0" smtClean="0"/>
              <a:t> { </a:t>
            </a:r>
          </a:p>
          <a:p>
            <a:pPr>
              <a:lnSpc>
                <a:spcPct val="120000"/>
              </a:lnSpc>
              <a:buNone/>
            </a:pPr>
            <a:r>
              <a:rPr lang="en-US" sz="2400" dirty="0" err="1" smtClean="0"/>
              <a:t>int</a:t>
            </a:r>
            <a:r>
              <a:rPr lang="en-US" sz="2400" dirty="0" smtClean="0"/>
              <a:t>    a = 180; </a:t>
            </a:r>
          </a:p>
          <a:p>
            <a:pPr>
              <a:lnSpc>
                <a:spcPct val="120000"/>
              </a:lnSpc>
              <a:buNone/>
            </a:pPr>
            <a:r>
              <a:rPr lang="en-US" sz="2400" dirty="0" smtClean="0"/>
              <a:t>      void display() { </a:t>
            </a:r>
          </a:p>
          <a:p>
            <a:pPr>
              <a:lnSpc>
                <a:spcPct val="120000"/>
              </a:lnSpc>
              <a:buNone/>
            </a:pPr>
            <a:r>
              <a:rPr lang="en-US" sz="2400" dirty="0" smtClean="0"/>
              <a:t>		</a:t>
            </a:r>
            <a:r>
              <a:rPr lang="en-US" sz="2400" dirty="0" err="1" smtClean="0"/>
              <a:t>System.out.println</a:t>
            </a:r>
            <a:r>
              <a:rPr lang="en-US" sz="2400" dirty="0" smtClean="0"/>
              <a:t>(“Value of  a is: " + </a:t>
            </a:r>
            <a:r>
              <a:rPr lang="en-US" sz="2400" dirty="0" err="1" smtClean="0"/>
              <a:t>super.a</a:t>
            </a:r>
            <a:r>
              <a:rPr lang="en-US" sz="2400" dirty="0" smtClean="0"/>
              <a:t>);   } </a:t>
            </a:r>
          </a:p>
          <a:p>
            <a:pPr>
              <a:lnSpc>
                <a:spcPct val="120000"/>
              </a:lnSpc>
              <a:buNone/>
            </a:pPr>
            <a:r>
              <a:rPr lang="en-US" sz="2400" dirty="0" smtClean="0"/>
              <a:t>} </a:t>
            </a:r>
          </a:p>
          <a:p>
            <a:pPr>
              <a:lnSpc>
                <a:spcPct val="120000"/>
              </a:lnSpc>
              <a:buNone/>
            </a:pPr>
            <a:r>
              <a:rPr lang="en-US" sz="2400" dirty="0" smtClean="0"/>
              <a:t>class </a:t>
            </a:r>
            <a:r>
              <a:rPr lang="en-US" sz="2400" dirty="0" err="1" smtClean="0"/>
              <a:t>SuperKeywordforVariable</a:t>
            </a:r>
            <a:r>
              <a:rPr lang="en-US" sz="2400" dirty="0" smtClean="0"/>
              <a:t>{ </a:t>
            </a:r>
          </a:p>
          <a:p>
            <a:pPr>
              <a:lnSpc>
                <a:spcPct val="120000"/>
              </a:lnSpc>
              <a:buNone/>
            </a:pPr>
            <a:r>
              <a:rPr lang="en-US" sz="2400" dirty="0" smtClean="0"/>
              <a:t>public static void main(String[] </a:t>
            </a:r>
            <a:r>
              <a:rPr lang="en-US" sz="2400" dirty="0" err="1" smtClean="0"/>
              <a:t>args</a:t>
            </a:r>
            <a:r>
              <a:rPr lang="en-US" sz="2400" dirty="0" smtClean="0"/>
              <a:t>) { </a:t>
            </a:r>
          </a:p>
          <a:p>
            <a:pPr>
              <a:lnSpc>
                <a:spcPct val="120000"/>
              </a:lnSpc>
              <a:buNone/>
            </a:pPr>
            <a:r>
              <a:rPr lang="en-US" sz="2400" dirty="0" smtClean="0"/>
              <a:t>		 Keyword k = new Keyword(); </a:t>
            </a:r>
          </a:p>
          <a:p>
            <a:pPr>
              <a:lnSpc>
                <a:spcPct val="120000"/>
              </a:lnSpc>
              <a:buNone/>
            </a:pPr>
            <a:r>
              <a:rPr lang="en-US" sz="2400" dirty="0" smtClean="0"/>
              <a:t>		</a:t>
            </a:r>
            <a:r>
              <a:rPr lang="en-US" sz="2400" dirty="0" err="1" smtClean="0"/>
              <a:t>k.display</a:t>
            </a:r>
            <a:r>
              <a:rPr lang="en-US" sz="2400" dirty="0" smtClean="0"/>
              <a:t>(); </a:t>
            </a:r>
          </a:p>
          <a:p>
            <a:pPr>
              <a:lnSpc>
                <a:spcPct val="120000"/>
              </a:lnSpc>
              <a:buNone/>
            </a:pPr>
            <a:r>
              <a:rPr lang="en-US" sz="2400" dirty="0" smtClean="0"/>
              <a:t>	} }</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
            <a:ext cx="8229600" cy="5867400"/>
          </a:xfrm>
        </p:spPr>
        <p:txBody>
          <a:bodyPr>
            <a:noAutofit/>
          </a:bodyPr>
          <a:lstStyle/>
          <a:p>
            <a:pPr>
              <a:buNone/>
            </a:pPr>
            <a:r>
              <a:rPr lang="en-US" sz="2400" dirty="0" smtClean="0"/>
              <a:t>class Base { </a:t>
            </a:r>
          </a:p>
          <a:p>
            <a:pPr>
              <a:buNone/>
            </a:pPr>
            <a:r>
              <a:rPr lang="en-US" sz="2400" dirty="0" smtClean="0"/>
              <a:t>	void message() { </a:t>
            </a:r>
          </a:p>
          <a:p>
            <a:pPr>
              <a:buNone/>
            </a:pPr>
            <a:r>
              <a:rPr lang="en-US" sz="2400" dirty="0" smtClean="0"/>
              <a:t>		</a:t>
            </a:r>
            <a:r>
              <a:rPr lang="en-US" sz="2400" dirty="0" err="1" smtClean="0"/>
              <a:t>System.out.println</a:t>
            </a:r>
            <a:r>
              <a:rPr lang="en-US" sz="2400" dirty="0" smtClean="0"/>
              <a:t>("This is Base class");       } </a:t>
            </a:r>
          </a:p>
          <a:p>
            <a:pPr>
              <a:buNone/>
            </a:pPr>
            <a:r>
              <a:rPr lang="en-US" sz="2400" dirty="0" smtClean="0"/>
              <a:t>}</a:t>
            </a:r>
          </a:p>
          <a:p>
            <a:pPr>
              <a:buNone/>
            </a:pPr>
            <a:r>
              <a:rPr lang="en-US" sz="2400" dirty="0" smtClean="0"/>
              <a:t>class Derived extends Base { </a:t>
            </a:r>
          </a:p>
          <a:p>
            <a:pPr>
              <a:buNone/>
            </a:pPr>
            <a:r>
              <a:rPr lang="en-US" sz="2400" dirty="0" smtClean="0"/>
              <a:t>	void message() { </a:t>
            </a:r>
          </a:p>
          <a:p>
            <a:pPr>
              <a:buNone/>
            </a:pPr>
            <a:r>
              <a:rPr lang="en-US" sz="2400" dirty="0" smtClean="0"/>
              <a:t>		</a:t>
            </a:r>
            <a:r>
              <a:rPr lang="en-US" sz="2400" dirty="0" err="1" smtClean="0"/>
              <a:t>System.out.println</a:t>
            </a:r>
            <a:r>
              <a:rPr lang="en-US" sz="2400" dirty="0" smtClean="0"/>
              <a:t>("This is derived class");    } </a:t>
            </a:r>
          </a:p>
          <a:p>
            <a:pPr>
              <a:buNone/>
            </a:pPr>
            <a:r>
              <a:rPr lang="en-US" sz="2400" dirty="0" smtClean="0"/>
              <a:t>	void display() { </a:t>
            </a:r>
          </a:p>
          <a:p>
            <a:pPr>
              <a:buNone/>
            </a:pPr>
            <a:r>
              <a:rPr lang="en-US" sz="2400" dirty="0" smtClean="0"/>
              <a:t>                message(); </a:t>
            </a:r>
            <a:r>
              <a:rPr lang="en-US" sz="1400" dirty="0" smtClean="0"/>
              <a:t>// call current class message() method </a:t>
            </a:r>
          </a:p>
          <a:p>
            <a:pPr>
              <a:buNone/>
            </a:pPr>
            <a:r>
              <a:rPr lang="en-US" sz="2400" dirty="0" smtClean="0"/>
              <a:t>               </a:t>
            </a:r>
            <a:r>
              <a:rPr lang="en-US" sz="2400" dirty="0" err="1" smtClean="0"/>
              <a:t>super.message</a:t>
            </a:r>
            <a:r>
              <a:rPr lang="en-US" sz="2400" dirty="0" smtClean="0"/>
              <a:t>(); </a:t>
            </a:r>
            <a:r>
              <a:rPr lang="en-US" sz="1800" dirty="0" smtClean="0"/>
              <a:t>// call parent class message() method </a:t>
            </a:r>
          </a:p>
          <a:p>
            <a:pPr>
              <a:buNone/>
            </a:pPr>
            <a:r>
              <a:rPr lang="en-US" sz="2400" dirty="0" smtClean="0"/>
              <a:t>}     }</a:t>
            </a:r>
          </a:p>
          <a:p>
            <a:pPr>
              <a:lnSpc>
                <a:spcPct val="120000"/>
              </a:lnSpc>
              <a:buNone/>
            </a:pPr>
            <a:r>
              <a:rPr lang="en-US" sz="2400" dirty="0" smtClean="0"/>
              <a:t>class  </a:t>
            </a:r>
            <a:r>
              <a:rPr lang="en-US" sz="2400" dirty="0" err="1" smtClean="0"/>
              <a:t>SuperKeywordforMethod</a:t>
            </a:r>
            <a:r>
              <a:rPr lang="en-US" sz="2400" dirty="0" smtClean="0"/>
              <a:t>{ </a:t>
            </a:r>
          </a:p>
          <a:p>
            <a:pPr>
              <a:buNone/>
            </a:pPr>
            <a:r>
              <a:rPr lang="en-US" sz="2400" dirty="0" smtClean="0"/>
              <a:t>	public static void main(String </a:t>
            </a:r>
            <a:r>
              <a:rPr lang="en-US" sz="2400" dirty="0" err="1" smtClean="0"/>
              <a:t>args</a:t>
            </a:r>
            <a:r>
              <a:rPr lang="en-US" sz="2400" dirty="0" smtClean="0"/>
              <a:t>[]) { </a:t>
            </a:r>
          </a:p>
          <a:p>
            <a:pPr>
              <a:buNone/>
            </a:pPr>
            <a:r>
              <a:rPr lang="en-US" sz="2400" dirty="0" smtClean="0"/>
              <a:t>		Derived d = new Derived(); </a:t>
            </a:r>
          </a:p>
          <a:p>
            <a:pPr>
              <a:buNone/>
            </a:pPr>
            <a:r>
              <a:rPr lang="en-US" sz="2400" dirty="0" smtClean="0"/>
              <a:t>		</a:t>
            </a:r>
            <a:r>
              <a:rPr lang="en-US" sz="2400" dirty="0" err="1" smtClean="0"/>
              <a:t>d.display</a:t>
            </a:r>
            <a:r>
              <a:rPr lang="en-US" sz="2400" dirty="0" smtClean="0"/>
              <a:t>();   }     }</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28600"/>
            <a:ext cx="8229600" cy="5897563"/>
          </a:xfrm>
        </p:spPr>
        <p:txBody>
          <a:bodyPr>
            <a:noAutofit/>
          </a:bodyPr>
          <a:lstStyle/>
          <a:p>
            <a:pPr>
              <a:lnSpc>
                <a:spcPct val="120000"/>
              </a:lnSpc>
              <a:buNone/>
            </a:pPr>
            <a:r>
              <a:rPr lang="en-US" sz="2400" b="1" dirty="0" smtClean="0"/>
              <a:t>class Parent { </a:t>
            </a:r>
          </a:p>
          <a:p>
            <a:pPr>
              <a:lnSpc>
                <a:spcPct val="120000"/>
              </a:lnSpc>
              <a:buNone/>
            </a:pPr>
            <a:r>
              <a:rPr lang="en-US" sz="2400" b="1" dirty="0" smtClean="0"/>
              <a:t>	Parent() {    </a:t>
            </a:r>
            <a:r>
              <a:rPr lang="en-US" sz="2400" b="1" dirty="0" err="1" smtClean="0"/>
              <a:t>System.out.println</a:t>
            </a:r>
            <a:r>
              <a:rPr lang="en-US" sz="2400" b="1" dirty="0" smtClean="0"/>
              <a:t>("Parent class Constructor"); </a:t>
            </a:r>
          </a:p>
          <a:p>
            <a:pPr>
              <a:lnSpc>
                <a:spcPct val="120000"/>
              </a:lnSpc>
              <a:buNone/>
            </a:pPr>
            <a:r>
              <a:rPr lang="en-US" sz="2400" b="1" dirty="0" smtClean="0"/>
              <a:t>	}   } </a:t>
            </a:r>
          </a:p>
          <a:p>
            <a:pPr>
              <a:lnSpc>
                <a:spcPct val="120000"/>
              </a:lnSpc>
              <a:buNone/>
            </a:pPr>
            <a:r>
              <a:rPr lang="en-US" sz="2400" b="1" dirty="0" smtClean="0"/>
              <a:t>class Child extends Parent { </a:t>
            </a:r>
          </a:p>
          <a:p>
            <a:pPr>
              <a:lnSpc>
                <a:spcPct val="120000"/>
              </a:lnSpc>
              <a:buNone/>
            </a:pPr>
            <a:r>
              <a:rPr lang="en-US" sz="2400" b="1" dirty="0" smtClean="0"/>
              <a:t>	Child()  { </a:t>
            </a:r>
          </a:p>
          <a:p>
            <a:pPr>
              <a:lnSpc>
                <a:spcPct val="120000"/>
              </a:lnSpc>
              <a:buNone/>
            </a:pPr>
            <a:r>
              <a:rPr lang="en-US" sz="2400" b="1" dirty="0" smtClean="0"/>
              <a:t>		super(); // call parent class constructor </a:t>
            </a:r>
          </a:p>
          <a:p>
            <a:pPr>
              <a:lnSpc>
                <a:spcPct val="120000"/>
              </a:lnSpc>
              <a:buNone/>
            </a:pPr>
            <a:r>
              <a:rPr lang="en-US" sz="2400" b="1" dirty="0" smtClean="0"/>
              <a:t>		</a:t>
            </a:r>
            <a:r>
              <a:rPr lang="en-US" sz="2400" b="1" dirty="0" err="1" smtClean="0"/>
              <a:t>System.out.println</a:t>
            </a:r>
            <a:r>
              <a:rPr lang="en-US" sz="2400" b="1" dirty="0" smtClean="0"/>
              <a:t>(“Child class Constructor"); </a:t>
            </a:r>
          </a:p>
          <a:p>
            <a:pPr>
              <a:lnSpc>
                <a:spcPct val="120000"/>
              </a:lnSpc>
              <a:buNone/>
            </a:pPr>
            <a:r>
              <a:rPr lang="en-US" sz="2400" b="1" dirty="0" smtClean="0"/>
              <a:t>	}    } </a:t>
            </a:r>
          </a:p>
          <a:p>
            <a:pPr>
              <a:lnSpc>
                <a:spcPct val="120000"/>
              </a:lnSpc>
              <a:buNone/>
            </a:pPr>
            <a:r>
              <a:rPr lang="en-US" sz="2400" b="1" dirty="0" smtClean="0"/>
              <a:t>class  </a:t>
            </a:r>
            <a:r>
              <a:rPr lang="en-US" sz="2400" b="1" dirty="0" err="1" smtClean="0"/>
              <a:t>SuperKeywordforConstructor</a:t>
            </a:r>
            <a:r>
              <a:rPr lang="en-US" sz="2400" b="1" dirty="0" smtClean="0"/>
              <a:t>{ </a:t>
            </a:r>
          </a:p>
          <a:p>
            <a:pPr>
              <a:lnSpc>
                <a:spcPct val="120000"/>
              </a:lnSpc>
              <a:buNone/>
            </a:pPr>
            <a:r>
              <a:rPr lang="en-US" sz="2400" b="1" dirty="0" smtClean="0"/>
              <a:t>	public static void main(String[] </a:t>
            </a:r>
            <a:r>
              <a:rPr lang="en-US" sz="2400" b="1" dirty="0" err="1" smtClean="0"/>
              <a:t>args</a:t>
            </a:r>
            <a:r>
              <a:rPr lang="en-US" sz="2400" b="1" dirty="0" smtClean="0"/>
              <a:t>) { </a:t>
            </a:r>
          </a:p>
          <a:p>
            <a:pPr>
              <a:lnSpc>
                <a:spcPct val="120000"/>
              </a:lnSpc>
              <a:buNone/>
            </a:pPr>
            <a:r>
              <a:rPr lang="en-US" sz="2400" b="1" dirty="0" smtClean="0"/>
              <a:t>		Child c = new Child(); </a:t>
            </a:r>
          </a:p>
          <a:p>
            <a:pPr>
              <a:lnSpc>
                <a:spcPct val="120000"/>
              </a:lnSpc>
              <a:buNone/>
            </a:pPr>
            <a:r>
              <a:rPr lang="en-US" sz="2400" b="1" dirty="0" smtClean="0"/>
              <a:t>	}    }</a:t>
            </a:r>
            <a:endParaRPr lang="en-US" sz="24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Text Placeholder 4"/>
          <p:cNvSpPr>
            <a:spLocks noGrp="1"/>
          </p:cNvSpPr>
          <p:nvPr>
            <p:ph type="body" idx="1"/>
          </p:nvPr>
        </p:nvSpPr>
        <p:spPr/>
        <p:txBody>
          <a:bodyPr/>
          <a:lstStyle/>
          <a:p>
            <a:endParaRPr lang="en-US"/>
          </a:p>
        </p:txBody>
      </p:sp>
      <p:sp>
        <p:nvSpPr>
          <p:cNvPr id="6" name="Content Placeholder 5"/>
          <p:cNvSpPr>
            <a:spLocks noGrp="1"/>
          </p:cNvSpPr>
          <p:nvPr>
            <p:ph sz="half" idx="2"/>
          </p:nvPr>
        </p:nvSpPr>
        <p:spPr>
          <a:xfrm>
            <a:off x="0" y="228600"/>
            <a:ext cx="4876800" cy="6400800"/>
          </a:xfrm>
        </p:spPr>
        <p:style>
          <a:lnRef idx="1">
            <a:schemeClr val="accent2"/>
          </a:lnRef>
          <a:fillRef idx="2">
            <a:schemeClr val="accent2"/>
          </a:fillRef>
          <a:effectRef idx="1">
            <a:schemeClr val="accent2"/>
          </a:effectRef>
          <a:fontRef idx="minor">
            <a:schemeClr val="dk1"/>
          </a:fontRef>
        </p:style>
        <p:txBody>
          <a:bodyPr>
            <a:normAutofit/>
          </a:bodyPr>
          <a:lstStyle/>
          <a:p>
            <a:pPr>
              <a:buNone/>
            </a:pPr>
            <a:r>
              <a:rPr lang="en-US" b="1" dirty="0" smtClean="0">
                <a:latin typeface="Times New Roman" pitchFamily="18" charset="0"/>
                <a:cs typeface="Times New Roman" pitchFamily="18" charset="0"/>
              </a:rPr>
              <a:t>class </a:t>
            </a:r>
            <a:r>
              <a:rPr lang="en-US" b="1" dirty="0" smtClean="0">
                <a:solidFill>
                  <a:schemeClr val="tx1"/>
                </a:solidFill>
                <a:latin typeface="Times New Roman" pitchFamily="18" charset="0"/>
                <a:cs typeface="Times New Roman" pitchFamily="18" charset="0"/>
              </a:rPr>
              <a:t>Base</a:t>
            </a:r>
            <a:r>
              <a:rPr lang="en-US" b="1" dirty="0" smtClean="0">
                <a:latin typeface="Times New Roman" pitchFamily="18" charset="0"/>
                <a:cs typeface="Times New Roman" pitchFamily="18" charset="0"/>
              </a:rPr>
              <a:t> { </a:t>
            </a:r>
          </a:p>
          <a:p>
            <a:pPr>
              <a:buNone/>
            </a:pPr>
            <a:r>
              <a:rPr lang="en-US" b="1" dirty="0" smtClean="0">
                <a:latin typeface="Times New Roman" pitchFamily="18" charset="0"/>
                <a:cs typeface="Times New Roman" pitchFamily="18" charset="0"/>
              </a:rPr>
              <a:t> Base( ) { </a:t>
            </a:r>
          </a:p>
          <a:p>
            <a:pPr>
              <a:buNone/>
            </a:pPr>
            <a:r>
              <a:rPr lang="en-US" sz="2000" b="1" dirty="0" err="1" smtClean="0">
                <a:latin typeface="Times New Roman" pitchFamily="18" charset="0"/>
                <a:cs typeface="Times New Roman" pitchFamily="18" charset="0"/>
              </a:rPr>
              <a:t>System.out.println</a:t>
            </a:r>
            <a:r>
              <a:rPr lang="en-US" sz="2000" b="1" dirty="0" smtClean="0">
                <a:latin typeface="Times New Roman" pitchFamily="18" charset="0"/>
                <a:cs typeface="Times New Roman" pitchFamily="18" charset="0"/>
              </a:rPr>
              <a:t>("</a:t>
            </a:r>
            <a:r>
              <a:rPr lang="en-US" sz="2000" b="1" dirty="0" err="1" smtClean="0">
                <a:latin typeface="Times New Roman" pitchFamily="18" charset="0"/>
                <a:cs typeface="Times New Roman" pitchFamily="18" charset="0"/>
              </a:rPr>
              <a:t>insideparent</a:t>
            </a:r>
            <a:r>
              <a:rPr lang="en-US" sz="2000" b="1" dirty="0" smtClean="0">
                <a:latin typeface="Times New Roman" pitchFamily="18" charset="0"/>
                <a:cs typeface="Times New Roman" pitchFamily="18" charset="0"/>
              </a:rPr>
              <a:t>“);</a:t>
            </a:r>
          </a:p>
          <a:p>
            <a:pPr>
              <a:buNone/>
            </a:pPr>
            <a:r>
              <a:rPr lang="en-US" b="1"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class </a:t>
            </a:r>
            <a:r>
              <a:rPr lang="en-US" b="1" dirty="0" smtClean="0">
                <a:solidFill>
                  <a:srgbClr val="C00000"/>
                </a:solidFill>
                <a:latin typeface="Times New Roman" pitchFamily="18" charset="0"/>
                <a:cs typeface="Times New Roman" pitchFamily="18" charset="0"/>
              </a:rPr>
              <a:t>Derived</a:t>
            </a:r>
            <a:r>
              <a:rPr lang="en-US" b="1" dirty="0" smtClean="0">
                <a:latin typeface="Times New Roman" pitchFamily="18" charset="0"/>
                <a:cs typeface="Times New Roman" pitchFamily="18" charset="0"/>
              </a:rPr>
              <a:t> extends </a:t>
            </a:r>
            <a:r>
              <a:rPr lang="en-US" b="1" dirty="0" smtClean="0">
                <a:solidFill>
                  <a:schemeClr val="tx1"/>
                </a:solidFill>
                <a:latin typeface="Times New Roman" pitchFamily="18" charset="0"/>
                <a:cs typeface="Times New Roman" pitchFamily="18" charset="0"/>
              </a:rPr>
              <a:t>Base</a:t>
            </a:r>
            <a:r>
              <a:rPr lang="en-US" b="1" dirty="0" smtClean="0">
                <a:latin typeface="Times New Roman" pitchFamily="18" charset="0"/>
                <a:cs typeface="Times New Roman" pitchFamily="18" charset="0"/>
              </a:rPr>
              <a:t> { </a:t>
            </a:r>
          </a:p>
          <a:p>
            <a:pPr>
              <a:buNone/>
            </a:pPr>
            <a:r>
              <a:rPr lang="en-US" b="1" dirty="0" err="1" smtClean="0">
                <a:latin typeface="Times New Roman" pitchFamily="18" charset="0"/>
                <a:cs typeface="Times New Roman" pitchFamily="18" charset="0"/>
              </a:rPr>
              <a:t>int</a:t>
            </a:r>
            <a:r>
              <a:rPr lang="en-US" b="1" dirty="0" smtClean="0">
                <a:latin typeface="Times New Roman" pitchFamily="18" charset="0"/>
                <a:cs typeface="Times New Roman" pitchFamily="18" charset="0"/>
              </a:rPr>
              <a:t> x; </a:t>
            </a:r>
          </a:p>
          <a:p>
            <a:pPr>
              <a:buNone/>
            </a:pPr>
            <a:r>
              <a:rPr lang="en-US" b="1" dirty="0" smtClean="0">
                <a:latin typeface="Times New Roman" pitchFamily="18" charset="0"/>
                <a:cs typeface="Times New Roman" pitchFamily="18" charset="0"/>
              </a:rPr>
              <a:t>Derived(</a:t>
            </a:r>
            <a:r>
              <a:rPr lang="en-US" b="1" dirty="0" err="1" smtClean="0">
                <a:latin typeface="Times New Roman" pitchFamily="18" charset="0"/>
                <a:cs typeface="Times New Roman" pitchFamily="18" charset="0"/>
              </a:rPr>
              <a:t>int</a:t>
            </a:r>
            <a:r>
              <a:rPr lang="en-US" b="1" dirty="0" smtClean="0">
                <a:latin typeface="Times New Roman" pitchFamily="18" charset="0"/>
                <a:cs typeface="Times New Roman" pitchFamily="18" charset="0"/>
              </a:rPr>
              <a:t> x1) { </a:t>
            </a:r>
          </a:p>
          <a:p>
            <a:pPr>
              <a:buNone/>
            </a:pPr>
            <a:r>
              <a:rPr lang="en-US" b="1" dirty="0" smtClean="0">
                <a:latin typeface="Times New Roman" pitchFamily="18" charset="0"/>
                <a:cs typeface="Times New Roman" pitchFamily="18" charset="0"/>
              </a:rPr>
              <a:t>	super( ); </a:t>
            </a:r>
          </a:p>
          <a:p>
            <a:pPr>
              <a:buNone/>
            </a:pPr>
            <a:r>
              <a:rPr lang="en-US" b="1" dirty="0" smtClean="0">
                <a:latin typeface="Times New Roman" pitchFamily="18" charset="0"/>
                <a:cs typeface="Times New Roman" pitchFamily="18" charset="0"/>
              </a:rPr>
              <a:t>	x= x1;  } </a:t>
            </a:r>
          </a:p>
          <a:p>
            <a:pPr>
              <a:buNone/>
            </a:pPr>
            <a:r>
              <a:rPr lang="en-US" b="1" dirty="0" smtClean="0">
                <a:latin typeface="Times New Roman" pitchFamily="18" charset="0"/>
                <a:cs typeface="Times New Roman" pitchFamily="18" charset="0"/>
              </a:rPr>
              <a:t>void Display( ) { </a:t>
            </a:r>
          </a:p>
          <a:p>
            <a:pPr>
              <a:buNone/>
            </a:pP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System.out.println</a:t>
            </a:r>
            <a:r>
              <a:rPr lang="en-US" b="1" dirty="0" smtClean="0">
                <a:latin typeface="Times New Roman" pitchFamily="18" charset="0"/>
                <a:cs typeface="Times New Roman" pitchFamily="18" charset="0"/>
              </a:rPr>
              <a:t>("x = "+x); </a:t>
            </a:r>
          </a:p>
          <a:p>
            <a:pPr>
              <a:buNone/>
            </a:pPr>
            <a:r>
              <a:rPr lang="en-US" b="1"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 </a:t>
            </a:r>
          </a:p>
          <a:p>
            <a:endParaRPr lang="en-US" dirty="0"/>
          </a:p>
        </p:txBody>
      </p:sp>
      <p:sp>
        <p:nvSpPr>
          <p:cNvPr id="7" name="Text Placeholder 6"/>
          <p:cNvSpPr>
            <a:spLocks noGrp="1"/>
          </p:cNvSpPr>
          <p:nvPr>
            <p:ph type="body" sz="quarter" idx="3"/>
          </p:nvPr>
        </p:nvSpPr>
        <p:spPr/>
        <p:txBody>
          <a:bodyPr/>
          <a:lstStyle/>
          <a:p>
            <a:endParaRPr lang="en-US"/>
          </a:p>
        </p:txBody>
      </p:sp>
      <p:sp>
        <p:nvSpPr>
          <p:cNvPr id="8" name="Content Placeholder 7"/>
          <p:cNvSpPr>
            <a:spLocks noGrp="1"/>
          </p:cNvSpPr>
          <p:nvPr>
            <p:ph sz="quarter" idx="4"/>
          </p:nvPr>
        </p:nvSpPr>
        <p:spPr>
          <a:xfrm>
            <a:off x="4495800" y="3048000"/>
            <a:ext cx="4648200" cy="3078163"/>
          </a:xfrm>
        </p:spPr>
        <p:style>
          <a:lnRef idx="1">
            <a:schemeClr val="accent2"/>
          </a:lnRef>
          <a:fillRef idx="3">
            <a:schemeClr val="accent2"/>
          </a:fillRef>
          <a:effectRef idx="2">
            <a:schemeClr val="accent2"/>
          </a:effectRef>
          <a:fontRef idx="minor">
            <a:schemeClr val="lt1"/>
          </a:fontRef>
        </p:style>
        <p:txBody>
          <a:bodyPr>
            <a:normAutofit fontScale="92500" lnSpcReduction="10000"/>
          </a:bodyPr>
          <a:lstStyle/>
          <a:p>
            <a:pPr>
              <a:buNone/>
            </a:pPr>
            <a:r>
              <a:rPr lang="en-US" b="1" dirty="0" smtClean="0">
                <a:latin typeface="Times New Roman" pitchFamily="18" charset="0"/>
                <a:cs typeface="Times New Roman" pitchFamily="18" charset="0"/>
              </a:rPr>
              <a:t>public class </a:t>
            </a:r>
            <a:r>
              <a:rPr lang="en-US" b="1" dirty="0" err="1" smtClean="0">
                <a:latin typeface="Times New Roman" pitchFamily="18" charset="0"/>
                <a:cs typeface="Times New Roman" pitchFamily="18" charset="0"/>
              </a:rPr>
              <a:t>ConstructorEg</a:t>
            </a:r>
            <a:r>
              <a:rPr lang="en-US" b="1"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public static void main(String[] </a:t>
            </a:r>
            <a:r>
              <a:rPr lang="en-US" b="1" dirty="0" err="1" smtClean="0">
                <a:latin typeface="Times New Roman" pitchFamily="18" charset="0"/>
                <a:cs typeface="Times New Roman" pitchFamily="18" charset="0"/>
              </a:rPr>
              <a:t>args</a:t>
            </a:r>
            <a:r>
              <a:rPr lang="en-US" b="1" dirty="0" smtClean="0">
                <a:latin typeface="Times New Roman" pitchFamily="18" charset="0"/>
                <a:cs typeface="Times New Roman" pitchFamily="18" charset="0"/>
              </a:rPr>
              <a:t>) { </a:t>
            </a:r>
          </a:p>
          <a:p>
            <a:pPr>
              <a:buNone/>
            </a:pPr>
            <a:r>
              <a:rPr lang="en-US" b="1" dirty="0" smtClean="0">
                <a:latin typeface="Times New Roman" pitchFamily="18" charset="0"/>
                <a:cs typeface="Times New Roman" pitchFamily="18" charset="0"/>
              </a:rPr>
              <a:t>Derived d = new Derived(10); </a:t>
            </a:r>
          </a:p>
          <a:p>
            <a:pPr>
              <a:buNone/>
            </a:pPr>
            <a:r>
              <a:rPr lang="en-US" b="1" dirty="0" smtClean="0">
                <a:latin typeface="Times New Roman" pitchFamily="18" charset="0"/>
                <a:cs typeface="Times New Roman" pitchFamily="18" charset="0"/>
              </a:rPr>
              <a:t>	</a:t>
            </a:r>
            <a:r>
              <a:rPr lang="en-US" b="1" dirty="0" err="1" smtClean="0">
                <a:latin typeface="Times New Roman" pitchFamily="18" charset="0"/>
                <a:cs typeface="Times New Roman" pitchFamily="18" charset="0"/>
              </a:rPr>
              <a:t>d.Display</a:t>
            </a:r>
            <a:r>
              <a:rPr lang="en-US" b="1" dirty="0" smtClean="0">
                <a:latin typeface="Times New Roman" pitchFamily="18" charset="0"/>
                <a:cs typeface="Times New Roman" pitchFamily="18" charset="0"/>
              </a:rPr>
              <a:t>(); </a:t>
            </a:r>
          </a:p>
          <a:p>
            <a:pPr>
              <a:buNone/>
            </a:pPr>
            <a:r>
              <a:rPr lang="en-US" b="1" dirty="0" smtClean="0">
                <a:latin typeface="Times New Roman" pitchFamily="18" charset="0"/>
                <a:cs typeface="Times New Roman" pitchFamily="18" charset="0"/>
              </a:rPr>
              <a:t>} } </a:t>
            </a:r>
          </a:p>
          <a:p>
            <a:pPr>
              <a:buNone/>
            </a:pPr>
            <a:r>
              <a:rPr lang="en-US" b="1" dirty="0" smtClean="0">
                <a:latin typeface="Times New Roman" pitchFamily="18" charset="0"/>
                <a:cs typeface="Times New Roman" pitchFamily="18" charset="0"/>
              </a:rPr>
              <a:t>o/p:inside parent </a:t>
            </a:r>
          </a:p>
          <a:p>
            <a:pPr>
              <a:buNone/>
            </a:pPr>
            <a:r>
              <a:rPr lang="en-US" b="1" dirty="0" smtClean="0">
                <a:latin typeface="Times New Roman" pitchFamily="18" charset="0"/>
                <a:cs typeface="Times New Roman" pitchFamily="18" charset="0"/>
              </a:rPr>
              <a:t>         x = 10</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fontScale="90000"/>
          </a:bodyPr>
          <a:lstStyle/>
          <a:p>
            <a:r>
              <a:rPr lang="en-US" b="1" u="sng" dirty="0" smtClean="0">
                <a:solidFill>
                  <a:schemeClr val="tx2">
                    <a:lumMod val="60000"/>
                    <a:lumOff val="40000"/>
                  </a:schemeClr>
                </a:solidFill>
              </a:rPr>
              <a:t>Access </a:t>
            </a:r>
            <a:r>
              <a:rPr lang="en-US" b="1" u="sng" dirty="0" err="1" smtClean="0">
                <a:solidFill>
                  <a:schemeClr val="tx2">
                    <a:lumMod val="60000"/>
                    <a:lumOff val="40000"/>
                  </a:schemeClr>
                </a:solidFill>
              </a:rPr>
              <a:t>Specifiers</a:t>
            </a:r>
            <a:r>
              <a:rPr lang="en-US" b="1" u="sng" dirty="0" smtClean="0">
                <a:solidFill>
                  <a:schemeClr val="tx2">
                    <a:lumMod val="60000"/>
                    <a:lumOff val="40000"/>
                  </a:schemeClr>
                </a:solidFill>
              </a:rPr>
              <a:t>(protected Keyword)</a:t>
            </a:r>
            <a:endParaRPr lang="en-US" b="1" u="sng" dirty="0">
              <a:solidFill>
                <a:schemeClr val="tx2">
                  <a:lumMod val="60000"/>
                  <a:lumOff val="40000"/>
                </a:schemeClr>
              </a:solidFill>
            </a:endParaRPr>
          </a:p>
        </p:txBody>
      </p:sp>
      <p:sp>
        <p:nvSpPr>
          <p:cNvPr id="3" name="Content Placeholder 2"/>
          <p:cNvSpPr>
            <a:spLocks noGrp="1"/>
          </p:cNvSpPr>
          <p:nvPr>
            <p:ph idx="1"/>
          </p:nvPr>
        </p:nvSpPr>
        <p:spPr>
          <a:xfrm>
            <a:off x="228600" y="1066800"/>
            <a:ext cx="8610600" cy="5334000"/>
          </a:xfrm>
        </p:spPr>
        <p:txBody>
          <a:bodyPr>
            <a:noAutofit/>
          </a:bodyPr>
          <a:lstStyle/>
          <a:p>
            <a:pPr>
              <a:buNone/>
            </a:pPr>
            <a:r>
              <a:rPr lang="en-US" sz="1800" b="1" dirty="0" smtClean="0">
                <a:latin typeface="Times New Roman" pitchFamily="18" charset="0"/>
                <a:cs typeface="Times New Roman" pitchFamily="18" charset="0"/>
              </a:rPr>
              <a:t>class P{</a:t>
            </a:r>
          </a:p>
          <a:p>
            <a:pPr>
              <a:buNone/>
            </a:pPr>
            <a:r>
              <a:rPr lang="en-US" sz="1800" b="1" dirty="0" smtClean="0">
                <a:latin typeface="Times New Roman" pitchFamily="18" charset="0"/>
                <a:cs typeface="Times New Roman" pitchFamily="18" charset="0"/>
              </a:rPr>
              <a:t>    protected </a:t>
            </a:r>
            <a:r>
              <a:rPr lang="en-US" sz="1800" b="1" dirty="0" err="1" smtClean="0">
                <a:latin typeface="Times New Roman" pitchFamily="18" charset="0"/>
                <a:cs typeface="Times New Roman" pitchFamily="18" charset="0"/>
              </a:rPr>
              <a:t>int</a:t>
            </a:r>
            <a:r>
              <a:rPr lang="en-US" sz="1800" b="1" dirty="0" smtClean="0">
                <a:latin typeface="Times New Roman" pitchFamily="18" charset="0"/>
                <a:cs typeface="Times New Roman" pitchFamily="18" charset="0"/>
              </a:rPr>
              <a:t> a=10;</a:t>
            </a:r>
          </a:p>
          <a:p>
            <a:pPr>
              <a:buNone/>
            </a:pPr>
            <a:r>
              <a:rPr lang="en-US" sz="1800" b="1" dirty="0" smtClean="0">
                <a:latin typeface="Times New Roman" pitchFamily="18" charset="0"/>
                <a:cs typeface="Times New Roman" pitchFamily="18" charset="0"/>
              </a:rPr>
              <a:t>    void </a:t>
            </a:r>
            <a:r>
              <a:rPr lang="en-US" sz="1800" b="1" dirty="0" err="1" smtClean="0">
                <a:latin typeface="Times New Roman" pitchFamily="18" charset="0"/>
                <a:cs typeface="Times New Roman" pitchFamily="18" charset="0"/>
              </a:rPr>
              <a:t>dis</a:t>
            </a:r>
            <a:r>
              <a:rPr lang="en-US" sz="1800" b="1" dirty="0" smtClean="0">
                <a:latin typeface="Times New Roman" pitchFamily="18" charset="0"/>
                <a:cs typeface="Times New Roman" pitchFamily="18" charset="0"/>
              </a:rPr>
              <a:t>( ){    </a:t>
            </a:r>
            <a:r>
              <a:rPr lang="en-US" sz="1800" b="1" dirty="0" err="1" smtClean="0">
                <a:latin typeface="Times New Roman" pitchFamily="18" charset="0"/>
                <a:cs typeface="Times New Roman" pitchFamily="18" charset="0"/>
              </a:rPr>
              <a:t>System.out.println</a:t>
            </a:r>
            <a:r>
              <a:rPr lang="en-US" sz="1800" b="1" dirty="0" smtClean="0">
                <a:latin typeface="Times New Roman" pitchFamily="18" charset="0"/>
                <a:cs typeface="Times New Roman" pitchFamily="18" charset="0"/>
              </a:rPr>
              <a:t>("this is parent class variable"+a); }</a:t>
            </a:r>
          </a:p>
          <a:p>
            <a:pPr>
              <a:buNone/>
            </a:pPr>
            <a:r>
              <a:rPr lang="en-US" sz="1800" b="1" dirty="0" smtClean="0">
                <a:latin typeface="Times New Roman" pitchFamily="18" charset="0"/>
                <a:cs typeface="Times New Roman" pitchFamily="18" charset="0"/>
              </a:rPr>
              <a:t>}</a:t>
            </a:r>
          </a:p>
          <a:p>
            <a:pPr>
              <a:buNone/>
            </a:pPr>
            <a:r>
              <a:rPr lang="en-US" sz="1800" b="1" dirty="0" smtClean="0">
                <a:latin typeface="Times New Roman" pitchFamily="18" charset="0"/>
                <a:cs typeface="Times New Roman" pitchFamily="18" charset="0"/>
              </a:rPr>
              <a:t>class C extends P{</a:t>
            </a:r>
          </a:p>
          <a:p>
            <a:pPr>
              <a:buNone/>
            </a:pPr>
            <a:r>
              <a:rPr lang="en-US" sz="1800" b="1" dirty="0" smtClean="0">
                <a:latin typeface="Times New Roman" pitchFamily="18" charset="0"/>
                <a:cs typeface="Times New Roman" pitchFamily="18" charset="0"/>
              </a:rPr>
              <a:t>   void dis1( ){        </a:t>
            </a:r>
            <a:r>
              <a:rPr lang="en-US" sz="1800" b="1" dirty="0" err="1" smtClean="0">
                <a:latin typeface="Times New Roman" pitchFamily="18" charset="0"/>
                <a:cs typeface="Times New Roman" pitchFamily="18" charset="0"/>
              </a:rPr>
              <a:t>System.out.println</a:t>
            </a:r>
            <a:r>
              <a:rPr lang="en-US" sz="1800" b="1" dirty="0" smtClean="0">
                <a:latin typeface="Times New Roman" pitchFamily="18" charset="0"/>
                <a:cs typeface="Times New Roman" pitchFamily="18" charset="0"/>
              </a:rPr>
              <a:t>("this is child class variable"+a); }</a:t>
            </a:r>
          </a:p>
          <a:p>
            <a:pPr>
              <a:buNone/>
            </a:pPr>
            <a:r>
              <a:rPr lang="en-US" sz="1800" b="1" dirty="0" smtClean="0">
                <a:latin typeface="Times New Roman" pitchFamily="18" charset="0"/>
                <a:cs typeface="Times New Roman" pitchFamily="18" charset="0"/>
              </a:rPr>
              <a:t>}</a:t>
            </a:r>
          </a:p>
          <a:p>
            <a:pPr>
              <a:buNone/>
            </a:pPr>
            <a:r>
              <a:rPr lang="en-US" sz="1800" b="1" dirty="0" smtClean="0">
                <a:latin typeface="Times New Roman" pitchFamily="18" charset="0"/>
                <a:cs typeface="Times New Roman" pitchFamily="18" charset="0"/>
              </a:rPr>
              <a:t> class Main{</a:t>
            </a:r>
          </a:p>
          <a:p>
            <a:pPr>
              <a:buNone/>
            </a:pPr>
            <a:r>
              <a:rPr lang="en-US" sz="1800" b="1" dirty="0" smtClean="0">
                <a:latin typeface="Times New Roman" pitchFamily="18" charset="0"/>
                <a:cs typeface="Times New Roman" pitchFamily="18" charset="0"/>
              </a:rPr>
              <a:t>public static void main(String[] </a:t>
            </a:r>
            <a:r>
              <a:rPr lang="en-US" sz="1800" b="1" dirty="0" err="1" smtClean="0">
                <a:latin typeface="Times New Roman" pitchFamily="18" charset="0"/>
                <a:cs typeface="Times New Roman" pitchFamily="18" charset="0"/>
              </a:rPr>
              <a:t>args</a:t>
            </a:r>
            <a:r>
              <a:rPr lang="en-US" sz="1800" b="1" dirty="0" smtClean="0">
                <a:latin typeface="Times New Roman" pitchFamily="18" charset="0"/>
                <a:cs typeface="Times New Roman" pitchFamily="18" charset="0"/>
              </a:rPr>
              <a:t>){</a:t>
            </a:r>
          </a:p>
          <a:p>
            <a:pPr>
              <a:buNone/>
            </a:pPr>
            <a:r>
              <a:rPr lang="en-US" sz="1800" b="1" dirty="0" smtClean="0">
                <a:latin typeface="Times New Roman" pitchFamily="18" charset="0"/>
                <a:cs typeface="Times New Roman" pitchFamily="18" charset="0"/>
              </a:rPr>
              <a:t>	C o=new C();</a:t>
            </a:r>
          </a:p>
          <a:p>
            <a:pPr>
              <a:buNone/>
            </a:pPr>
            <a:r>
              <a:rPr lang="en-US" sz="1800" b="1" dirty="0" smtClean="0">
                <a:latin typeface="Times New Roman" pitchFamily="18" charset="0"/>
                <a:cs typeface="Times New Roman" pitchFamily="18" charset="0"/>
              </a:rPr>
              <a:t>	o.dis();</a:t>
            </a:r>
          </a:p>
          <a:p>
            <a:pPr>
              <a:buNone/>
            </a:pPr>
            <a:r>
              <a:rPr lang="en-US" sz="1800" b="1" dirty="0" smtClean="0">
                <a:latin typeface="Times New Roman" pitchFamily="18" charset="0"/>
                <a:cs typeface="Times New Roman" pitchFamily="18" charset="0"/>
              </a:rPr>
              <a:t>	</a:t>
            </a:r>
            <a:r>
              <a:rPr lang="en-US" sz="1800" b="1" dirty="0" err="1" smtClean="0">
                <a:latin typeface="Times New Roman" pitchFamily="18" charset="0"/>
                <a:cs typeface="Times New Roman" pitchFamily="18" charset="0"/>
              </a:rPr>
              <a:t>o.a</a:t>
            </a:r>
            <a:r>
              <a:rPr lang="en-US" sz="1800" b="1" dirty="0" smtClean="0">
                <a:latin typeface="Times New Roman" pitchFamily="18" charset="0"/>
                <a:cs typeface="Times New Roman" pitchFamily="18" charset="0"/>
              </a:rPr>
              <a:t>=20;</a:t>
            </a:r>
          </a:p>
          <a:p>
            <a:pPr>
              <a:buNone/>
            </a:pPr>
            <a:r>
              <a:rPr lang="en-US" sz="1800" b="1" dirty="0" smtClean="0">
                <a:latin typeface="Times New Roman" pitchFamily="18" charset="0"/>
                <a:cs typeface="Times New Roman" pitchFamily="18" charset="0"/>
              </a:rPr>
              <a:t>	o.dis1();</a:t>
            </a:r>
          </a:p>
          <a:p>
            <a:pPr>
              <a:buNone/>
            </a:pPr>
            <a:r>
              <a:rPr lang="en-US" sz="1800" b="1" dirty="0" smtClean="0">
                <a:latin typeface="Times New Roman" pitchFamily="18" charset="0"/>
                <a:cs typeface="Times New Roman" pitchFamily="18" charset="0"/>
              </a:rPr>
              <a:t>	} }</a:t>
            </a:r>
          </a:p>
        </p:txBody>
      </p:sp>
      <p:sp>
        <p:nvSpPr>
          <p:cNvPr id="4" name="Rectangle 3"/>
          <p:cNvSpPr/>
          <p:nvPr/>
        </p:nvSpPr>
        <p:spPr>
          <a:xfrm>
            <a:off x="533400" y="5715000"/>
            <a:ext cx="6096000" cy="3810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6" name="TextBox 5"/>
          <p:cNvSpPr txBox="1"/>
          <p:nvPr/>
        </p:nvSpPr>
        <p:spPr>
          <a:xfrm>
            <a:off x="533400" y="5715000"/>
            <a:ext cx="6477000" cy="646331"/>
          </a:xfrm>
          <a:prstGeom prst="rect">
            <a:avLst/>
          </a:prstGeom>
          <a:noFill/>
        </p:spPr>
        <p:txBody>
          <a:bodyPr wrap="square" rtlCol="0">
            <a:spAutoFit/>
          </a:bodyPr>
          <a:lstStyle/>
          <a:p>
            <a:r>
              <a:rPr lang="en-US" b="1" dirty="0" err="1" smtClean="0">
                <a:latin typeface="Times New Roman" pitchFamily="18" charset="0"/>
                <a:cs typeface="Times New Roman" pitchFamily="18" charset="0"/>
              </a:rPr>
              <a:t>Note:for</a:t>
            </a:r>
            <a:r>
              <a:rPr lang="en-US" b="1" dirty="0" smtClean="0">
                <a:latin typeface="Times New Roman" pitchFamily="18" charset="0"/>
                <a:cs typeface="Times New Roman" pitchFamily="18" charset="0"/>
              </a:rPr>
              <a:t> member access rules refer Access </a:t>
            </a:r>
            <a:r>
              <a:rPr lang="en-US" b="1" dirty="0" err="1" smtClean="0">
                <a:latin typeface="Times New Roman" pitchFamily="18" charset="0"/>
                <a:cs typeface="Times New Roman" pitchFamily="18" charset="0"/>
              </a:rPr>
              <a:t>specifiers</a:t>
            </a:r>
            <a:r>
              <a:rPr lang="en-US" b="1" dirty="0" smtClean="0">
                <a:latin typeface="Times New Roman" pitchFamily="18" charset="0"/>
                <a:cs typeface="Times New Roman" pitchFamily="18" charset="0"/>
              </a:rPr>
              <a:t> in Unit-1</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chemeClr val="tx2">
                    <a:lumMod val="60000"/>
                    <a:lumOff val="40000"/>
                  </a:schemeClr>
                </a:solidFill>
              </a:rPr>
              <a:t>Method Overriding</a:t>
            </a:r>
            <a:endParaRPr lang="en-US" b="1" u="sng" dirty="0">
              <a:solidFill>
                <a:schemeClr val="tx2">
                  <a:lumMod val="60000"/>
                  <a:lumOff val="40000"/>
                </a:schemeClr>
              </a:solidFill>
            </a:endParaRPr>
          </a:p>
        </p:txBody>
      </p:sp>
      <p:sp>
        <p:nvSpPr>
          <p:cNvPr id="3" name="Content Placeholder 2"/>
          <p:cNvSpPr>
            <a:spLocks noGrp="1"/>
          </p:cNvSpPr>
          <p:nvPr>
            <p:ph idx="1"/>
          </p:nvPr>
        </p:nvSpPr>
        <p:spPr>
          <a:xfrm>
            <a:off x="457200" y="1295400"/>
            <a:ext cx="8229600" cy="4830763"/>
          </a:xfrm>
        </p:spPr>
        <p:txBody>
          <a:bodyPr>
            <a:normAutofit/>
          </a:bodyPr>
          <a:lstStyle/>
          <a:p>
            <a:pPr algn="just"/>
            <a:r>
              <a:rPr lang="en-US" dirty="0" smtClean="0">
                <a:latin typeface="Times New Roman" pitchFamily="18" charset="0"/>
                <a:cs typeface="Times New Roman" pitchFamily="18" charset="0"/>
              </a:rPr>
              <a:t>In method overriding, a base class method is overridden in the derived class. </a:t>
            </a:r>
          </a:p>
          <a:p>
            <a:pPr algn="just"/>
            <a:r>
              <a:rPr lang="en-US" dirty="0" smtClean="0">
                <a:latin typeface="Times New Roman" pitchFamily="18" charset="0"/>
                <a:cs typeface="Times New Roman" pitchFamily="18" charset="0"/>
              </a:rPr>
              <a:t>That is, the same method is written with the same signature as of the base class method but different implementation. </a:t>
            </a:r>
          </a:p>
          <a:p>
            <a:pPr algn="just"/>
            <a:r>
              <a:rPr lang="en-US" dirty="0" smtClean="0">
                <a:latin typeface="Times New Roman" pitchFamily="18" charset="0"/>
                <a:cs typeface="Times New Roman" pitchFamily="18" charset="0"/>
              </a:rPr>
              <a:t>In method overloading, arguments and type of arguments are used to distinguish between two functions, but in method overriding no such distinction can be made. </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838200"/>
            <a:ext cx="8229600" cy="5287963"/>
          </a:xfrm>
        </p:spPr>
        <p:txBody>
          <a:bodyPr>
            <a:normAutofit fontScale="85000" lnSpcReduction="10000"/>
          </a:bodyPr>
          <a:lstStyle/>
          <a:p>
            <a:r>
              <a:rPr lang="en-US" sz="3000" dirty="0" smtClean="0">
                <a:latin typeface="Times New Roman" pitchFamily="18" charset="0"/>
                <a:cs typeface="Times New Roman" pitchFamily="18" charset="0"/>
              </a:rPr>
              <a:t>When a method in a subclass has the same name, same parameters or signature and same return type(or sub-type) as a method in its super-class, then the method in the subclass is said to </a:t>
            </a:r>
            <a:r>
              <a:rPr lang="en-US" sz="3000" i="1" dirty="0" smtClean="0">
                <a:latin typeface="Times New Roman" pitchFamily="18" charset="0"/>
                <a:cs typeface="Times New Roman" pitchFamily="18" charset="0"/>
              </a:rPr>
              <a:t>override</a:t>
            </a:r>
            <a:r>
              <a:rPr lang="en-US" sz="3000" dirty="0" smtClean="0">
                <a:latin typeface="Times New Roman" pitchFamily="18" charset="0"/>
                <a:cs typeface="Times New Roman" pitchFamily="18" charset="0"/>
              </a:rPr>
              <a:t> the method in the super-class.</a:t>
            </a:r>
          </a:p>
          <a:p>
            <a:r>
              <a:rPr lang="en-US" sz="3000" dirty="0" smtClean="0">
                <a:latin typeface="Times New Roman" pitchFamily="18" charset="0"/>
                <a:cs typeface="Times New Roman" pitchFamily="18" charset="0"/>
              </a:rPr>
              <a:t>Method overriding is one of the way by which java achieve </a:t>
            </a:r>
            <a:r>
              <a:rPr lang="en-US" sz="3000" b="1" dirty="0" smtClean="0">
                <a:solidFill>
                  <a:srgbClr val="FF0066"/>
                </a:solidFill>
                <a:latin typeface="Times New Roman" pitchFamily="18" charset="0"/>
                <a:cs typeface="Times New Roman" pitchFamily="18" charset="0"/>
              </a:rPr>
              <a:t>Run Time Polymorphism</a:t>
            </a:r>
          </a:p>
          <a:p>
            <a:r>
              <a:rPr lang="en-US" sz="3000" dirty="0" smtClean="0">
                <a:latin typeface="Times New Roman" pitchFamily="18" charset="0"/>
                <a:cs typeface="Times New Roman" pitchFamily="18" charset="0"/>
              </a:rPr>
              <a:t>The version of a method that is executed will be determined by the object that is used to invoke it.</a:t>
            </a:r>
          </a:p>
          <a:p>
            <a:r>
              <a:rPr lang="en-US" sz="2800" dirty="0" smtClean="0">
                <a:latin typeface="Times New Roman" pitchFamily="18" charset="0"/>
                <a:cs typeface="Times New Roman" pitchFamily="18" charset="0"/>
              </a:rPr>
              <a:t>This process in which call to the overridden method is resolved at runtime is known as </a:t>
            </a:r>
            <a:r>
              <a:rPr lang="en-US" sz="2800" b="1" dirty="0" smtClean="0">
                <a:solidFill>
                  <a:srgbClr val="FF0066"/>
                </a:solidFill>
                <a:latin typeface="Times New Roman" pitchFamily="18" charset="0"/>
                <a:cs typeface="Times New Roman" pitchFamily="18" charset="0"/>
              </a:rPr>
              <a:t>Dynamic method dispatch</a:t>
            </a:r>
            <a:endParaRPr lang="en-US" sz="3000" b="1" dirty="0" smtClean="0">
              <a:solidFill>
                <a:srgbClr val="FF0066"/>
              </a:solidFill>
              <a:latin typeface="Times New Roman" pitchFamily="18" charset="0"/>
              <a:cs typeface="Times New Roman" pitchFamily="18" charset="0"/>
            </a:endParaRPr>
          </a:p>
          <a:p>
            <a:r>
              <a:rPr lang="en-US" sz="3000" dirty="0" smtClean="0">
                <a:latin typeface="Times New Roman" pitchFamily="18" charset="0"/>
                <a:cs typeface="Times New Roman" pitchFamily="18" charset="0"/>
              </a:rPr>
              <a:t>In method overriding, the signature of the two methods must match. This is shown in the program given below</a:t>
            </a:r>
            <a:r>
              <a:rPr lang="en-US" dirty="0" smtClean="0">
                <a:latin typeface="Times New Roman" pitchFamily="18" charset="0"/>
                <a:cs typeface="Times New Roman" pitchFamily="18" charset="0"/>
              </a:rPr>
              <a:t>. </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fontScale="85000" lnSpcReduction="20000"/>
          </a:bodyPr>
          <a:lstStyle/>
          <a:p>
            <a:pPr>
              <a:buNone/>
            </a:pPr>
            <a:r>
              <a:rPr lang="en-US" dirty="0" smtClean="0"/>
              <a:t>Class  A{</a:t>
            </a:r>
          </a:p>
          <a:p>
            <a:pPr>
              <a:buNone/>
            </a:pPr>
            <a:r>
              <a:rPr lang="en-US" dirty="0" smtClean="0"/>
              <a:t>        void </a:t>
            </a:r>
            <a:r>
              <a:rPr lang="en-US" dirty="0" err="1" smtClean="0"/>
              <a:t>dis</a:t>
            </a:r>
            <a:r>
              <a:rPr lang="en-US" dirty="0" smtClean="0"/>
              <a:t>(){</a:t>
            </a:r>
          </a:p>
          <a:p>
            <a:pPr>
              <a:buNone/>
            </a:pPr>
            <a:r>
              <a:rPr lang="en-US" dirty="0" smtClean="0"/>
              <a:t>                              </a:t>
            </a:r>
            <a:r>
              <a:rPr lang="en-US" dirty="0" err="1" smtClean="0"/>
              <a:t>System.out.println</a:t>
            </a:r>
            <a:r>
              <a:rPr lang="en-US" dirty="0" smtClean="0"/>
              <a:t>(“this is class A”);</a:t>
            </a:r>
          </a:p>
          <a:p>
            <a:pPr>
              <a:buNone/>
            </a:pPr>
            <a:r>
              <a:rPr lang="en-US" dirty="0" smtClean="0"/>
              <a:t>}}</a:t>
            </a:r>
          </a:p>
          <a:p>
            <a:pPr>
              <a:buNone/>
            </a:pPr>
            <a:r>
              <a:rPr lang="en-US" dirty="0" smtClean="0"/>
              <a:t>Class B extends A{</a:t>
            </a:r>
          </a:p>
          <a:p>
            <a:pPr>
              <a:buNone/>
            </a:pPr>
            <a:r>
              <a:rPr lang="en-US" dirty="0" smtClean="0"/>
              <a:t>        void </a:t>
            </a:r>
            <a:r>
              <a:rPr lang="en-US" dirty="0" err="1" smtClean="0"/>
              <a:t>dis</a:t>
            </a:r>
            <a:r>
              <a:rPr lang="en-US" dirty="0" smtClean="0"/>
              <a:t>(){</a:t>
            </a:r>
          </a:p>
          <a:p>
            <a:pPr>
              <a:buNone/>
            </a:pPr>
            <a:r>
              <a:rPr lang="en-US" dirty="0" smtClean="0"/>
              <a:t>                               </a:t>
            </a:r>
            <a:r>
              <a:rPr lang="en-US" dirty="0" err="1" smtClean="0"/>
              <a:t>System.out.println</a:t>
            </a:r>
            <a:r>
              <a:rPr lang="en-US" dirty="0" smtClean="0"/>
              <a:t>(“this is class B”);</a:t>
            </a:r>
          </a:p>
          <a:p>
            <a:pPr>
              <a:buNone/>
            </a:pPr>
            <a:r>
              <a:rPr lang="en-US" dirty="0" smtClean="0"/>
              <a:t>}}</a:t>
            </a:r>
          </a:p>
          <a:p>
            <a:pPr>
              <a:buNone/>
            </a:pPr>
            <a:r>
              <a:rPr lang="en-US" dirty="0" smtClean="0"/>
              <a:t>Class Demo{</a:t>
            </a:r>
          </a:p>
          <a:p>
            <a:pPr>
              <a:buNone/>
            </a:pPr>
            <a:r>
              <a:rPr lang="en-US" dirty="0" smtClean="0"/>
              <a:t>        </a:t>
            </a:r>
            <a:r>
              <a:rPr lang="en-US" dirty="0" err="1" smtClean="0"/>
              <a:t>P.S.V.main</a:t>
            </a:r>
            <a:r>
              <a:rPr lang="en-US" dirty="0" smtClean="0"/>
              <a:t>(String </a:t>
            </a:r>
            <a:r>
              <a:rPr lang="en-US" dirty="0" err="1" smtClean="0"/>
              <a:t>args</a:t>
            </a:r>
            <a:r>
              <a:rPr lang="en-US" dirty="0" smtClean="0"/>
              <a:t>[]){</a:t>
            </a:r>
          </a:p>
          <a:p>
            <a:pPr>
              <a:buNone/>
            </a:pPr>
            <a:r>
              <a:rPr lang="en-US" dirty="0" smtClean="0"/>
              <a:t>				B </a:t>
            </a:r>
            <a:r>
              <a:rPr lang="en-US" dirty="0" err="1" smtClean="0"/>
              <a:t>b</a:t>
            </a:r>
            <a:r>
              <a:rPr lang="en-US" dirty="0" smtClean="0"/>
              <a:t>=new B();</a:t>
            </a:r>
          </a:p>
          <a:p>
            <a:pPr>
              <a:buNone/>
            </a:pPr>
            <a:r>
              <a:rPr lang="en-US" dirty="0" smtClean="0"/>
              <a:t>				b.dis(); </a:t>
            </a:r>
          </a:p>
          <a:p>
            <a:pPr>
              <a:buNone/>
            </a:pPr>
            <a:r>
              <a:rPr lang="en-US" dirty="0" smtClean="0"/>
              <a:t>}}</a:t>
            </a:r>
          </a:p>
          <a:p>
            <a:pPr>
              <a:buNone/>
            </a:pPr>
            <a:r>
              <a:rPr lang="en-US" dirty="0" smtClean="0"/>
              <a:t>o/p: this is class B</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28600"/>
            <a:ext cx="8229600" cy="6400800"/>
          </a:xfrm>
        </p:spPr>
        <p:txBody>
          <a:bodyPr>
            <a:normAutofit fontScale="70000" lnSpcReduction="20000"/>
          </a:bodyPr>
          <a:lstStyle/>
          <a:p>
            <a:pPr>
              <a:buNone/>
            </a:pPr>
            <a:r>
              <a:rPr lang="en-US" sz="3400" dirty="0" smtClean="0"/>
              <a:t>Class  A{</a:t>
            </a:r>
          </a:p>
          <a:p>
            <a:pPr>
              <a:buNone/>
            </a:pPr>
            <a:r>
              <a:rPr lang="en-US" sz="3400" dirty="0" smtClean="0"/>
              <a:t>        void </a:t>
            </a:r>
            <a:r>
              <a:rPr lang="en-US" sz="3400" dirty="0" err="1" smtClean="0"/>
              <a:t>dis</a:t>
            </a:r>
            <a:r>
              <a:rPr lang="en-US" sz="3400" dirty="0" smtClean="0"/>
              <a:t>(){</a:t>
            </a:r>
          </a:p>
          <a:p>
            <a:pPr>
              <a:buNone/>
            </a:pPr>
            <a:r>
              <a:rPr lang="en-US" sz="3400" dirty="0" smtClean="0"/>
              <a:t>                              </a:t>
            </a:r>
            <a:r>
              <a:rPr lang="en-US" sz="3400" dirty="0" err="1" smtClean="0"/>
              <a:t>System.out.println</a:t>
            </a:r>
            <a:r>
              <a:rPr lang="en-US" sz="3400" dirty="0" smtClean="0"/>
              <a:t>(“this is class A”);</a:t>
            </a:r>
          </a:p>
          <a:p>
            <a:pPr>
              <a:buNone/>
            </a:pPr>
            <a:r>
              <a:rPr lang="en-US" sz="3400" dirty="0" smtClean="0"/>
              <a:t>}}</a:t>
            </a:r>
          </a:p>
          <a:p>
            <a:pPr>
              <a:buNone/>
            </a:pPr>
            <a:r>
              <a:rPr lang="en-US" sz="3400" dirty="0" smtClean="0"/>
              <a:t>Class B{</a:t>
            </a:r>
          </a:p>
          <a:p>
            <a:pPr>
              <a:buNone/>
            </a:pPr>
            <a:r>
              <a:rPr lang="en-US" sz="3400" dirty="0" smtClean="0"/>
              <a:t>        void </a:t>
            </a:r>
            <a:r>
              <a:rPr lang="en-US" sz="3400" dirty="0" err="1" smtClean="0"/>
              <a:t>dis</a:t>
            </a:r>
            <a:r>
              <a:rPr lang="en-US" sz="3400" dirty="0" smtClean="0"/>
              <a:t>(){</a:t>
            </a:r>
          </a:p>
          <a:p>
            <a:pPr>
              <a:buNone/>
            </a:pPr>
            <a:r>
              <a:rPr lang="en-US" sz="3400" dirty="0" smtClean="0"/>
              <a:t>                               </a:t>
            </a:r>
            <a:r>
              <a:rPr lang="en-US" sz="3400" dirty="0" err="1" smtClean="0"/>
              <a:t>System.out.println</a:t>
            </a:r>
            <a:r>
              <a:rPr lang="en-US" sz="3400" dirty="0" smtClean="0"/>
              <a:t>(“this is class B”);</a:t>
            </a:r>
          </a:p>
          <a:p>
            <a:pPr>
              <a:buNone/>
            </a:pPr>
            <a:r>
              <a:rPr lang="en-US" sz="3400" dirty="0" smtClean="0"/>
              <a:t>}}</a:t>
            </a:r>
          </a:p>
          <a:p>
            <a:pPr>
              <a:buNone/>
            </a:pPr>
            <a:r>
              <a:rPr lang="en-US" sz="3400" dirty="0" smtClean="0"/>
              <a:t>Class Demo{</a:t>
            </a:r>
          </a:p>
          <a:p>
            <a:pPr>
              <a:buNone/>
            </a:pPr>
            <a:r>
              <a:rPr lang="en-US" sz="3400" dirty="0" smtClean="0"/>
              <a:t>        </a:t>
            </a:r>
            <a:r>
              <a:rPr lang="en-US" sz="3400" dirty="0" err="1" smtClean="0"/>
              <a:t>P.S.V.main</a:t>
            </a:r>
            <a:r>
              <a:rPr lang="en-US" sz="3400" dirty="0" smtClean="0"/>
              <a:t>(String </a:t>
            </a:r>
            <a:r>
              <a:rPr lang="en-US" sz="3400" dirty="0" err="1" smtClean="0"/>
              <a:t>args</a:t>
            </a:r>
            <a:r>
              <a:rPr lang="en-US" sz="3400" dirty="0" smtClean="0"/>
              <a:t>[]){</a:t>
            </a:r>
          </a:p>
          <a:p>
            <a:pPr>
              <a:buNone/>
            </a:pPr>
            <a:r>
              <a:rPr lang="en-US" sz="3400" dirty="0" smtClean="0"/>
              <a:t>				B </a:t>
            </a:r>
            <a:r>
              <a:rPr lang="en-US" sz="3400" dirty="0" err="1" smtClean="0"/>
              <a:t>b</a:t>
            </a:r>
            <a:r>
              <a:rPr lang="en-US" sz="3400" dirty="0" smtClean="0"/>
              <a:t>=new B();</a:t>
            </a:r>
          </a:p>
          <a:p>
            <a:pPr>
              <a:buNone/>
            </a:pPr>
            <a:r>
              <a:rPr lang="en-US" sz="3400" dirty="0" smtClean="0"/>
              <a:t>				b.dis(); </a:t>
            </a:r>
          </a:p>
          <a:p>
            <a:pPr>
              <a:buNone/>
            </a:pPr>
            <a:r>
              <a:rPr lang="en-US" sz="3400" dirty="0" smtClean="0"/>
              <a:t>				A  </a:t>
            </a:r>
            <a:r>
              <a:rPr lang="en-US" sz="3400" dirty="0" err="1" smtClean="0"/>
              <a:t>a</a:t>
            </a:r>
            <a:r>
              <a:rPr lang="en-US" sz="3400" dirty="0" smtClean="0"/>
              <a:t>=new  A();</a:t>
            </a:r>
          </a:p>
          <a:p>
            <a:pPr>
              <a:buNone/>
            </a:pPr>
            <a:r>
              <a:rPr lang="en-US" sz="3400" dirty="0" smtClean="0"/>
              <a:t>				a.dis();</a:t>
            </a:r>
          </a:p>
          <a:p>
            <a:pPr>
              <a:buNone/>
            </a:pPr>
            <a:r>
              <a:rPr lang="en-US" sz="3400" dirty="0" smtClean="0"/>
              <a:t>}}</a:t>
            </a:r>
          </a:p>
          <a:p>
            <a:pPr>
              <a:buNone/>
            </a:pPr>
            <a:r>
              <a:rPr lang="en-US" sz="3400" dirty="0" smtClean="0"/>
              <a:t>o/p: this is class B</a:t>
            </a:r>
          </a:p>
          <a:p>
            <a:pPr>
              <a:buNone/>
            </a:pPr>
            <a:r>
              <a:rPr lang="en-US" sz="3400" dirty="0" smtClean="0"/>
              <a:t> 	   this is class A</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81000"/>
            <a:ext cx="8229600" cy="5745163"/>
          </a:xfrm>
        </p:spPr>
        <p:txBody>
          <a:bodyPr>
            <a:normAutofit/>
          </a:bodyPr>
          <a:lstStyle/>
          <a:p>
            <a:pPr>
              <a:buNone/>
            </a:pPr>
            <a:r>
              <a:rPr lang="en-US" sz="3300" b="1" dirty="0" smtClean="0">
                <a:solidFill>
                  <a:srgbClr val="00B050"/>
                </a:solidFill>
              </a:rPr>
              <a:t>Usage of Java Method Overriding</a:t>
            </a:r>
          </a:p>
          <a:p>
            <a:r>
              <a:rPr lang="en-US" sz="2600" dirty="0" smtClean="0"/>
              <a:t>Method overriding is used to provide the specific implementation of a method which is already provided by its </a:t>
            </a:r>
            <a:r>
              <a:rPr lang="en-US" sz="2600" dirty="0" err="1" smtClean="0"/>
              <a:t>superclass</a:t>
            </a:r>
            <a:r>
              <a:rPr lang="en-US" sz="2600" dirty="0" smtClean="0"/>
              <a:t>.</a:t>
            </a:r>
          </a:p>
          <a:p>
            <a:r>
              <a:rPr lang="en-US" sz="2600" dirty="0" smtClean="0"/>
              <a:t>Method overriding is used for runtime polymorphism</a:t>
            </a:r>
          </a:p>
          <a:p>
            <a:pPr>
              <a:buNone/>
            </a:pPr>
            <a:r>
              <a:rPr lang="en-US" sz="3300" b="1" dirty="0" smtClean="0">
                <a:solidFill>
                  <a:srgbClr val="00B050"/>
                </a:solidFill>
              </a:rPr>
              <a:t>Rules for Java Method Overriding</a:t>
            </a:r>
          </a:p>
          <a:p>
            <a:r>
              <a:rPr lang="en-US" sz="2600" dirty="0" smtClean="0"/>
              <a:t>The method must have the same name as in the parent class</a:t>
            </a:r>
          </a:p>
          <a:p>
            <a:r>
              <a:rPr lang="en-US" sz="2600" dirty="0" smtClean="0"/>
              <a:t>The method must have the same parameter as in the parent class.</a:t>
            </a:r>
          </a:p>
          <a:p>
            <a:r>
              <a:rPr lang="en-US" sz="2600" dirty="0" smtClean="0"/>
              <a:t>There must be an IS-A relationship (inheritance).</a:t>
            </a:r>
          </a:p>
          <a:p>
            <a:endParaRPr lang="en-US" dirty="0" smtClean="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srcRect/>
          <a:stretch>
            <a:fillRect/>
          </a:stretch>
        </p:blipFill>
        <p:spPr>
          <a:xfrm>
            <a:off x="0" y="0"/>
            <a:ext cx="9144000" cy="6858000"/>
          </a:xfrm>
          <a:ln w="88900" cap="sq" cmpd="thickThin">
            <a:solidFill>
              <a:srgbClr val="000000"/>
            </a:solidFill>
          </a:ln>
          <a:effectLst>
            <a:innerShdw blurRad="76200">
              <a:srgbClr val="000000"/>
            </a:inn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u="sng" dirty="0" smtClean="0">
                <a:solidFill>
                  <a:srgbClr val="00B0F0"/>
                </a:solidFill>
              </a:rPr>
              <a:t>Dynamic Method Dispatch</a:t>
            </a:r>
            <a:endParaRPr lang="en-US" b="1" u="sng" dirty="0">
              <a:solidFill>
                <a:srgbClr val="00B0F0"/>
              </a:solidFill>
            </a:endParaRPr>
          </a:p>
        </p:txBody>
      </p:sp>
      <p:sp>
        <p:nvSpPr>
          <p:cNvPr id="3" name="Content Placeholder 2"/>
          <p:cNvSpPr>
            <a:spLocks noGrp="1"/>
          </p:cNvSpPr>
          <p:nvPr>
            <p:ph idx="1"/>
          </p:nvPr>
        </p:nvSpPr>
        <p:spPr>
          <a:xfrm>
            <a:off x="457200" y="1066800"/>
            <a:ext cx="8229600" cy="5638800"/>
          </a:xfrm>
        </p:spPr>
        <p:txBody>
          <a:bodyPr>
            <a:normAutofit lnSpcReduction="10000"/>
          </a:bodyPr>
          <a:lstStyle/>
          <a:p>
            <a:r>
              <a:rPr lang="en-US" sz="2600" dirty="0" smtClean="0"/>
              <a:t>Dynamic method dispatch is the mechanism by which a call to an overridden method is resolved at run time, rather than compile time. </a:t>
            </a:r>
          </a:p>
          <a:p>
            <a:r>
              <a:rPr lang="en-US" sz="2600" dirty="0" smtClean="0"/>
              <a:t>Binding is the process of linking the function call with the place where function definition is actually written so that when a function call is made, it can be ascertained where the control has to be transferred.</a:t>
            </a:r>
          </a:p>
          <a:p>
            <a:r>
              <a:rPr lang="en-US" sz="2600" dirty="0" smtClean="0"/>
              <a:t>Binding is also called linking, and is of two types: </a:t>
            </a:r>
          </a:p>
          <a:p>
            <a:pPr>
              <a:buFont typeface="Arial" charset="0"/>
              <a:buNone/>
            </a:pPr>
            <a:r>
              <a:rPr lang="en-US" sz="2600" dirty="0" smtClean="0"/>
              <a:t>	1. Static binding </a:t>
            </a:r>
          </a:p>
          <a:p>
            <a:pPr>
              <a:buFont typeface="Arial" charset="0"/>
              <a:buNone/>
            </a:pPr>
            <a:r>
              <a:rPr lang="en-US" sz="2600" dirty="0" smtClean="0"/>
              <a:t>	2. Dynamic binding. </a:t>
            </a:r>
          </a:p>
          <a:p>
            <a:pPr>
              <a:buNone/>
            </a:pPr>
            <a:r>
              <a:rPr lang="en-GB" sz="2600" dirty="0" smtClean="0">
                <a:solidFill>
                  <a:srgbClr val="00B050"/>
                </a:solidFill>
              </a:rPr>
              <a:t>1)Static binding </a:t>
            </a:r>
            <a:r>
              <a:rPr lang="en-GB" sz="2600" dirty="0" smtClean="0"/>
              <a:t>:</a:t>
            </a:r>
            <a:r>
              <a:rPr lang="en-US" sz="2600" dirty="0" smtClean="0"/>
              <a:t>When at compile time, it is known which function will be called in response to a function call, the binding is said to be static binding, compile time binding or early binding</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533400"/>
            <a:ext cx="8229600" cy="6324600"/>
          </a:xfrm>
        </p:spPr>
        <p:txBody>
          <a:bodyPr>
            <a:normAutofit/>
          </a:bodyPr>
          <a:lstStyle/>
          <a:p>
            <a:pPr algn="just">
              <a:buNone/>
            </a:pPr>
            <a:r>
              <a:rPr lang="en-GB" sz="2400" dirty="0" smtClean="0">
                <a:solidFill>
                  <a:srgbClr val="00B050"/>
                </a:solidFill>
              </a:rPr>
              <a:t>2)Dynamic Binding:</a:t>
            </a:r>
            <a:r>
              <a:rPr lang="en-US" sz="2400" dirty="0" smtClean="0"/>
              <a:t>At run time, the decision is taken as to which function is to be called in response to a function call. This type of binding is known as late binding, runtime binding or dynamic binding. </a:t>
            </a:r>
          </a:p>
          <a:p>
            <a:pPr algn="just"/>
            <a:r>
              <a:rPr lang="en-US" sz="2400" dirty="0" smtClean="0"/>
              <a:t>When an overridden method is called through a </a:t>
            </a:r>
            <a:r>
              <a:rPr lang="en-US" sz="2400" dirty="0" err="1" smtClean="0"/>
              <a:t>superclass</a:t>
            </a:r>
            <a:r>
              <a:rPr lang="en-US" sz="2400" dirty="0" smtClean="0"/>
              <a:t> </a:t>
            </a:r>
            <a:r>
              <a:rPr lang="en-US" sz="2400" dirty="0" err="1" smtClean="0"/>
              <a:t>reference,Java</a:t>
            </a:r>
            <a:r>
              <a:rPr lang="en-US" sz="2400" dirty="0" smtClean="0"/>
              <a:t> determines which version(</a:t>
            </a:r>
            <a:r>
              <a:rPr lang="en-US" sz="2400" dirty="0" err="1" smtClean="0"/>
              <a:t>superclass</a:t>
            </a:r>
            <a:r>
              <a:rPr lang="en-US" sz="2400" dirty="0" smtClean="0"/>
              <a:t>/subclasses) of that method is to be executed based upon the type of the object being referred to at the time the call occurs. Thus, this determination is made at run time. </a:t>
            </a:r>
          </a:p>
          <a:p>
            <a:pPr algn="just"/>
            <a:r>
              <a:rPr lang="en-US" sz="2400" dirty="0" smtClean="0"/>
              <a:t>At run-time, it depends on the type of the object being referred to (not the type of the reference variable) that determines which version of an overridden method will be executed</a:t>
            </a:r>
          </a:p>
          <a:p>
            <a:endParaRPr lang="en-US" sz="2800" dirty="0" smtClean="0"/>
          </a:p>
          <a:p>
            <a:endParaRPr lang="en-US" sz="2600" dirty="0" smtClean="0"/>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457200"/>
            <a:ext cx="8229600" cy="5668963"/>
          </a:xfrm>
        </p:spPr>
        <p:txBody>
          <a:bodyPr>
            <a:normAutofit/>
          </a:bodyPr>
          <a:lstStyle/>
          <a:p>
            <a:r>
              <a:rPr lang="en-US" sz="2400" dirty="0" smtClean="0"/>
              <a:t>A </a:t>
            </a:r>
            <a:r>
              <a:rPr lang="en-US" sz="2400" dirty="0" err="1" smtClean="0"/>
              <a:t>superclass</a:t>
            </a:r>
            <a:r>
              <a:rPr lang="en-US" sz="2400" dirty="0" smtClean="0"/>
              <a:t> reference variable can refer to a subclass object. This is also known as </a:t>
            </a:r>
            <a:r>
              <a:rPr lang="en-US" sz="2400" dirty="0" err="1" smtClean="0"/>
              <a:t>upcasting</a:t>
            </a:r>
            <a:r>
              <a:rPr lang="en-US" sz="2400" dirty="0" smtClean="0"/>
              <a:t>. Java uses this fact to resolve calls to overridden methods at run time.</a:t>
            </a:r>
          </a:p>
          <a:p>
            <a:endParaRPr lang="en-US" sz="2400" dirty="0"/>
          </a:p>
        </p:txBody>
      </p:sp>
      <p:pic>
        <p:nvPicPr>
          <p:cNvPr id="4" name="Content Placeholder 3" descr="Capture.PNG"/>
          <p:cNvPicPr>
            <a:picLocks noChangeAspect="1"/>
          </p:cNvPicPr>
          <p:nvPr/>
        </p:nvPicPr>
        <p:blipFill>
          <a:blip r:embed="rId2"/>
          <a:stretch>
            <a:fillRect/>
          </a:stretch>
        </p:blipFill>
        <p:spPr>
          <a:xfrm>
            <a:off x="3023971" y="2361774"/>
            <a:ext cx="3096057" cy="304842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a:xfrm>
            <a:off x="457200" y="228600"/>
            <a:ext cx="8229600" cy="6248400"/>
          </a:xfrm>
        </p:spPr>
        <p:txBody>
          <a:bodyPr>
            <a:normAutofit fontScale="55000" lnSpcReduction="20000"/>
          </a:bodyPr>
          <a:lstStyle/>
          <a:p>
            <a:pPr>
              <a:buNone/>
            </a:pPr>
            <a:r>
              <a:rPr lang="en-US" sz="4200" dirty="0" smtClean="0"/>
              <a:t>class A { </a:t>
            </a:r>
          </a:p>
          <a:p>
            <a:pPr>
              <a:buNone/>
            </a:pPr>
            <a:r>
              <a:rPr lang="en-US" sz="4200" dirty="0" smtClean="0"/>
              <a:t>	void  </a:t>
            </a:r>
            <a:r>
              <a:rPr lang="en-US" sz="4200" dirty="0" err="1" smtClean="0"/>
              <a:t>dis</a:t>
            </a:r>
            <a:r>
              <a:rPr lang="en-US" sz="4200" dirty="0" smtClean="0"/>
              <a:t>() { </a:t>
            </a:r>
          </a:p>
          <a:p>
            <a:pPr>
              <a:buNone/>
            </a:pPr>
            <a:r>
              <a:rPr lang="en-US" sz="4200" dirty="0" smtClean="0"/>
              <a:t>		</a:t>
            </a:r>
            <a:r>
              <a:rPr lang="en-US" sz="4200" dirty="0" err="1" smtClean="0"/>
              <a:t>System.out.println</a:t>
            </a:r>
            <a:r>
              <a:rPr lang="en-US" sz="4200" dirty="0" smtClean="0"/>
              <a:t>("Inside A's method"); </a:t>
            </a:r>
          </a:p>
          <a:p>
            <a:pPr>
              <a:buNone/>
            </a:pPr>
            <a:r>
              <a:rPr lang="en-US" sz="4200" dirty="0" smtClean="0"/>
              <a:t>	} </a:t>
            </a:r>
          </a:p>
          <a:p>
            <a:pPr>
              <a:buNone/>
            </a:pPr>
            <a:r>
              <a:rPr lang="en-US" sz="4200" dirty="0" smtClean="0"/>
              <a:t>} </a:t>
            </a:r>
          </a:p>
          <a:p>
            <a:pPr>
              <a:buNone/>
            </a:pPr>
            <a:r>
              <a:rPr lang="en-US" sz="4200" dirty="0" smtClean="0"/>
              <a:t>class B extends A { </a:t>
            </a:r>
          </a:p>
          <a:p>
            <a:pPr>
              <a:buNone/>
            </a:pPr>
            <a:r>
              <a:rPr lang="en-US" sz="4200" dirty="0" smtClean="0"/>
              <a:t>	void   </a:t>
            </a:r>
            <a:r>
              <a:rPr lang="en-US" sz="4200" dirty="0" err="1" smtClean="0"/>
              <a:t>dis</a:t>
            </a:r>
            <a:r>
              <a:rPr lang="en-US" sz="4200" dirty="0" smtClean="0"/>
              <a:t>() { </a:t>
            </a:r>
          </a:p>
          <a:p>
            <a:pPr>
              <a:buNone/>
            </a:pPr>
            <a:r>
              <a:rPr lang="en-US" sz="4200" dirty="0" smtClean="0"/>
              <a:t>		</a:t>
            </a:r>
            <a:r>
              <a:rPr lang="en-US" sz="4200" dirty="0" err="1" smtClean="0"/>
              <a:t>System.out.println</a:t>
            </a:r>
            <a:r>
              <a:rPr lang="en-US" sz="4200" dirty="0" smtClean="0"/>
              <a:t>("Inside B's method"); </a:t>
            </a:r>
          </a:p>
          <a:p>
            <a:pPr>
              <a:buNone/>
            </a:pPr>
            <a:r>
              <a:rPr lang="en-US" sz="4200" dirty="0" smtClean="0"/>
              <a:t>	} </a:t>
            </a:r>
          </a:p>
          <a:p>
            <a:pPr>
              <a:buNone/>
            </a:pPr>
            <a:r>
              <a:rPr lang="en-US" sz="4200" dirty="0" smtClean="0"/>
              <a:t>} </a:t>
            </a:r>
          </a:p>
          <a:p>
            <a:pPr>
              <a:buNone/>
            </a:pPr>
            <a:r>
              <a:rPr lang="en-US" sz="4200" dirty="0" smtClean="0"/>
              <a:t>class C extends A </a:t>
            </a:r>
          </a:p>
          <a:p>
            <a:pPr>
              <a:buNone/>
            </a:pPr>
            <a:r>
              <a:rPr lang="en-US" sz="4200" dirty="0" smtClean="0"/>
              <a:t>{ </a:t>
            </a:r>
          </a:p>
          <a:p>
            <a:pPr>
              <a:buNone/>
            </a:pPr>
            <a:r>
              <a:rPr lang="en-US" sz="4200" dirty="0" smtClean="0"/>
              <a:t>	void   </a:t>
            </a:r>
            <a:r>
              <a:rPr lang="en-US" sz="4200" dirty="0" err="1" smtClean="0"/>
              <a:t>dis</a:t>
            </a:r>
            <a:r>
              <a:rPr lang="en-US" sz="4200" dirty="0" smtClean="0"/>
              <a:t>() { </a:t>
            </a:r>
          </a:p>
          <a:p>
            <a:pPr>
              <a:buNone/>
            </a:pPr>
            <a:r>
              <a:rPr lang="en-US" sz="4200" dirty="0" smtClean="0"/>
              <a:t>		</a:t>
            </a:r>
            <a:r>
              <a:rPr lang="en-US" sz="4200" dirty="0" err="1" smtClean="0"/>
              <a:t>System.out.println</a:t>
            </a:r>
            <a:r>
              <a:rPr lang="en-US" sz="4200" dirty="0" smtClean="0"/>
              <a:t>("Inside C's method"); </a:t>
            </a:r>
          </a:p>
          <a:p>
            <a:pPr>
              <a:buNone/>
            </a:pPr>
            <a:r>
              <a:rPr lang="en-US" sz="4200" dirty="0" smtClean="0"/>
              <a:t>	} </a:t>
            </a:r>
          </a:p>
          <a:p>
            <a:pPr>
              <a:buNone/>
            </a:pPr>
            <a:r>
              <a:rPr lang="en-US" sz="4200" dirty="0" smtClean="0"/>
              <a:t>} </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6248400"/>
          </a:xfrm>
        </p:spPr>
        <p:txBody>
          <a:bodyPr>
            <a:normAutofit fontScale="77500" lnSpcReduction="20000"/>
          </a:bodyPr>
          <a:lstStyle/>
          <a:p>
            <a:pPr>
              <a:buNone/>
            </a:pPr>
            <a:r>
              <a:rPr lang="en-US" dirty="0" smtClean="0"/>
              <a:t>class Dispatch { </a:t>
            </a:r>
          </a:p>
          <a:p>
            <a:pPr>
              <a:buNone/>
            </a:pPr>
            <a:r>
              <a:rPr lang="en-US" dirty="0" smtClean="0"/>
              <a:t>	public static void main(String </a:t>
            </a:r>
            <a:r>
              <a:rPr lang="en-US" dirty="0" err="1" smtClean="0"/>
              <a:t>args</a:t>
            </a:r>
            <a:r>
              <a:rPr lang="en-US" dirty="0" smtClean="0"/>
              <a:t>[]) { </a:t>
            </a:r>
          </a:p>
          <a:p>
            <a:pPr>
              <a:buNone/>
            </a:pPr>
            <a:r>
              <a:rPr lang="en-US" dirty="0" smtClean="0"/>
              <a:t>		      A </a:t>
            </a:r>
            <a:r>
              <a:rPr lang="en-US" dirty="0" err="1" smtClean="0"/>
              <a:t>a</a:t>
            </a:r>
            <a:r>
              <a:rPr lang="en-US" dirty="0" smtClean="0"/>
              <a:t> = new A(); // object of type A </a:t>
            </a:r>
          </a:p>
          <a:p>
            <a:pPr>
              <a:buNone/>
            </a:pPr>
            <a:r>
              <a:rPr lang="en-US" dirty="0" smtClean="0"/>
              <a:t>                        B </a:t>
            </a:r>
            <a:r>
              <a:rPr lang="en-US" dirty="0" err="1" smtClean="0"/>
              <a:t>b</a:t>
            </a:r>
            <a:r>
              <a:rPr lang="en-US" dirty="0" smtClean="0"/>
              <a:t> = new B(); // object of type B </a:t>
            </a:r>
          </a:p>
          <a:p>
            <a:pPr>
              <a:buNone/>
            </a:pPr>
            <a:r>
              <a:rPr lang="en-US" dirty="0" smtClean="0"/>
              <a:t>		      C </a:t>
            </a:r>
            <a:r>
              <a:rPr lang="en-US" dirty="0" err="1" smtClean="0"/>
              <a:t>c</a:t>
            </a:r>
            <a:r>
              <a:rPr lang="en-US" dirty="0" smtClean="0"/>
              <a:t> = new C(); // object of type C </a:t>
            </a:r>
          </a:p>
          <a:p>
            <a:pPr>
              <a:buNone/>
            </a:pPr>
            <a:r>
              <a:rPr lang="en-US" dirty="0" smtClean="0"/>
              <a:t>  A   </a:t>
            </a:r>
            <a:r>
              <a:rPr lang="en-US" dirty="0" err="1" smtClean="0"/>
              <a:t>ref_var</a:t>
            </a:r>
            <a:r>
              <a:rPr lang="en-US" dirty="0" smtClean="0"/>
              <a:t>; // obtain a reference of type A </a:t>
            </a:r>
          </a:p>
          <a:p>
            <a:pPr>
              <a:buNone/>
            </a:pPr>
            <a:r>
              <a:rPr lang="en-US" dirty="0" err="1" smtClean="0"/>
              <a:t>ref_var</a:t>
            </a:r>
            <a:r>
              <a:rPr lang="en-US" dirty="0" smtClean="0"/>
              <a:t> = a; // ref refers to an A object </a:t>
            </a:r>
          </a:p>
          <a:p>
            <a:pPr>
              <a:buNone/>
            </a:pPr>
            <a:r>
              <a:rPr lang="en-US" dirty="0" smtClean="0"/>
              <a:t> ref_var.dis(); // calling A's </a:t>
            </a:r>
            <a:r>
              <a:rPr lang="en-US" dirty="0" err="1" smtClean="0"/>
              <a:t>dis</a:t>
            </a:r>
            <a:r>
              <a:rPr lang="en-US" dirty="0" smtClean="0"/>
              <a:t>() </a:t>
            </a:r>
          </a:p>
          <a:p>
            <a:pPr>
              <a:buNone/>
            </a:pPr>
            <a:r>
              <a:rPr lang="en-US" dirty="0" smtClean="0"/>
              <a:t>		 </a:t>
            </a:r>
            <a:r>
              <a:rPr lang="en-US" dirty="0" err="1" smtClean="0"/>
              <a:t>ref_var</a:t>
            </a:r>
            <a:r>
              <a:rPr lang="en-US" dirty="0" smtClean="0"/>
              <a:t> = b; // now ref refers to a B object </a:t>
            </a:r>
          </a:p>
          <a:p>
            <a:pPr>
              <a:buNone/>
            </a:pPr>
            <a:r>
              <a:rPr lang="en-US" dirty="0" smtClean="0"/>
              <a:t>               ref_var.dis(); // calling B's </a:t>
            </a:r>
            <a:r>
              <a:rPr lang="en-US" dirty="0" err="1" smtClean="0"/>
              <a:t>dis</a:t>
            </a:r>
            <a:r>
              <a:rPr lang="en-US" dirty="0" smtClean="0"/>
              <a:t>() </a:t>
            </a:r>
          </a:p>
          <a:p>
            <a:pPr>
              <a:buNone/>
            </a:pPr>
            <a:r>
              <a:rPr lang="en-US" dirty="0" smtClean="0"/>
              <a:t> </a:t>
            </a:r>
            <a:r>
              <a:rPr lang="en-US" dirty="0" err="1" smtClean="0"/>
              <a:t>ref_var</a:t>
            </a:r>
            <a:r>
              <a:rPr lang="en-US" dirty="0" smtClean="0"/>
              <a:t> = c; // now ref refers to a C object                      ref_var.dis(); // calling C's </a:t>
            </a:r>
            <a:r>
              <a:rPr lang="en-US" dirty="0" err="1" smtClean="0"/>
              <a:t>dis</a:t>
            </a:r>
            <a:r>
              <a:rPr lang="en-US" dirty="0" smtClean="0"/>
              <a:t>() </a:t>
            </a:r>
          </a:p>
          <a:p>
            <a:pPr>
              <a:buNone/>
            </a:pPr>
            <a:r>
              <a:rPr lang="en-US" dirty="0" smtClean="0"/>
              <a:t>	} }</a:t>
            </a:r>
          </a:p>
          <a:p>
            <a:pPr>
              <a:buNone/>
            </a:pPr>
            <a:r>
              <a:rPr lang="en-US" dirty="0" smtClean="0"/>
              <a:t>o/p:  Inside A's method </a:t>
            </a:r>
          </a:p>
          <a:p>
            <a:pPr>
              <a:buNone/>
            </a:pPr>
            <a:r>
              <a:rPr lang="en-US" dirty="0" smtClean="0"/>
              <a:t>          Inside B's  method </a:t>
            </a:r>
          </a:p>
          <a:p>
            <a:pPr>
              <a:buNone/>
            </a:pPr>
            <a:r>
              <a:rPr lang="en-US" dirty="0" smtClean="0"/>
              <a:t>          Inside C's  method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000" dirty="0" smtClean="0"/>
              <a:t>In Java, we can override methods only, not the variables(data members), so </a:t>
            </a:r>
            <a:r>
              <a:rPr lang="en-US" sz="2000" b="1" dirty="0" smtClean="0"/>
              <a:t>runtime polymorphism cannot be achieved by data members.</a:t>
            </a:r>
            <a:r>
              <a:rPr lang="en-US" sz="2000" dirty="0" smtClean="0"/>
              <a:t> For example :</a:t>
            </a:r>
            <a:endParaRPr lang="en-US" sz="2000" dirty="0"/>
          </a:p>
        </p:txBody>
      </p:sp>
      <p:sp>
        <p:nvSpPr>
          <p:cNvPr id="3" name="Content Placeholder 2"/>
          <p:cNvSpPr>
            <a:spLocks noGrp="1"/>
          </p:cNvSpPr>
          <p:nvPr>
            <p:ph idx="1"/>
          </p:nvPr>
        </p:nvSpPr>
        <p:spPr>
          <a:xfrm>
            <a:off x="457200" y="914400"/>
            <a:ext cx="8229600" cy="5715000"/>
          </a:xfrm>
        </p:spPr>
        <p:txBody>
          <a:bodyPr>
            <a:normAutofit fontScale="55000" lnSpcReduction="20000"/>
          </a:bodyPr>
          <a:lstStyle/>
          <a:p>
            <a:pPr>
              <a:buNone/>
            </a:pPr>
            <a:r>
              <a:rPr lang="en-US" dirty="0" smtClean="0"/>
              <a:t>class A { </a:t>
            </a:r>
          </a:p>
          <a:p>
            <a:pPr>
              <a:buNone/>
            </a:pPr>
            <a:r>
              <a:rPr lang="en-US" dirty="0" smtClean="0"/>
              <a:t>	</a:t>
            </a:r>
            <a:r>
              <a:rPr lang="en-US" dirty="0" err="1" smtClean="0"/>
              <a:t>int</a:t>
            </a:r>
            <a:r>
              <a:rPr lang="en-US" dirty="0" smtClean="0"/>
              <a:t> x = 10; </a:t>
            </a:r>
          </a:p>
          <a:p>
            <a:pPr>
              <a:buNone/>
            </a:pPr>
            <a:r>
              <a:rPr lang="en-US" dirty="0" smtClean="0"/>
              <a:t>} </a:t>
            </a:r>
          </a:p>
          <a:p>
            <a:pPr>
              <a:buNone/>
            </a:pPr>
            <a:r>
              <a:rPr lang="en-US" dirty="0" smtClean="0"/>
              <a:t>class B extends A { </a:t>
            </a:r>
          </a:p>
          <a:p>
            <a:pPr>
              <a:buNone/>
            </a:pPr>
            <a:r>
              <a:rPr lang="en-US" dirty="0" smtClean="0"/>
              <a:t>	</a:t>
            </a:r>
            <a:r>
              <a:rPr lang="en-US" dirty="0" err="1" smtClean="0"/>
              <a:t>int</a:t>
            </a:r>
            <a:r>
              <a:rPr lang="en-US" dirty="0" smtClean="0"/>
              <a:t> x = 20; </a:t>
            </a:r>
          </a:p>
          <a:p>
            <a:pPr>
              <a:buNone/>
            </a:pPr>
            <a:r>
              <a:rPr lang="en-US" dirty="0" smtClean="0"/>
              <a:t>} </a:t>
            </a:r>
          </a:p>
          <a:p>
            <a:pPr>
              <a:buNone/>
            </a:pPr>
            <a:r>
              <a:rPr lang="en-US" dirty="0" smtClean="0"/>
              <a:t> class  Demo { </a:t>
            </a:r>
          </a:p>
          <a:p>
            <a:pPr>
              <a:buNone/>
            </a:pPr>
            <a:r>
              <a:rPr lang="en-US" dirty="0" smtClean="0"/>
              <a:t>	public static void main(String </a:t>
            </a:r>
            <a:r>
              <a:rPr lang="en-US" dirty="0" err="1" smtClean="0"/>
              <a:t>args</a:t>
            </a:r>
            <a:r>
              <a:rPr lang="en-US" dirty="0" smtClean="0"/>
              <a:t>[]) {</a:t>
            </a:r>
          </a:p>
          <a:p>
            <a:pPr>
              <a:buNone/>
            </a:pPr>
            <a:r>
              <a:rPr lang="en-US" dirty="0" smtClean="0"/>
              <a:t>			 B </a:t>
            </a:r>
            <a:r>
              <a:rPr lang="en-US" dirty="0" err="1" smtClean="0"/>
              <a:t>b</a:t>
            </a:r>
            <a:r>
              <a:rPr lang="en-US" dirty="0" smtClean="0"/>
              <a:t>=new B();</a:t>
            </a:r>
          </a:p>
          <a:p>
            <a:pPr>
              <a:buNone/>
            </a:pPr>
            <a:r>
              <a:rPr lang="en-US" dirty="0" smtClean="0"/>
              <a:t>		                          A </a:t>
            </a:r>
            <a:r>
              <a:rPr lang="en-US" dirty="0" err="1" smtClean="0"/>
              <a:t>a</a:t>
            </a:r>
            <a:r>
              <a:rPr lang="en-US" dirty="0" smtClean="0"/>
              <a:t> = new A(); </a:t>
            </a:r>
          </a:p>
          <a:p>
            <a:pPr>
              <a:buNone/>
            </a:pPr>
            <a:r>
              <a:rPr lang="en-US" dirty="0" smtClean="0"/>
              <a:t>                                                  A    ref;</a:t>
            </a:r>
          </a:p>
          <a:p>
            <a:pPr>
              <a:buNone/>
            </a:pPr>
            <a:r>
              <a:rPr lang="en-US" dirty="0" smtClean="0"/>
              <a:t>    			 ref=a;</a:t>
            </a:r>
          </a:p>
          <a:p>
            <a:pPr>
              <a:buNone/>
            </a:pPr>
            <a:r>
              <a:rPr lang="en-US" dirty="0" smtClean="0"/>
              <a:t>    		                      </a:t>
            </a:r>
            <a:r>
              <a:rPr lang="en-US" dirty="0" err="1" smtClean="0"/>
              <a:t>System.out.println</a:t>
            </a:r>
            <a:r>
              <a:rPr lang="en-US" dirty="0" smtClean="0"/>
              <a:t>(</a:t>
            </a:r>
            <a:r>
              <a:rPr lang="en-US" dirty="0" err="1" smtClean="0"/>
              <a:t>ref.x</a:t>
            </a:r>
            <a:r>
              <a:rPr lang="en-US" dirty="0" smtClean="0"/>
              <a:t>); </a:t>
            </a:r>
          </a:p>
          <a:p>
            <a:pPr>
              <a:buNone/>
            </a:pPr>
            <a:r>
              <a:rPr lang="en-US" dirty="0" smtClean="0"/>
              <a:t>     			 ref=b;</a:t>
            </a:r>
          </a:p>
          <a:p>
            <a:pPr>
              <a:buNone/>
            </a:pPr>
            <a:r>
              <a:rPr lang="en-US" dirty="0" smtClean="0"/>
              <a:t>     			</a:t>
            </a:r>
            <a:r>
              <a:rPr lang="en-US" dirty="0" err="1" smtClean="0"/>
              <a:t>System.out.println</a:t>
            </a:r>
            <a:r>
              <a:rPr lang="en-US" dirty="0" smtClean="0"/>
              <a:t>(</a:t>
            </a:r>
            <a:r>
              <a:rPr lang="en-US" dirty="0" err="1" smtClean="0"/>
              <a:t>ref.x</a:t>
            </a:r>
            <a:r>
              <a:rPr lang="en-US" dirty="0" smtClean="0"/>
              <a:t>);</a:t>
            </a:r>
          </a:p>
          <a:p>
            <a:pPr>
              <a:buNone/>
            </a:pPr>
            <a:r>
              <a:rPr lang="en-US" dirty="0" smtClean="0"/>
              <a:t>	} </a:t>
            </a:r>
          </a:p>
          <a:p>
            <a:pPr>
              <a:buNone/>
            </a:pPr>
            <a:r>
              <a:rPr lang="en-US" dirty="0" smtClean="0"/>
              <a:t>}</a:t>
            </a:r>
          </a:p>
          <a:p>
            <a:pPr>
              <a:buNone/>
            </a:pPr>
            <a:r>
              <a:rPr lang="en-US" dirty="0" smtClean="0"/>
              <a:t>O/p:10</a:t>
            </a:r>
          </a:p>
          <a:p>
            <a:pPr>
              <a:buNone/>
            </a:pPr>
            <a:r>
              <a:rPr lang="en-US" dirty="0" smtClean="0"/>
              <a:t>	  10</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81000"/>
            <a:ext cx="8229600" cy="6096000"/>
          </a:xfrm>
        </p:spPr>
        <p:txBody>
          <a:bodyPr>
            <a:normAutofit fontScale="77500" lnSpcReduction="20000"/>
          </a:bodyPr>
          <a:lstStyle/>
          <a:p>
            <a:pPr>
              <a:buNone/>
            </a:pPr>
            <a:r>
              <a:rPr lang="en-US" dirty="0" smtClean="0"/>
              <a:t>class  A{  </a:t>
            </a:r>
          </a:p>
          <a:p>
            <a:pPr>
              <a:buNone/>
            </a:pPr>
            <a:r>
              <a:rPr lang="en-US" dirty="0" smtClean="0"/>
              <a:t>  void </a:t>
            </a:r>
            <a:r>
              <a:rPr lang="en-US" dirty="0" err="1" smtClean="0"/>
              <a:t>dis</a:t>
            </a:r>
            <a:r>
              <a:rPr lang="en-US" dirty="0" smtClean="0"/>
              <a:t>(){</a:t>
            </a:r>
            <a:r>
              <a:rPr lang="en-US" dirty="0" err="1" smtClean="0"/>
              <a:t>System.out.println</a:t>
            </a:r>
            <a:r>
              <a:rPr lang="en-US" dirty="0" smtClean="0"/>
              <a:t>(“class A");}  </a:t>
            </a:r>
          </a:p>
          <a:p>
            <a:pPr>
              <a:buNone/>
            </a:pPr>
            <a:r>
              <a:rPr lang="en-US" dirty="0" smtClean="0"/>
              <a:t>}  </a:t>
            </a:r>
          </a:p>
          <a:p>
            <a:pPr>
              <a:buNone/>
            </a:pPr>
            <a:r>
              <a:rPr lang="en-US" dirty="0" smtClean="0"/>
              <a:t>class B extends A{  </a:t>
            </a:r>
          </a:p>
          <a:p>
            <a:pPr>
              <a:buNone/>
            </a:pPr>
            <a:r>
              <a:rPr lang="en-US" dirty="0" smtClean="0"/>
              <a:t>  void </a:t>
            </a:r>
            <a:r>
              <a:rPr lang="en-US" dirty="0" err="1" smtClean="0"/>
              <a:t>dis</a:t>
            </a:r>
            <a:r>
              <a:rPr lang="en-US" dirty="0" smtClean="0"/>
              <a:t>(){</a:t>
            </a:r>
            <a:r>
              <a:rPr lang="en-US" dirty="0" err="1" smtClean="0"/>
              <a:t>System.out.println</a:t>
            </a:r>
            <a:r>
              <a:rPr lang="en-US" dirty="0" smtClean="0"/>
              <a:t>(“class B");} </a:t>
            </a:r>
          </a:p>
          <a:p>
            <a:pPr>
              <a:buNone/>
            </a:pPr>
            <a:r>
              <a:rPr lang="en-US" dirty="0" smtClean="0"/>
              <a:t>  </a:t>
            </a:r>
          </a:p>
          <a:p>
            <a:pPr>
              <a:buNone/>
            </a:pPr>
            <a:r>
              <a:rPr lang="en-US" dirty="0" smtClean="0"/>
              <a:t>  public static void main(String </a:t>
            </a:r>
            <a:r>
              <a:rPr lang="en-US" dirty="0" err="1" smtClean="0"/>
              <a:t>args</a:t>
            </a:r>
            <a:r>
              <a:rPr lang="en-US" dirty="0" smtClean="0"/>
              <a:t>[]){  </a:t>
            </a:r>
          </a:p>
          <a:p>
            <a:pPr>
              <a:buNone/>
            </a:pPr>
            <a:r>
              <a:rPr lang="en-US" dirty="0" smtClean="0"/>
              <a:t>    A </a:t>
            </a:r>
            <a:r>
              <a:rPr lang="en-US" dirty="0" err="1" smtClean="0"/>
              <a:t>a</a:t>
            </a:r>
            <a:r>
              <a:rPr lang="en-US" dirty="0" smtClean="0"/>
              <a:t> = new B();//</a:t>
            </a:r>
            <a:r>
              <a:rPr lang="en-US" dirty="0" err="1" smtClean="0"/>
              <a:t>upcasting</a:t>
            </a:r>
            <a:r>
              <a:rPr lang="en-US" dirty="0" smtClean="0"/>
              <a:t>  </a:t>
            </a:r>
          </a:p>
          <a:p>
            <a:pPr>
              <a:buNone/>
            </a:pPr>
            <a:r>
              <a:rPr lang="en-US" dirty="0" smtClean="0"/>
              <a:t>    a.dis();  </a:t>
            </a:r>
          </a:p>
          <a:p>
            <a:pPr>
              <a:buNone/>
            </a:pPr>
            <a:r>
              <a:rPr lang="en-US" dirty="0" smtClean="0"/>
              <a:t>A a1=new A();</a:t>
            </a:r>
          </a:p>
          <a:p>
            <a:pPr>
              <a:buNone/>
            </a:pPr>
            <a:r>
              <a:rPr lang="en-US" dirty="0" smtClean="0"/>
              <a:t>a1.dis();</a:t>
            </a:r>
          </a:p>
          <a:p>
            <a:pPr>
              <a:buNone/>
            </a:pPr>
            <a:r>
              <a:rPr lang="en-US" dirty="0" smtClean="0"/>
              <a:t>  }  </a:t>
            </a:r>
          </a:p>
          <a:p>
            <a:pPr>
              <a:buNone/>
            </a:pPr>
            <a:r>
              <a:rPr lang="en-US" dirty="0" smtClean="0"/>
              <a:t>}  </a:t>
            </a:r>
          </a:p>
          <a:p>
            <a:pPr>
              <a:buNone/>
            </a:pPr>
            <a:r>
              <a:rPr lang="en-US" dirty="0" smtClean="0"/>
              <a:t>o/p:class B</a:t>
            </a:r>
          </a:p>
          <a:p>
            <a:pPr>
              <a:buNone/>
            </a:pPr>
            <a:r>
              <a:rPr lang="en-US" dirty="0" smtClean="0"/>
              <a:t>	class A</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dirty="0" smtClean="0"/>
              <a:t>Final Keyword for class</a:t>
            </a:r>
            <a:endParaRPr lang="en-US" dirty="0"/>
          </a:p>
        </p:txBody>
      </p:sp>
      <p:sp>
        <p:nvSpPr>
          <p:cNvPr id="3" name="Content Placeholder 2"/>
          <p:cNvSpPr>
            <a:spLocks noGrp="1"/>
          </p:cNvSpPr>
          <p:nvPr>
            <p:ph idx="1"/>
          </p:nvPr>
        </p:nvSpPr>
        <p:spPr>
          <a:xfrm>
            <a:off x="457200" y="838200"/>
            <a:ext cx="8229600" cy="5287963"/>
          </a:xfrm>
        </p:spPr>
        <p:txBody>
          <a:bodyPr>
            <a:normAutofit/>
          </a:bodyPr>
          <a:lstStyle/>
          <a:p>
            <a:pPr>
              <a:buNone/>
            </a:pPr>
            <a:r>
              <a:rPr lang="en-US" dirty="0" smtClean="0"/>
              <a:t>final class Main{     }</a:t>
            </a:r>
          </a:p>
          <a:p>
            <a:pPr>
              <a:buNone/>
            </a:pPr>
            <a:r>
              <a:rPr lang="en-US" dirty="0" smtClean="0"/>
              <a:t>class Demo extends Main{  </a:t>
            </a:r>
          </a:p>
          <a:p>
            <a:pPr>
              <a:buNone/>
            </a:pPr>
            <a:r>
              <a:rPr lang="en-US" dirty="0" smtClean="0"/>
              <a:t>void demo ()  {   </a:t>
            </a:r>
          </a:p>
          <a:p>
            <a:pPr>
              <a:buNone/>
            </a:pPr>
            <a:r>
              <a:rPr lang="en-US" dirty="0" smtClean="0"/>
              <a:t> </a:t>
            </a:r>
            <a:r>
              <a:rPr lang="en-US" dirty="0" err="1" smtClean="0"/>
              <a:t>System.out.println</a:t>
            </a:r>
            <a:r>
              <a:rPr lang="en-US" dirty="0" smtClean="0"/>
              <a:t> ("My Method");</a:t>
            </a:r>
          </a:p>
          <a:p>
            <a:pPr>
              <a:buNone/>
            </a:pPr>
            <a:r>
              <a:rPr lang="en-US" dirty="0" smtClean="0"/>
              <a:t>  }  </a:t>
            </a:r>
          </a:p>
          <a:p>
            <a:pPr>
              <a:buNone/>
            </a:pPr>
            <a:r>
              <a:rPr lang="en-US" dirty="0" smtClean="0"/>
              <a:t>public static void main (String </a:t>
            </a:r>
            <a:r>
              <a:rPr lang="en-US" dirty="0" err="1" smtClean="0"/>
              <a:t>args</a:t>
            </a:r>
            <a:r>
              <a:rPr lang="en-US" dirty="0" smtClean="0"/>
              <a:t>[])  {    </a:t>
            </a:r>
          </a:p>
          <a:p>
            <a:pPr>
              <a:buNone/>
            </a:pPr>
            <a:r>
              <a:rPr lang="en-US" dirty="0" smtClean="0"/>
              <a:t>Demo </a:t>
            </a:r>
            <a:r>
              <a:rPr lang="en-US" dirty="0" err="1" smtClean="0"/>
              <a:t>obj</a:t>
            </a:r>
            <a:r>
              <a:rPr lang="en-US" dirty="0" smtClean="0"/>
              <a:t> = new Demo ();    </a:t>
            </a:r>
          </a:p>
          <a:p>
            <a:pPr>
              <a:buNone/>
            </a:pPr>
            <a:r>
              <a:rPr lang="en-US" dirty="0" err="1" smtClean="0"/>
              <a:t>obj.demo</a:t>
            </a:r>
            <a:r>
              <a:rPr lang="en-US" dirty="0" smtClean="0"/>
              <a:t> ();</a:t>
            </a:r>
          </a:p>
          <a:p>
            <a:pPr>
              <a:buNone/>
            </a:pPr>
            <a:r>
              <a:rPr lang="en-US" dirty="0" smtClean="0"/>
              <a:t>  }}</a:t>
            </a:r>
          </a:p>
          <a:p>
            <a:pPr>
              <a:buNone/>
            </a:pPr>
            <a:endParaRPr lang="en-US" dirty="0" smtClean="0"/>
          </a:p>
          <a:p>
            <a:pPr>
              <a:buNone/>
            </a:pPr>
            <a:endParaRPr lang="en-US" dirty="0"/>
          </a:p>
        </p:txBody>
      </p:sp>
      <p:pic>
        <p:nvPicPr>
          <p:cNvPr id="4" name="Content Placeholder 3" descr="Capture.PNG"/>
          <p:cNvPicPr>
            <a:picLocks noChangeAspect="1"/>
          </p:cNvPicPr>
          <p:nvPr/>
        </p:nvPicPr>
        <p:blipFill>
          <a:blip r:embed="rId2"/>
          <a:stretch>
            <a:fillRect/>
          </a:stretch>
        </p:blipFill>
        <p:spPr>
          <a:xfrm>
            <a:off x="5000046" y="4572000"/>
            <a:ext cx="4143954" cy="2286000"/>
          </a:xfrm>
          <a:prstGeom prst="rect">
            <a:avLst/>
          </a:prstGeom>
        </p:spPr>
      </p:pic>
      <p:sp>
        <p:nvSpPr>
          <p:cNvPr id="5" name="Oval 4"/>
          <p:cNvSpPr/>
          <p:nvPr/>
        </p:nvSpPr>
        <p:spPr>
          <a:xfrm>
            <a:off x="6400800" y="838200"/>
            <a:ext cx="2286000" cy="1600200"/>
          </a:xfrm>
          <a:prstGeom prst="ellipse">
            <a:avLst/>
          </a:prstGeom>
          <a:solidFill>
            <a:srgbClr val="FF0066"/>
          </a:soli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6" name="TextBox 5"/>
          <p:cNvSpPr txBox="1"/>
          <p:nvPr/>
        </p:nvSpPr>
        <p:spPr>
          <a:xfrm>
            <a:off x="6553200" y="1066800"/>
            <a:ext cx="2057400" cy="1200329"/>
          </a:xfrm>
          <a:prstGeom prst="rect">
            <a:avLst/>
          </a:prstGeom>
          <a:noFill/>
        </p:spPr>
        <p:txBody>
          <a:bodyPr wrap="square" rtlCol="0">
            <a:spAutoFit/>
          </a:bodyPr>
          <a:lstStyle/>
          <a:p>
            <a:r>
              <a:rPr lang="en-US" sz="2400" b="1" spc="-150" dirty="0" smtClean="0">
                <a:solidFill>
                  <a:schemeClr val="bg1"/>
                </a:solidFill>
              </a:rPr>
              <a:t>Note:</a:t>
            </a:r>
          </a:p>
          <a:p>
            <a:r>
              <a:rPr lang="en-US" sz="2400" b="1" spc="-150" dirty="0" smtClean="0">
                <a:solidFill>
                  <a:schemeClr val="bg1"/>
                </a:solidFill>
              </a:rPr>
              <a:t>for Final keyword refer UNIT-1</a:t>
            </a:r>
            <a:endParaRPr lang="en-US" sz="2400" b="1" spc="-150" dirty="0">
              <a:solidFill>
                <a:schemeClr val="bg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6172200"/>
          </a:xfrm>
        </p:spPr>
        <p:txBody>
          <a:bodyPr>
            <a:normAutofit fontScale="85000" lnSpcReduction="20000"/>
          </a:bodyPr>
          <a:lstStyle/>
          <a:p>
            <a:pPr>
              <a:buNone/>
            </a:pPr>
            <a:r>
              <a:rPr lang="en-US" dirty="0" smtClean="0"/>
              <a:t>Class A{</a:t>
            </a:r>
          </a:p>
          <a:p>
            <a:pPr>
              <a:buNone/>
            </a:pPr>
            <a:r>
              <a:rPr lang="en-US" dirty="0" smtClean="0"/>
              <a:t>Final Void show(){//method declared as final</a:t>
            </a:r>
          </a:p>
          <a:p>
            <a:pPr>
              <a:buNone/>
            </a:pPr>
            <a:r>
              <a:rPr lang="en-US" dirty="0" err="1" smtClean="0"/>
              <a:t>System.out.println</a:t>
            </a:r>
            <a:r>
              <a:rPr lang="en-US" dirty="0" smtClean="0"/>
              <a:t>(“class A”);</a:t>
            </a:r>
          </a:p>
          <a:p>
            <a:pPr>
              <a:buNone/>
            </a:pPr>
            <a:r>
              <a:rPr lang="en-US" dirty="0" smtClean="0"/>
              <a:t>}}</a:t>
            </a:r>
          </a:p>
          <a:p>
            <a:pPr>
              <a:buNone/>
            </a:pPr>
            <a:r>
              <a:rPr lang="en-US" dirty="0" smtClean="0"/>
              <a:t>Class B extends A{</a:t>
            </a:r>
          </a:p>
          <a:p>
            <a:pPr>
              <a:buNone/>
            </a:pPr>
            <a:r>
              <a:rPr lang="en-US" dirty="0" smtClean="0"/>
              <a:t>Void show(){</a:t>
            </a:r>
          </a:p>
          <a:p>
            <a:pPr>
              <a:buNone/>
            </a:pPr>
            <a:r>
              <a:rPr lang="en-US" dirty="0" err="1" smtClean="0"/>
              <a:t>System.out.println</a:t>
            </a:r>
            <a:r>
              <a:rPr lang="en-US" dirty="0" smtClean="0"/>
              <a:t>(“class B”);</a:t>
            </a:r>
          </a:p>
          <a:p>
            <a:pPr>
              <a:buNone/>
            </a:pPr>
            <a:r>
              <a:rPr lang="en-US" dirty="0" smtClean="0"/>
              <a:t>}}</a:t>
            </a:r>
          </a:p>
          <a:p>
            <a:pPr>
              <a:buNone/>
            </a:pPr>
            <a:r>
              <a:rPr lang="en-US" dirty="0" smtClean="0"/>
              <a:t>Class Demo{</a:t>
            </a:r>
          </a:p>
          <a:p>
            <a:pPr>
              <a:buNone/>
            </a:pPr>
            <a:r>
              <a:rPr lang="en-US" dirty="0" smtClean="0"/>
              <a:t>Public static void main(String </a:t>
            </a:r>
            <a:r>
              <a:rPr lang="en-US" dirty="0" err="1" smtClean="0"/>
              <a:t>args</a:t>
            </a:r>
            <a:r>
              <a:rPr lang="en-US" dirty="0" smtClean="0"/>
              <a:t>[]){</a:t>
            </a:r>
            <a:br>
              <a:rPr lang="en-US" dirty="0" smtClean="0"/>
            </a:br>
            <a:r>
              <a:rPr lang="en-US" dirty="0" smtClean="0"/>
              <a:t>B </a:t>
            </a:r>
            <a:r>
              <a:rPr lang="en-US" dirty="0" err="1" smtClean="0"/>
              <a:t>b</a:t>
            </a:r>
            <a:r>
              <a:rPr lang="en-US" dirty="0" smtClean="0"/>
              <a:t>=new B();</a:t>
            </a:r>
          </a:p>
          <a:p>
            <a:pPr>
              <a:buNone/>
            </a:pPr>
            <a:r>
              <a:rPr lang="en-US" dirty="0" err="1" smtClean="0"/>
              <a:t>B.show</a:t>
            </a:r>
            <a:r>
              <a:rPr lang="en-US" dirty="0" smtClean="0"/>
              <a:t>();</a:t>
            </a:r>
          </a:p>
          <a:p>
            <a:pPr>
              <a:buNone/>
            </a:pPr>
            <a:r>
              <a:rPr lang="en-US" dirty="0" smtClean="0"/>
              <a:t>}}</a:t>
            </a:r>
          </a:p>
          <a:p>
            <a:pPr>
              <a:buNone/>
            </a:pPr>
            <a:r>
              <a:rPr lang="en-US" dirty="0" smtClean="0"/>
              <a:t>o/p:compile time error</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FF0000"/>
                </a:solidFill>
              </a:rPr>
              <a:t>Abstraction</a:t>
            </a:r>
            <a:endParaRPr lang="en-US" b="1" u="sng" dirty="0">
              <a:solidFill>
                <a:srgbClr val="FF0000"/>
              </a:solidFill>
            </a:endParaRPr>
          </a:p>
        </p:txBody>
      </p:sp>
      <p:sp>
        <p:nvSpPr>
          <p:cNvPr id="5" name="Content Placeholder 4"/>
          <p:cNvSpPr>
            <a:spLocks noGrp="1"/>
          </p:cNvSpPr>
          <p:nvPr>
            <p:ph idx="1"/>
          </p:nvPr>
        </p:nvSpPr>
        <p:spPr>
          <a:xfrm>
            <a:off x="457200" y="1219200"/>
            <a:ext cx="8229600" cy="4906963"/>
          </a:xfrm>
        </p:spPr>
        <p:txBody>
          <a:bodyPr>
            <a:normAutofit lnSpcReduction="10000"/>
          </a:bodyPr>
          <a:lstStyle/>
          <a:p>
            <a:pPr algn="just"/>
            <a:r>
              <a:rPr lang="en-US" b="1" dirty="0" smtClean="0"/>
              <a:t>Abstraction</a:t>
            </a:r>
            <a:r>
              <a:rPr lang="en-US" dirty="0" smtClean="0"/>
              <a:t> is a process of hiding the implementation details and showing only functionality to the user.</a:t>
            </a:r>
          </a:p>
          <a:p>
            <a:pPr algn="just"/>
            <a:r>
              <a:rPr lang="en-US" dirty="0" smtClean="0"/>
              <a:t>Nothing but it shows only essential things to the user and hides the internal details</a:t>
            </a:r>
          </a:p>
          <a:p>
            <a:pPr algn="just"/>
            <a:r>
              <a:rPr lang="en-US" dirty="0" err="1" smtClean="0"/>
              <a:t>Eg:Sending</a:t>
            </a:r>
            <a:r>
              <a:rPr lang="en-US" dirty="0" smtClean="0"/>
              <a:t> an email.</a:t>
            </a:r>
          </a:p>
          <a:p>
            <a:pPr algn="just"/>
            <a:r>
              <a:rPr lang="en-US" b="1" dirty="0" smtClean="0"/>
              <a:t>Two Ways to achieve Abstraction</a:t>
            </a:r>
          </a:p>
          <a:p>
            <a:pPr marL="514350" indent="-514350" algn="just">
              <a:buFont typeface="+mj-lt"/>
              <a:buAutoNum type="arabicPeriod"/>
            </a:pPr>
            <a:r>
              <a:rPr lang="en-US" dirty="0" smtClean="0"/>
              <a:t>Abstract class </a:t>
            </a:r>
          </a:p>
          <a:p>
            <a:pPr marL="514350" indent="-514350" algn="just">
              <a:buFont typeface="+mj-lt"/>
              <a:buAutoNum type="arabicPeriod"/>
            </a:pPr>
            <a:r>
              <a:rPr lang="en-US" dirty="0" smtClean="0"/>
              <a:t>Interface</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solidFill>
                  <a:srgbClr val="FF0000"/>
                </a:solidFill>
              </a:rPr>
              <a:t>Abstract class</a:t>
            </a:r>
            <a:r>
              <a:rPr lang="en-US" b="1" dirty="0" smtClean="0"/>
              <a:t/>
            </a:r>
            <a:br>
              <a:rPr lang="en-US" b="1" dirty="0" smtClean="0"/>
            </a:br>
            <a:endParaRPr lang="en-US" dirty="0"/>
          </a:p>
        </p:txBody>
      </p:sp>
      <p:sp>
        <p:nvSpPr>
          <p:cNvPr id="3" name="Content Placeholder 2"/>
          <p:cNvSpPr>
            <a:spLocks noGrp="1"/>
          </p:cNvSpPr>
          <p:nvPr>
            <p:ph idx="1"/>
          </p:nvPr>
        </p:nvSpPr>
        <p:spPr>
          <a:xfrm>
            <a:off x="457200" y="990600"/>
            <a:ext cx="8229600" cy="5135563"/>
          </a:xfrm>
        </p:spPr>
        <p:txBody>
          <a:bodyPr>
            <a:normAutofit fontScale="92500" lnSpcReduction="20000"/>
          </a:bodyPr>
          <a:lstStyle/>
          <a:p>
            <a:r>
              <a:rPr lang="en-US" dirty="0" smtClean="0"/>
              <a:t>A class which is declared with the abstract keyword is known as an abstract class .</a:t>
            </a:r>
          </a:p>
          <a:p>
            <a:r>
              <a:rPr lang="en-US" dirty="0" smtClean="0"/>
              <a:t>An abstract class can have abstract and non-abstract methods </a:t>
            </a:r>
          </a:p>
          <a:p>
            <a:pPr>
              <a:buNone/>
            </a:pPr>
            <a:r>
              <a:rPr lang="en-US" b="1" dirty="0" smtClean="0"/>
              <a:t>Syntax of abstract class</a:t>
            </a:r>
          </a:p>
          <a:p>
            <a:r>
              <a:rPr lang="en-US" dirty="0" smtClean="0"/>
              <a:t>abstract class A{ }</a:t>
            </a:r>
          </a:p>
          <a:p>
            <a:pPr>
              <a:buNone/>
            </a:pPr>
            <a:r>
              <a:rPr lang="en-US" b="1" u="sng" dirty="0" smtClean="0"/>
              <a:t>Abstract Method:</a:t>
            </a:r>
          </a:p>
          <a:p>
            <a:r>
              <a:rPr lang="en-US" dirty="0" smtClean="0"/>
              <a:t>A method which is declared as abstract and does not have implementation is known as an abstract method. </a:t>
            </a:r>
          </a:p>
          <a:p>
            <a:pPr>
              <a:buNone/>
            </a:pPr>
            <a:r>
              <a:rPr lang="en-US" b="1" dirty="0" smtClean="0"/>
              <a:t>Syntax of abstract method</a:t>
            </a:r>
            <a:endParaRPr lang="en-US" dirty="0" smtClean="0"/>
          </a:p>
          <a:p>
            <a:r>
              <a:rPr lang="en-US" dirty="0" smtClean="0"/>
              <a:t>abstract void </a:t>
            </a:r>
            <a:r>
              <a:rPr lang="en-US" dirty="0" err="1" smtClean="0"/>
              <a:t>dis</a:t>
            </a:r>
            <a:r>
              <a:rPr lang="en-US" dirty="0" smtClean="0"/>
              <a:t>();//no implementation</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lnSpcReduction="10000"/>
          </a:bodyPr>
          <a:lstStyle/>
          <a:p>
            <a:pPr>
              <a:buNone/>
            </a:pPr>
            <a:r>
              <a:rPr lang="en-US" b="1" u="sng" dirty="0" smtClean="0"/>
              <a:t>Rules:</a:t>
            </a:r>
          </a:p>
          <a:p>
            <a:r>
              <a:rPr lang="en-US" dirty="0" smtClean="0"/>
              <a:t>An abstract class must be declared with an abstract keyword.</a:t>
            </a:r>
          </a:p>
          <a:p>
            <a:r>
              <a:rPr lang="en-US" dirty="0" smtClean="0"/>
              <a:t>It can have abstract and non-abstract methods.</a:t>
            </a:r>
          </a:p>
          <a:p>
            <a:r>
              <a:rPr lang="en-US" dirty="0" smtClean="0"/>
              <a:t>It cannot be instantiated.</a:t>
            </a:r>
          </a:p>
          <a:p>
            <a:r>
              <a:rPr lang="en-US" dirty="0" smtClean="0"/>
              <a:t>It can have constructors and static methods also.</a:t>
            </a:r>
          </a:p>
          <a:p>
            <a:r>
              <a:rPr lang="en-US" dirty="0" smtClean="0"/>
              <a:t>It can have final methods which will force the subclass not to change the body of the method.</a:t>
            </a:r>
          </a:p>
          <a:p>
            <a:endParaRPr lang="en-US" dirty="0" smtClean="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6248400"/>
          </a:xfrm>
        </p:spPr>
        <p:txBody>
          <a:bodyPr>
            <a:normAutofit fontScale="77500" lnSpcReduction="20000"/>
          </a:bodyPr>
          <a:lstStyle/>
          <a:p>
            <a:pPr>
              <a:buNone/>
            </a:pPr>
            <a:r>
              <a:rPr lang="en-US" dirty="0" smtClean="0"/>
              <a:t>abstract class Super{  </a:t>
            </a:r>
          </a:p>
          <a:p>
            <a:pPr>
              <a:buNone/>
            </a:pPr>
            <a:r>
              <a:rPr lang="en-US" dirty="0" smtClean="0"/>
              <a:t>  abstract void show(); </a:t>
            </a:r>
          </a:p>
          <a:p>
            <a:pPr>
              <a:buNone/>
            </a:pPr>
            <a:r>
              <a:rPr lang="en-US" dirty="0" smtClean="0"/>
              <a:t>final void </a:t>
            </a:r>
            <a:r>
              <a:rPr lang="en-US" dirty="0" err="1" smtClean="0"/>
              <a:t>dis</a:t>
            </a:r>
            <a:r>
              <a:rPr lang="en-US" dirty="0" smtClean="0"/>
              <a:t>(){ </a:t>
            </a:r>
            <a:r>
              <a:rPr lang="en-US" dirty="0" err="1" smtClean="0"/>
              <a:t>System.out.println</a:t>
            </a:r>
            <a:r>
              <a:rPr lang="en-US" dirty="0" smtClean="0"/>
              <a:t>(“inside super class”);} </a:t>
            </a:r>
          </a:p>
          <a:p>
            <a:pPr>
              <a:buNone/>
            </a:pPr>
            <a:r>
              <a:rPr lang="en-US" dirty="0" smtClean="0"/>
              <a:t>}  </a:t>
            </a:r>
          </a:p>
          <a:p>
            <a:pPr>
              <a:buNone/>
            </a:pPr>
            <a:r>
              <a:rPr lang="en-US" dirty="0" smtClean="0"/>
              <a:t>class Sub extends Super{  </a:t>
            </a:r>
          </a:p>
          <a:p>
            <a:pPr>
              <a:buNone/>
            </a:pPr>
            <a:r>
              <a:rPr lang="en-US" dirty="0" smtClean="0"/>
              <a:t>void show(){</a:t>
            </a:r>
          </a:p>
          <a:p>
            <a:pPr>
              <a:buNone/>
            </a:pPr>
            <a:r>
              <a:rPr lang="en-US" dirty="0" err="1" smtClean="0"/>
              <a:t>System.out.println</a:t>
            </a:r>
            <a:r>
              <a:rPr lang="en-US" dirty="0" smtClean="0"/>
              <a:t>(“Abstract classes");</a:t>
            </a:r>
          </a:p>
          <a:p>
            <a:pPr>
              <a:buNone/>
            </a:pPr>
            <a:r>
              <a:rPr lang="en-US" dirty="0" smtClean="0"/>
              <a:t>}  </a:t>
            </a:r>
          </a:p>
          <a:p>
            <a:pPr>
              <a:buNone/>
            </a:pPr>
            <a:r>
              <a:rPr lang="en-US" dirty="0" smtClean="0"/>
              <a:t>public static void main(String </a:t>
            </a:r>
            <a:r>
              <a:rPr lang="en-US" dirty="0" err="1" smtClean="0"/>
              <a:t>args</a:t>
            </a:r>
            <a:r>
              <a:rPr lang="en-US" dirty="0" smtClean="0"/>
              <a:t>[]){  </a:t>
            </a:r>
          </a:p>
          <a:p>
            <a:pPr>
              <a:buNone/>
            </a:pPr>
            <a:r>
              <a:rPr lang="en-US" dirty="0" smtClean="0"/>
              <a:t> Super </a:t>
            </a:r>
            <a:r>
              <a:rPr lang="en-US" dirty="0" err="1" smtClean="0"/>
              <a:t>obj</a:t>
            </a:r>
            <a:r>
              <a:rPr lang="en-US" dirty="0" smtClean="0"/>
              <a:t> = new Sub();  </a:t>
            </a:r>
          </a:p>
          <a:p>
            <a:pPr>
              <a:buNone/>
            </a:pPr>
            <a:r>
              <a:rPr lang="en-US" dirty="0" smtClean="0"/>
              <a:t> </a:t>
            </a:r>
            <a:r>
              <a:rPr lang="en-US" dirty="0" err="1" smtClean="0"/>
              <a:t>obj.show</a:t>
            </a:r>
            <a:r>
              <a:rPr lang="en-US" dirty="0" smtClean="0"/>
              <a:t>(); </a:t>
            </a:r>
          </a:p>
          <a:p>
            <a:pPr>
              <a:buNone/>
            </a:pPr>
            <a:r>
              <a:rPr lang="en-US" dirty="0" smtClean="0"/>
              <a:t>obj.dis(); </a:t>
            </a:r>
          </a:p>
          <a:p>
            <a:pPr>
              <a:buNone/>
            </a:pPr>
            <a:r>
              <a:rPr lang="en-US" dirty="0" smtClean="0"/>
              <a:t>}  </a:t>
            </a:r>
          </a:p>
          <a:p>
            <a:pPr>
              <a:buNone/>
            </a:pPr>
            <a:r>
              <a:rPr lang="en-US" dirty="0" smtClean="0"/>
              <a:t>}  </a:t>
            </a:r>
          </a:p>
          <a:p>
            <a:pPr>
              <a:buNone/>
            </a:pPr>
            <a:r>
              <a:rPr lang="en-US" dirty="0" smtClean="0"/>
              <a:t>o/p:Abstract classes</a:t>
            </a:r>
          </a:p>
          <a:p>
            <a:pPr>
              <a:buNone/>
            </a:pPr>
            <a:r>
              <a:rPr lang="en-US" dirty="0" smtClean="0"/>
              <a:t>inside super class</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0"/>
            <a:ext cx="8229600" cy="7239000"/>
          </a:xfrm>
        </p:spPr>
        <p:txBody>
          <a:bodyPr>
            <a:normAutofit fontScale="55000" lnSpcReduction="20000"/>
          </a:bodyPr>
          <a:lstStyle/>
          <a:p>
            <a:pPr>
              <a:buNone/>
            </a:pPr>
            <a:r>
              <a:rPr lang="en-US" sz="5100" dirty="0" smtClean="0"/>
              <a:t>abstract class A{</a:t>
            </a:r>
          </a:p>
          <a:p>
            <a:pPr>
              <a:buNone/>
            </a:pPr>
            <a:r>
              <a:rPr lang="en-US" sz="5100" dirty="0" smtClean="0"/>
              <a:t>abstract void </a:t>
            </a:r>
            <a:r>
              <a:rPr lang="en-US" sz="5100" dirty="0" err="1" smtClean="0"/>
              <a:t>dis</a:t>
            </a:r>
            <a:r>
              <a:rPr lang="en-US" sz="5100" dirty="0" smtClean="0"/>
              <a:t>();}</a:t>
            </a:r>
          </a:p>
          <a:p>
            <a:pPr>
              <a:buNone/>
            </a:pPr>
            <a:r>
              <a:rPr lang="en-US" sz="5100" dirty="0" smtClean="0"/>
              <a:t>class B extends A{</a:t>
            </a:r>
          </a:p>
          <a:p>
            <a:pPr>
              <a:buNone/>
            </a:pPr>
            <a:r>
              <a:rPr lang="en-US" sz="5100" dirty="0" smtClean="0"/>
              <a:t>void dis1(){</a:t>
            </a:r>
          </a:p>
          <a:p>
            <a:pPr>
              <a:buNone/>
            </a:pPr>
            <a:r>
              <a:rPr lang="en-US" sz="5100" dirty="0" err="1" smtClean="0"/>
              <a:t>System.out.println</a:t>
            </a:r>
            <a:r>
              <a:rPr lang="en-US" sz="5100" dirty="0" smtClean="0"/>
              <a:t>("class B");</a:t>
            </a:r>
          </a:p>
          <a:p>
            <a:pPr>
              <a:buNone/>
            </a:pPr>
            <a:r>
              <a:rPr lang="en-US" sz="5100" dirty="0" smtClean="0"/>
              <a:t>}    }</a:t>
            </a:r>
          </a:p>
          <a:p>
            <a:pPr>
              <a:buNone/>
            </a:pPr>
            <a:r>
              <a:rPr lang="en-US" sz="5100" dirty="0" smtClean="0"/>
              <a:t>class Demo{</a:t>
            </a:r>
          </a:p>
          <a:p>
            <a:pPr>
              <a:buNone/>
            </a:pPr>
            <a:r>
              <a:rPr lang="en-US" sz="5100" dirty="0" smtClean="0"/>
              <a:t>public static void main(String </a:t>
            </a:r>
            <a:r>
              <a:rPr lang="en-US" sz="5100" dirty="0" err="1" smtClean="0"/>
              <a:t>args</a:t>
            </a:r>
            <a:r>
              <a:rPr lang="en-US" sz="5100" dirty="0" smtClean="0"/>
              <a:t>[]){</a:t>
            </a:r>
          </a:p>
          <a:p>
            <a:pPr>
              <a:buNone/>
            </a:pPr>
            <a:r>
              <a:rPr lang="en-US" sz="5100" dirty="0" smtClean="0"/>
              <a:t>A </a:t>
            </a:r>
            <a:r>
              <a:rPr lang="en-US" sz="5100" dirty="0" err="1" smtClean="0"/>
              <a:t>a</a:t>
            </a:r>
            <a:r>
              <a:rPr lang="en-US" sz="5100" dirty="0" smtClean="0"/>
              <a:t>=new B();</a:t>
            </a:r>
          </a:p>
          <a:p>
            <a:pPr>
              <a:buNone/>
            </a:pPr>
            <a:r>
              <a:rPr lang="en-US" sz="5100" dirty="0" smtClean="0"/>
              <a:t>a.dis1();</a:t>
            </a:r>
          </a:p>
          <a:p>
            <a:pPr>
              <a:buNone/>
            </a:pPr>
            <a:r>
              <a:rPr lang="en-US" sz="5100" dirty="0" smtClean="0"/>
              <a:t>}}</a:t>
            </a:r>
          </a:p>
          <a:p>
            <a:pPr>
              <a:buNone/>
            </a:pPr>
            <a:r>
              <a:rPr lang="en-US" dirty="0" smtClean="0"/>
              <a:t>o/p://----------Note:error occurs ---no overriding-----//</a:t>
            </a:r>
          </a:p>
          <a:p>
            <a:pPr>
              <a:buNone/>
            </a:pPr>
            <a:r>
              <a:rPr lang="en-US" b="1" dirty="0" smtClean="0"/>
              <a:t>&gt;&gt;&gt;&gt;Compile by: </a:t>
            </a:r>
            <a:r>
              <a:rPr lang="en-US" b="1" dirty="0" err="1" smtClean="0"/>
              <a:t>javac</a:t>
            </a:r>
            <a:r>
              <a:rPr lang="en-US" b="1" dirty="0" smtClean="0"/>
              <a:t> Demo.java</a:t>
            </a:r>
            <a:endParaRPr lang="en-US" dirty="0" smtClean="0"/>
          </a:p>
          <a:p>
            <a:pPr>
              <a:buNone/>
            </a:pPr>
            <a:r>
              <a:rPr lang="en-US" dirty="0" smtClean="0"/>
              <a:t>&gt;&gt;&gt;&gt;.40.1/Demo.java:3: error: B is not abstract and does not override abstract method </a:t>
            </a:r>
            <a:r>
              <a:rPr lang="en-US" dirty="0" err="1" smtClean="0"/>
              <a:t>dis</a:t>
            </a:r>
            <a:r>
              <a:rPr lang="en-US" dirty="0" smtClean="0"/>
              <a:t>() in A</a:t>
            </a:r>
            <a:br>
              <a:rPr lang="en-US" dirty="0" smtClean="0"/>
            </a:br>
            <a:r>
              <a:rPr lang="en-US" dirty="0" smtClean="0"/>
              <a:t>class B extends A{</a:t>
            </a:r>
            <a:br>
              <a:rPr lang="en-US" dirty="0" smtClean="0"/>
            </a:br>
            <a:r>
              <a:rPr lang="en-US" dirty="0" smtClean="0"/>
              <a:t>^</a:t>
            </a:r>
            <a:br>
              <a:rPr lang="en-US" dirty="0" smtClean="0"/>
            </a:br>
            <a:r>
              <a:rPr lang="en-US" dirty="0" smtClean="0"/>
              <a:t>1 error</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a:bodyPr>
          <a:lstStyle/>
          <a:p>
            <a:r>
              <a:rPr lang="en-US" sz="2400" dirty="0" smtClean="0"/>
              <a:t>//Abstract classes using constructors</a:t>
            </a:r>
            <a:endParaRPr lang="en-US" sz="2400" dirty="0"/>
          </a:p>
        </p:txBody>
      </p:sp>
      <p:sp>
        <p:nvSpPr>
          <p:cNvPr id="3" name="Content Placeholder 2"/>
          <p:cNvSpPr>
            <a:spLocks noGrp="1"/>
          </p:cNvSpPr>
          <p:nvPr>
            <p:ph idx="1"/>
          </p:nvPr>
        </p:nvSpPr>
        <p:spPr>
          <a:xfrm>
            <a:off x="457200" y="685800"/>
            <a:ext cx="8229600" cy="6172200"/>
          </a:xfrm>
        </p:spPr>
        <p:txBody>
          <a:bodyPr>
            <a:normAutofit fontScale="62500" lnSpcReduction="20000"/>
          </a:bodyPr>
          <a:lstStyle/>
          <a:p>
            <a:pPr>
              <a:buNone/>
            </a:pPr>
            <a:r>
              <a:rPr lang="en-US" dirty="0" smtClean="0"/>
              <a:t>abstract class A { </a:t>
            </a:r>
          </a:p>
          <a:p>
            <a:pPr>
              <a:buNone/>
            </a:pPr>
            <a:r>
              <a:rPr lang="en-US" dirty="0" smtClean="0"/>
              <a:t>	A() { </a:t>
            </a:r>
          </a:p>
          <a:p>
            <a:pPr>
              <a:buNone/>
            </a:pPr>
            <a:r>
              <a:rPr lang="en-US" dirty="0" smtClean="0"/>
              <a:t>          </a:t>
            </a:r>
            <a:r>
              <a:rPr lang="en-US" dirty="0" err="1" smtClean="0"/>
              <a:t>System.out.println</a:t>
            </a:r>
            <a:r>
              <a:rPr lang="en-US" dirty="0" smtClean="0"/>
              <a:t>(“A’s  constructor"); </a:t>
            </a:r>
          </a:p>
          <a:p>
            <a:pPr>
              <a:buNone/>
            </a:pPr>
            <a:r>
              <a:rPr lang="en-US" dirty="0" smtClean="0"/>
              <a:t>       } </a:t>
            </a:r>
          </a:p>
          <a:p>
            <a:pPr>
              <a:buNone/>
            </a:pPr>
            <a:r>
              <a:rPr lang="en-US" dirty="0" smtClean="0"/>
              <a:t>	abstract void </a:t>
            </a:r>
            <a:r>
              <a:rPr lang="en-US" dirty="0" err="1" smtClean="0"/>
              <a:t>dis</a:t>
            </a:r>
            <a:r>
              <a:rPr lang="en-US" dirty="0" smtClean="0"/>
              <a:t>(); </a:t>
            </a:r>
          </a:p>
          <a:p>
            <a:pPr>
              <a:buNone/>
            </a:pPr>
            <a:r>
              <a:rPr lang="en-US" dirty="0" smtClean="0"/>
              <a:t>} </a:t>
            </a:r>
          </a:p>
          <a:p>
            <a:pPr>
              <a:buNone/>
            </a:pPr>
            <a:r>
              <a:rPr lang="en-US" dirty="0" smtClean="0"/>
              <a:t>class B extends A{ </a:t>
            </a:r>
          </a:p>
          <a:p>
            <a:pPr>
              <a:buNone/>
            </a:pPr>
            <a:r>
              <a:rPr lang="en-US" dirty="0" smtClean="0"/>
              <a:t>	B() { </a:t>
            </a:r>
          </a:p>
          <a:p>
            <a:pPr>
              <a:buNone/>
            </a:pPr>
            <a:r>
              <a:rPr lang="en-US" dirty="0" smtClean="0"/>
              <a:t>          </a:t>
            </a:r>
            <a:r>
              <a:rPr lang="en-US" dirty="0" err="1" smtClean="0"/>
              <a:t>System.out.println</a:t>
            </a:r>
            <a:r>
              <a:rPr lang="en-US" dirty="0" smtClean="0"/>
              <a:t>(“B’s  constructor "); </a:t>
            </a:r>
          </a:p>
          <a:p>
            <a:pPr>
              <a:buNone/>
            </a:pPr>
            <a:r>
              <a:rPr lang="en-US" dirty="0" smtClean="0"/>
              <a:t>     } </a:t>
            </a:r>
          </a:p>
          <a:p>
            <a:pPr>
              <a:buNone/>
            </a:pPr>
            <a:r>
              <a:rPr lang="en-US" dirty="0" smtClean="0"/>
              <a:t>Void </a:t>
            </a:r>
            <a:r>
              <a:rPr lang="en-US" dirty="0" err="1" smtClean="0"/>
              <a:t>dis</a:t>
            </a:r>
            <a:r>
              <a:rPr lang="en-US" dirty="0" smtClean="0"/>
              <a:t>() {     </a:t>
            </a:r>
            <a:r>
              <a:rPr lang="en-US" dirty="0" err="1" smtClean="0"/>
              <a:t>System.out.println</a:t>
            </a:r>
            <a:r>
              <a:rPr lang="en-US" dirty="0" smtClean="0"/>
              <a:t>(“B’s  </a:t>
            </a:r>
            <a:r>
              <a:rPr lang="en-US" dirty="0" err="1" smtClean="0"/>
              <a:t>dis</a:t>
            </a:r>
            <a:r>
              <a:rPr lang="en-US" dirty="0" smtClean="0"/>
              <a:t>() method ");   }</a:t>
            </a:r>
          </a:p>
          <a:p>
            <a:pPr>
              <a:buNone/>
            </a:pPr>
            <a:r>
              <a:rPr lang="en-US" dirty="0" smtClean="0"/>
              <a:t>} </a:t>
            </a:r>
          </a:p>
          <a:p>
            <a:pPr>
              <a:buNone/>
            </a:pPr>
            <a:r>
              <a:rPr lang="en-US" dirty="0" smtClean="0"/>
              <a:t>class Main { </a:t>
            </a:r>
          </a:p>
          <a:p>
            <a:pPr>
              <a:buNone/>
            </a:pPr>
            <a:r>
              <a:rPr lang="en-US" dirty="0" smtClean="0"/>
              <a:t>	public static void main(String </a:t>
            </a:r>
            <a:r>
              <a:rPr lang="en-US" dirty="0" err="1" smtClean="0"/>
              <a:t>args</a:t>
            </a:r>
            <a:r>
              <a:rPr lang="en-US" dirty="0" smtClean="0"/>
              <a:t>[]) { </a:t>
            </a:r>
          </a:p>
          <a:p>
            <a:pPr>
              <a:buNone/>
            </a:pPr>
            <a:r>
              <a:rPr lang="en-US" dirty="0" smtClean="0"/>
              <a:t>	A a = new B(); </a:t>
            </a:r>
          </a:p>
          <a:p>
            <a:pPr>
              <a:buNone/>
            </a:pPr>
            <a:r>
              <a:rPr lang="en-US" dirty="0" smtClean="0"/>
              <a:t>	} </a:t>
            </a:r>
          </a:p>
          <a:p>
            <a:pPr>
              <a:buNone/>
            </a:pPr>
            <a:r>
              <a:rPr lang="en-US" dirty="0" smtClean="0"/>
              <a:t>} </a:t>
            </a:r>
          </a:p>
          <a:p>
            <a:pPr>
              <a:buNone/>
            </a:pPr>
            <a:r>
              <a:rPr lang="en-US" dirty="0" smtClean="0"/>
              <a:t>o/p: A’s  constructor</a:t>
            </a:r>
          </a:p>
          <a:p>
            <a:pPr>
              <a:buNone/>
            </a:pPr>
            <a:r>
              <a:rPr lang="en-US" dirty="0" smtClean="0"/>
              <a:t>B’s  constructor</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70C0"/>
                </a:solidFill>
              </a:rPr>
              <a:t>Interfaces</a:t>
            </a:r>
            <a:endParaRPr lang="en-US" b="1" u="sng" dirty="0">
              <a:solidFill>
                <a:srgbClr val="0070C0"/>
              </a:solidFill>
            </a:endParaRPr>
          </a:p>
        </p:txBody>
      </p:sp>
      <p:sp>
        <p:nvSpPr>
          <p:cNvPr id="3" name="Content Placeholder 2"/>
          <p:cNvSpPr>
            <a:spLocks noGrp="1"/>
          </p:cNvSpPr>
          <p:nvPr>
            <p:ph idx="1"/>
          </p:nvPr>
        </p:nvSpPr>
        <p:spPr/>
        <p:txBody>
          <a:bodyPr>
            <a:normAutofit fontScale="92500" lnSpcReduction="10000"/>
          </a:bodyPr>
          <a:lstStyle/>
          <a:p>
            <a:pPr algn="just"/>
            <a:r>
              <a:rPr lang="en-US" dirty="0" smtClean="0"/>
              <a:t>An interface is just like Java Class, but it only has static constants and abstract method.</a:t>
            </a:r>
          </a:p>
          <a:p>
            <a:pPr algn="just"/>
            <a:r>
              <a:rPr lang="en-US" dirty="0" smtClean="0"/>
              <a:t>Java uses Interface to implement multiple inheritance. </a:t>
            </a:r>
          </a:p>
          <a:p>
            <a:pPr algn="just"/>
            <a:r>
              <a:rPr lang="en-US" dirty="0" smtClean="0"/>
              <a:t>A Java class can implement multiple Java Interfaces. </a:t>
            </a:r>
            <a:r>
              <a:rPr lang="en-US" i="1" dirty="0" smtClean="0">
                <a:solidFill>
                  <a:srgbClr val="FF0066"/>
                </a:solidFill>
              </a:rPr>
              <a:t>All methods in an interface are implicitly public and abstract</a:t>
            </a:r>
          </a:p>
          <a:p>
            <a:pPr algn="just"/>
            <a:r>
              <a:rPr lang="en-US" dirty="0" smtClean="0"/>
              <a:t>A class that implements an interface must implement all the methods declared in the interface.</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smtClean="0"/>
              <a:t>An interface is declared by using the “interface” keyword. It provides total abstraction; means all the methods in an interface are declared with the empty body</a:t>
            </a:r>
          </a:p>
          <a:p>
            <a:pPr algn="just"/>
            <a:r>
              <a:rPr lang="en-US" dirty="0" smtClean="0">
                <a:solidFill>
                  <a:srgbClr val="00B050"/>
                </a:solidFill>
              </a:rPr>
              <a:t>Syntax:</a:t>
            </a:r>
          </a:p>
          <a:p>
            <a:pPr algn="just">
              <a:buNone/>
            </a:pPr>
            <a:r>
              <a:rPr lang="en-US" dirty="0" smtClean="0"/>
              <a:t>interface  </a:t>
            </a:r>
            <a:r>
              <a:rPr lang="en-US" dirty="0" err="1" smtClean="0"/>
              <a:t>interface_name</a:t>
            </a:r>
            <a:r>
              <a:rPr lang="en-US" dirty="0" smtClean="0"/>
              <a:t>{  </a:t>
            </a:r>
          </a:p>
          <a:p>
            <a:pPr algn="just">
              <a:buNone/>
            </a:pPr>
            <a:r>
              <a:rPr lang="en-US" dirty="0" smtClean="0"/>
              <a:t>     …………….     </a:t>
            </a:r>
          </a:p>
          <a:p>
            <a:pPr algn="just">
              <a:buNone/>
            </a:pPr>
            <a:r>
              <a:rPr lang="en-US" dirty="0" smtClean="0"/>
              <a:t>    // declare methods that abstract   </a:t>
            </a:r>
          </a:p>
          <a:p>
            <a:pPr algn="just">
              <a:buNone/>
            </a:pPr>
            <a:r>
              <a:rPr lang="en-US" dirty="0" smtClean="0"/>
              <a:t>    ………….</a:t>
            </a:r>
          </a:p>
          <a:p>
            <a:pPr algn="just">
              <a:buNone/>
            </a:pPr>
            <a:r>
              <a:rPr lang="en-US" dirty="0" smtClean="0"/>
              <a:t>}  </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28600"/>
            <a:ext cx="8229600" cy="5897563"/>
          </a:xfrm>
        </p:spPr>
        <p:txBody>
          <a:bodyPr/>
          <a:lstStyle/>
          <a:p>
            <a:pPr>
              <a:buNone/>
            </a:pPr>
            <a:r>
              <a:rPr lang="en-US" b="1" dirty="0" smtClean="0">
                <a:solidFill>
                  <a:srgbClr val="00B050"/>
                </a:solidFill>
              </a:rPr>
              <a:t>relationship between classes and interfaces</a:t>
            </a:r>
          </a:p>
          <a:p>
            <a:r>
              <a:rPr lang="en-US" dirty="0" smtClean="0"/>
              <a:t>In the below fig</a:t>
            </a:r>
          </a:p>
          <a:p>
            <a:pPr marL="514350" indent="-514350">
              <a:buAutoNum type="alphaUcParenBoth"/>
            </a:pPr>
            <a:r>
              <a:rPr lang="en-US" dirty="0" smtClean="0"/>
              <a:t>a class extends another class</a:t>
            </a:r>
          </a:p>
          <a:p>
            <a:pPr marL="514350" indent="-514350">
              <a:buAutoNum type="alphaUcParenBoth"/>
            </a:pPr>
            <a:r>
              <a:rPr lang="en-US" dirty="0" smtClean="0"/>
              <a:t>a </a:t>
            </a:r>
            <a:r>
              <a:rPr lang="en-US" b="1" dirty="0" smtClean="0"/>
              <a:t>class implements an interface</a:t>
            </a:r>
            <a:r>
              <a:rPr lang="en-US" dirty="0" smtClean="0"/>
              <a:t>.</a:t>
            </a:r>
          </a:p>
          <a:p>
            <a:pPr marL="514350" indent="-514350">
              <a:buAutoNum type="alphaUcParenBoth"/>
            </a:pPr>
            <a:r>
              <a:rPr lang="en-US" dirty="0" smtClean="0"/>
              <a:t>an interface extends another interface,</a:t>
            </a:r>
          </a:p>
          <a:p>
            <a:endParaRPr lang="en-US" dirty="0"/>
          </a:p>
        </p:txBody>
      </p:sp>
      <p:pic>
        <p:nvPicPr>
          <p:cNvPr id="4" name="Content Placeholder 3" descr="Capture.PNG"/>
          <p:cNvPicPr>
            <a:picLocks noChangeAspect="1"/>
          </p:cNvPicPr>
          <p:nvPr/>
        </p:nvPicPr>
        <p:blipFill>
          <a:blip r:embed="rId2"/>
          <a:stretch>
            <a:fillRect/>
          </a:stretch>
        </p:blipFill>
        <p:spPr>
          <a:xfrm>
            <a:off x="1447800" y="3124200"/>
            <a:ext cx="6781800" cy="2590800"/>
          </a:xfrm>
          <a:prstGeom prst="rect">
            <a:avLst/>
          </a:prstGeom>
        </p:spPr>
      </p:pic>
      <p:sp>
        <p:nvSpPr>
          <p:cNvPr id="5" name="TextBox 4"/>
          <p:cNvSpPr txBox="1"/>
          <p:nvPr/>
        </p:nvSpPr>
        <p:spPr>
          <a:xfrm>
            <a:off x="1905000" y="5844064"/>
            <a:ext cx="5638800" cy="369332"/>
          </a:xfrm>
          <a:prstGeom prst="rect">
            <a:avLst/>
          </a:prstGeom>
          <a:noFill/>
        </p:spPr>
        <p:txBody>
          <a:bodyPr wrap="square" rtlCol="0">
            <a:spAutoFit/>
          </a:bodyPr>
          <a:lstStyle/>
          <a:p>
            <a:r>
              <a:rPr lang="en-US" b="1" dirty="0" smtClean="0">
                <a:solidFill>
                  <a:srgbClr val="FF0066"/>
                </a:solidFill>
              </a:rPr>
              <a:t>        (A)			(B)		         (C)</a:t>
            </a:r>
            <a:endParaRPr lang="en-US" b="1" dirty="0">
              <a:solidFill>
                <a:srgbClr val="FF0066"/>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a:xfrm>
            <a:off x="609600" y="381000"/>
            <a:ext cx="8229600" cy="5745163"/>
          </a:xfrm>
        </p:spPr>
        <p:txBody>
          <a:bodyPr>
            <a:normAutofit fontScale="77500" lnSpcReduction="20000"/>
          </a:bodyPr>
          <a:lstStyle/>
          <a:p>
            <a:pPr>
              <a:buNone/>
            </a:pPr>
            <a:r>
              <a:rPr lang="en-US" dirty="0" smtClean="0"/>
              <a:t>//Implementing interfaces</a:t>
            </a:r>
          </a:p>
          <a:p>
            <a:pPr>
              <a:buNone/>
            </a:pPr>
            <a:r>
              <a:rPr lang="en-US" dirty="0" smtClean="0"/>
              <a:t>interface </a:t>
            </a:r>
            <a:r>
              <a:rPr lang="en-US" dirty="0" err="1" smtClean="0"/>
              <a:t>InterfaceExample</a:t>
            </a:r>
            <a:r>
              <a:rPr lang="en-US" dirty="0" smtClean="0"/>
              <a:t>{</a:t>
            </a:r>
          </a:p>
          <a:p>
            <a:pPr>
              <a:buNone/>
            </a:pPr>
            <a:r>
              <a:rPr lang="en-US" dirty="0" smtClean="0"/>
              <a:t>void print();</a:t>
            </a:r>
          </a:p>
          <a:p>
            <a:pPr>
              <a:buNone/>
            </a:pPr>
            <a:r>
              <a:rPr lang="en-US" dirty="0" smtClean="0"/>
              <a:t>}</a:t>
            </a:r>
          </a:p>
          <a:p>
            <a:pPr>
              <a:buNone/>
            </a:pPr>
            <a:r>
              <a:rPr lang="en-US" dirty="0" smtClean="0"/>
              <a:t>class Demo implements </a:t>
            </a:r>
            <a:r>
              <a:rPr lang="en-US" dirty="0" err="1" smtClean="0"/>
              <a:t>InterfaceExample</a:t>
            </a:r>
            <a:r>
              <a:rPr lang="en-US" dirty="0" smtClean="0"/>
              <a:t>{</a:t>
            </a:r>
          </a:p>
          <a:p>
            <a:pPr>
              <a:buNone/>
            </a:pPr>
            <a:r>
              <a:rPr lang="en-US" dirty="0" smtClean="0"/>
              <a:t>public void print(){</a:t>
            </a:r>
          </a:p>
          <a:p>
            <a:pPr>
              <a:buNone/>
            </a:pPr>
            <a:r>
              <a:rPr lang="en-US" dirty="0" err="1" smtClean="0"/>
              <a:t>System.out.println</a:t>
            </a:r>
            <a:r>
              <a:rPr lang="en-US" dirty="0" smtClean="0"/>
              <a:t>("Hello");</a:t>
            </a:r>
          </a:p>
          <a:p>
            <a:pPr>
              <a:buNone/>
            </a:pPr>
            <a:r>
              <a:rPr lang="en-US" dirty="0" smtClean="0"/>
              <a:t>}</a:t>
            </a:r>
          </a:p>
          <a:p>
            <a:pPr>
              <a:buNone/>
            </a:pPr>
            <a:r>
              <a:rPr lang="en-US" dirty="0" smtClean="0"/>
              <a:t>public static void main(String </a:t>
            </a:r>
            <a:r>
              <a:rPr lang="en-US" dirty="0" err="1" smtClean="0"/>
              <a:t>args</a:t>
            </a:r>
            <a:r>
              <a:rPr lang="en-US" dirty="0" smtClean="0"/>
              <a:t>[]){</a:t>
            </a:r>
          </a:p>
          <a:p>
            <a:pPr>
              <a:buNone/>
            </a:pPr>
            <a:r>
              <a:rPr lang="en-US" dirty="0" err="1" smtClean="0"/>
              <a:t>InterfaceExample</a:t>
            </a:r>
            <a:r>
              <a:rPr lang="en-US" dirty="0" smtClean="0"/>
              <a:t>  </a:t>
            </a:r>
            <a:r>
              <a:rPr lang="en-US" dirty="0" err="1" smtClean="0"/>
              <a:t>obj</a:t>
            </a:r>
            <a:r>
              <a:rPr lang="en-US" dirty="0" smtClean="0"/>
              <a:t> = new  Demo();</a:t>
            </a:r>
          </a:p>
          <a:p>
            <a:pPr>
              <a:buNone/>
            </a:pPr>
            <a:r>
              <a:rPr lang="en-US" dirty="0" err="1" smtClean="0"/>
              <a:t>obj.print</a:t>
            </a:r>
            <a:r>
              <a:rPr lang="en-US" dirty="0" smtClean="0"/>
              <a:t>();</a:t>
            </a:r>
          </a:p>
          <a:p>
            <a:pPr>
              <a:buNone/>
            </a:pPr>
            <a:r>
              <a:rPr lang="en-US" dirty="0" smtClean="0"/>
              <a:t> }</a:t>
            </a:r>
          </a:p>
          <a:p>
            <a:pPr>
              <a:buNone/>
            </a:pPr>
            <a:r>
              <a:rPr lang="en-US" dirty="0" smtClean="0"/>
              <a:t>}</a:t>
            </a:r>
          </a:p>
          <a:p>
            <a:pPr>
              <a:buNone/>
            </a:pPr>
            <a:r>
              <a:rPr lang="en-US" dirty="0" smtClean="0"/>
              <a:t>o/p:Hello</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u="sng" dirty="0" smtClean="0">
                <a:solidFill>
                  <a:srgbClr val="FF0066"/>
                </a:solidFill>
              </a:rPr>
              <a:t>Multiple inheritance in Java by interface</a:t>
            </a:r>
            <a:br>
              <a:rPr lang="en-US" sz="2400" b="1" u="sng" dirty="0" smtClean="0">
                <a:solidFill>
                  <a:srgbClr val="FF0066"/>
                </a:solidFill>
              </a:rPr>
            </a:br>
            <a:endParaRPr lang="en-US" sz="2400" u="sng" dirty="0">
              <a:solidFill>
                <a:srgbClr val="FF0066"/>
              </a:solidFill>
            </a:endParaRPr>
          </a:p>
        </p:txBody>
      </p:sp>
      <p:sp>
        <p:nvSpPr>
          <p:cNvPr id="3" name="Content Placeholder 2"/>
          <p:cNvSpPr>
            <a:spLocks noGrp="1"/>
          </p:cNvSpPr>
          <p:nvPr>
            <p:ph idx="1"/>
          </p:nvPr>
        </p:nvSpPr>
        <p:spPr/>
        <p:txBody>
          <a:bodyPr/>
          <a:lstStyle/>
          <a:p>
            <a:r>
              <a:rPr lang="en-US" dirty="0" smtClean="0"/>
              <a:t>If a class implements multiple interfaces, or an interface extends multiple interfaces, it is known as multiple inheritance.</a:t>
            </a:r>
          </a:p>
          <a:p>
            <a:endParaRPr lang="en-US" dirty="0"/>
          </a:p>
        </p:txBody>
      </p:sp>
      <p:pic>
        <p:nvPicPr>
          <p:cNvPr id="4" name="Content Placeholder 3" descr="Capture.PNG"/>
          <p:cNvPicPr>
            <a:picLocks noChangeAspect="1"/>
          </p:cNvPicPr>
          <p:nvPr/>
        </p:nvPicPr>
        <p:blipFill>
          <a:blip r:embed="rId2"/>
          <a:stretch>
            <a:fillRect/>
          </a:stretch>
        </p:blipFill>
        <p:spPr>
          <a:xfrm>
            <a:off x="228600" y="3352800"/>
            <a:ext cx="8686800" cy="31242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a:xfrm>
            <a:off x="457200" y="304800"/>
            <a:ext cx="8229600" cy="6248400"/>
          </a:xfrm>
        </p:spPr>
        <p:txBody>
          <a:bodyPr>
            <a:normAutofit fontScale="70000" lnSpcReduction="20000"/>
          </a:bodyPr>
          <a:lstStyle/>
          <a:p>
            <a:pPr>
              <a:buNone/>
            </a:pPr>
            <a:r>
              <a:rPr lang="en-US" dirty="0" smtClean="0"/>
              <a:t>interface    A{  </a:t>
            </a:r>
          </a:p>
          <a:p>
            <a:pPr>
              <a:buNone/>
            </a:pPr>
            <a:r>
              <a:rPr lang="en-US" dirty="0" smtClean="0"/>
              <a:t>            void print();  </a:t>
            </a:r>
          </a:p>
          <a:p>
            <a:pPr>
              <a:buNone/>
            </a:pPr>
            <a:r>
              <a:rPr lang="en-US" dirty="0" smtClean="0"/>
              <a:t>}  </a:t>
            </a:r>
          </a:p>
          <a:p>
            <a:pPr>
              <a:buNone/>
            </a:pPr>
            <a:r>
              <a:rPr lang="en-US" dirty="0" smtClean="0"/>
              <a:t>interface     B{  </a:t>
            </a:r>
          </a:p>
          <a:p>
            <a:pPr>
              <a:buNone/>
            </a:pPr>
            <a:r>
              <a:rPr lang="en-US" dirty="0" smtClean="0"/>
              <a:t>            void show();  </a:t>
            </a:r>
          </a:p>
          <a:p>
            <a:pPr>
              <a:buNone/>
            </a:pPr>
            <a:r>
              <a:rPr lang="en-US" dirty="0" smtClean="0"/>
              <a:t>}  </a:t>
            </a:r>
          </a:p>
          <a:p>
            <a:pPr>
              <a:buNone/>
            </a:pPr>
            <a:r>
              <a:rPr lang="en-US" dirty="0" smtClean="0"/>
              <a:t>class  Demo   implements   A,B{  </a:t>
            </a:r>
          </a:p>
          <a:p>
            <a:pPr>
              <a:buNone/>
            </a:pPr>
            <a:r>
              <a:rPr lang="en-US" dirty="0" smtClean="0"/>
              <a:t>public void print(){    </a:t>
            </a:r>
            <a:r>
              <a:rPr lang="en-US" dirty="0" err="1" smtClean="0"/>
              <a:t>System.out.println</a:t>
            </a:r>
            <a:r>
              <a:rPr lang="en-US" dirty="0" smtClean="0"/>
              <a:t>("Hello");        }  </a:t>
            </a:r>
          </a:p>
          <a:p>
            <a:pPr>
              <a:buNone/>
            </a:pPr>
            <a:r>
              <a:rPr lang="en-US" dirty="0" smtClean="0"/>
              <a:t>public void show(){      </a:t>
            </a:r>
            <a:r>
              <a:rPr lang="en-US" dirty="0" err="1" smtClean="0"/>
              <a:t>System.out.println</a:t>
            </a:r>
            <a:r>
              <a:rPr lang="en-US" dirty="0" smtClean="0"/>
              <a:t>("Welcome"); }  </a:t>
            </a:r>
          </a:p>
          <a:p>
            <a:pPr>
              <a:buNone/>
            </a:pPr>
            <a:r>
              <a:rPr lang="en-US" dirty="0" smtClean="0"/>
              <a:t>  public static void main(String </a:t>
            </a:r>
            <a:r>
              <a:rPr lang="en-US" dirty="0" err="1" smtClean="0"/>
              <a:t>args</a:t>
            </a:r>
            <a:r>
              <a:rPr lang="en-US" dirty="0" smtClean="0"/>
              <a:t>[]){  </a:t>
            </a:r>
          </a:p>
          <a:p>
            <a:pPr>
              <a:buNone/>
            </a:pPr>
            <a:r>
              <a:rPr lang="en-US" dirty="0" smtClean="0"/>
              <a:t>Demo </a:t>
            </a:r>
            <a:r>
              <a:rPr lang="en-US" dirty="0" err="1" smtClean="0"/>
              <a:t>obj</a:t>
            </a:r>
            <a:r>
              <a:rPr lang="en-US" dirty="0" smtClean="0"/>
              <a:t> = new Demo();  </a:t>
            </a:r>
          </a:p>
          <a:p>
            <a:pPr>
              <a:buNone/>
            </a:pPr>
            <a:r>
              <a:rPr lang="en-US" dirty="0" err="1" smtClean="0"/>
              <a:t>obj.print</a:t>
            </a:r>
            <a:r>
              <a:rPr lang="en-US" dirty="0" smtClean="0"/>
              <a:t>();  </a:t>
            </a:r>
          </a:p>
          <a:p>
            <a:pPr>
              <a:buNone/>
            </a:pPr>
            <a:r>
              <a:rPr lang="en-US" dirty="0" err="1" smtClean="0"/>
              <a:t>obj.show</a:t>
            </a:r>
            <a:r>
              <a:rPr lang="en-US" dirty="0" smtClean="0"/>
              <a:t>();  </a:t>
            </a:r>
          </a:p>
          <a:p>
            <a:pPr>
              <a:buNone/>
            </a:pPr>
            <a:r>
              <a:rPr lang="en-US" dirty="0" smtClean="0"/>
              <a:t> }  </a:t>
            </a:r>
          </a:p>
          <a:p>
            <a:pPr>
              <a:buNone/>
            </a:pPr>
            <a:r>
              <a:rPr lang="en-US" dirty="0" smtClean="0"/>
              <a:t>}  </a:t>
            </a:r>
          </a:p>
          <a:p>
            <a:pPr>
              <a:buNone/>
            </a:pPr>
            <a:r>
              <a:rPr lang="en-US" dirty="0" smtClean="0"/>
              <a:t>o/p:Hello</a:t>
            </a:r>
          </a:p>
          <a:p>
            <a:pPr>
              <a:buNone/>
            </a:pPr>
            <a:r>
              <a:rPr lang="en-US" dirty="0" smtClean="0"/>
              <a:t>Welcome</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800" b="1" u="sng" dirty="0" smtClean="0">
                <a:solidFill>
                  <a:srgbClr val="FF0066"/>
                </a:solidFill>
              </a:rPr>
              <a:t>Interface inheritance</a:t>
            </a:r>
            <a:br>
              <a:rPr lang="en-US" sz="2800" b="1" u="sng" dirty="0" smtClean="0">
                <a:solidFill>
                  <a:srgbClr val="FF0066"/>
                </a:solidFill>
              </a:rPr>
            </a:br>
            <a:endParaRPr lang="en-US" sz="2800" u="sng" dirty="0">
              <a:solidFill>
                <a:srgbClr val="FF0066"/>
              </a:solidFill>
            </a:endParaRPr>
          </a:p>
        </p:txBody>
      </p:sp>
      <p:sp>
        <p:nvSpPr>
          <p:cNvPr id="3" name="Content Placeholder 2"/>
          <p:cNvSpPr>
            <a:spLocks noGrp="1"/>
          </p:cNvSpPr>
          <p:nvPr>
            <p:ph idx="1"/>
          </p:nvPr>
        </p:nvSpPr>
        <p:spPr>
          <a:xfrm>
            <a:off x="457200" y="609600"/>
            <a:ext cx="8229600" cy="6019800"/>
          </a:xfrm>
        </p:spPr>
        <p:txBody>
          <a:bodyPr>
            <a:normAutofit fontScale="70000" lnSpcReduction="20000"/>
          </a:bodyPr>
          <a:lstStyle/>
          <a:p>
            <a:pPr>
              <a:buNone/>
            </a:pPr>
            <a:r>
              <a:rPr lang="en-US" dirty="0" smtClean="0"/>
              <a:t>//A class implements an interface, but one interface extends another interface.</a:t>
            </a:r>
          </a:p>
          <a:p>
            <a:pPr>
              <a:buNone/>
            </a:pPr>
            <a:r>
              <a:rPr lang="en-US" dirty="0" smtClean="0"/>
              <a:t>interface  A{  </a:t>
            </a:r>
          </a:p>
          <a:p>
            <a:pPr>
              <a:buNone/>
            </a:pPr>
            <a:r>
              <a:rPr lang="en-US" dirty="0" smtClean="0"/>
              <a:t>void print();  </a:t>
            </a:r>
          </a:p>
          <a:p>
            <a:pPr>
              <a:buNone/>
            </a:pPr>
            <a:r>
              <a:rPr lang="en-US" dirty="0" smtClean="0"/>
              <a:t>}  </a:t>
            </a:r>
          </a:p>
          <a:p>
            <a:pPr>
              <a:buNone/>
            </a:pPr>
            <a:r>
              <a:rPr lang="en-US" dirty="0" smtClean="0"/>
              <a:t>interface B </a:t>
            </a:r>
            <a:r>
              <a:rPr lang="en-US" b="1" dirty="0" smtClean="0"/>
              <a:t>extends</a:t>
            </a:r>
            <a:r>
              <a:rPr lang="en-US" dirty="0" smtClean="0"/>
              <a:t> A{  </a:t>
            </a:r>
          </a:p>
          <a:p>
            <a:pPr>
              <a:buNone/>
            </a:pPr>
            <a:r>
              <a:rPr lang="en-US" dirty="0" smtClean="0"/>
              <a:t>void show();  </a:t>
            </a:r>
          </a:p>
          <a:p>
            <a:pPr>
              <a:buNone/>
            </a:pPr>
            <a:r>
              <a:rPr lang="en-US" dirty="0" smtClean="0"/>
              <a:t>}  </a:t>
            </a:r>
          </a:p>
          <a:p>
            <a:pPr>
              <a:buNone/>
            </a:pPr>
            <a:r>
              <a:rPr lang="en-US" dirty="0" smtClean="0"/>
              <a:t>class Demo </a:t>
            </a:r>
            <a:r>
              <a:rPr lang="en-US" b="1" dirty="0" smtClean="0"/>
              <a:t>implements</a:t>
            </a:r>
            <a:r>
              <a:rPr lang="en-US" dirty="0" smtClean="0"/>
              <a:t> B{  </a:t>
            </a:r>
          </a:p>
          <a:p>
            <a:pPr>
              <a:buNone/>
            </a:pPr>
            <a:r>
              <a:rPr lang="en-US" dirty="0" smtClean="0"/>
              <a:t>public void print(){</a:t>
            </a:r>
            <a:r>
              <a:rPr lang="en-US" dirty="0" err="1" smtClean="0"/>
              <a:t>System.out.println</a:t>
            </a:r>
            <a:r>
              <a:rPr lang="en-US" dirty="0" smtClean="0"/>
              <a:t>("Hello");}  </a:t>
            </a:r>
          </a:p>
          <a:p>
            <a:pPr>
              <a:buNone/>
            </a:pPr>
            <a:r>
              <a:rPr lang="en-US" dirty="0" smtClean="0"/>
              <a:t>public void show(){</a:t>
            </a:r>
            <a:r>
              <a:rPr lang="en-US" dirty="0" err="1" smtClean="0"/>
              <a:t>System.out.println</a:t>
            </a:r>
            <a:r>
              <a:rPr lang="en-US" dirty="0" smtClean="0"/>
              <a:t>("Welcome");}  </a:t>
            </a:r>
          </a:p>
          <a:p>
            <a:pPr>
              <a:buNone/>
            </a:pPr>
            <a:r>
              <a:rPr lang="en-US" dirty="0" smtClean="0"/>
              <a:t>  </a:t>
            </a:r>
          </a:p>
          <a:p>
            <a:pPr>
              <a:buNone/>
            </a:pPr>
            <a:r>
              <a:rPr lang="en-US" dirty="0" smtClean="0"/>
              <a:t>public static void main(String </a:t>
            </a:r>
            <a:r>
              <a:rPr lang="en-US" dirty="0" err="1" smtClean="0"/>
              <a:t>args</a:t>
            </a:r>
            <a:r>
              <a:rPr lang="en-US" dirty="0" smtClean="0"/>
              <a:t>[]){  </a:t>
            </a:r>
          </a:p>
          <a:p>
            <a:pPr>
              <a:buNone/>
            </a:pPr>
            <a:r>
              <a:rPr lang="en-US" dirty="0" smtClean="0"/>
              <a:t>Demo </a:t>
            </a:r>
            <a:r>
              <a:rPr lang="en-US" dirty="0" err="1" smtClean="0"/>
              <a:t>obj</a:t>
            </a:r>
            <a:r>
              <a:rPr lang="en-US" dirty="0" smtClean="0"/>
              <a:t> = new Demo();  </a:t>
            </a:r>
          </a:p>
          <a:p>
            <a:pPr>
              <a:buNone/>
            </a:pPr>
            <a:r>
              <a:rPr lang="en-US" dirty="0" err="1" smtClean="0"/>
              <a:t>obj.print</a:t>
            </a:r>
            <a:r>
              <a:rPr lang="en-US" dirty="0" smtClean="0"/>
              <a:t>();  </a:t>
            </a:r>
          </a:p>
          <a:p>
            <a:pPr>
              <a:buNone/>
            </a:pPr>
            <a:r>
              <a:rPr lang="en-US" dirty="0" err="1" smtClean="0"/>
              <a:t>obj.show</a:t>
            </a:r>
            <a:r>
              <a:rPr lang="en-US" dirty="0" smtClean="0"/>
              <a:t>();  </a:t>
            </a:r>
          </a:p>
          <a:p>
            <a:pPr>
              <a:buNone/>
            </a:pPr>
            <a:r>
              <a:rPr lang="en-US" dirty="0" smtClean="0"/>
              <a:t> }  </a:t>
            </a:r>
          </a:p>
          <a:p>
            <a:pPr>
              <a:buNone/>
            </a:pPr>
            <a:r>
              <a:rPr lang="en-US" dirty="0" smtClean="0"/>
              <a:t>}  </a:t>
            </a:r>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304800"/>
          </a:xfrm>
        </p:spPr>
        <p:txBody>
          <a:bodyPr>
            <a:normAutofit fontScale="90000"/>
          </a:bodyPr>
          <a:lstStyle/>
          <a:p>
            <a:r>
              <a:rPr lang="en-US" sz="2700" b="1" u="sng" dirty="0" smtClean="0">
                <a:solidFill>
                  <a:srgbClr val="FF0000"/>
                </a:solidFill>
              </a:rPr>
              <a:t>Static  and default method  in Interface</a:t>
            </a:r>
            <a:r>
              <a:rPr lang="en-US" b="1" dirty="0" smtClean="0"/>
              <a:t/>
            </a:r>
            <a:br>
              <a:rPr lang="en-US" b="1" dirty="0" smtClean="0"/>
            </a:br>
            <a:endParaRPr lang="en-US" dirty="0"/>
          </a:p>
        </p:txBody>
      </p:sp>
      <p:sp>
        <p:nvSpPr>
          <p:cNvPr id="3" name="Content Placeholder 2"/>
          <p:cNvSpPr>
            <a:spLocks noGrp="1"/>
          </p:cNvSpPr>
          <p:nvPr>
            <p:ph idx="1"/>
          </p:nvPr>
        </p:nvSpPr>
        <p:spPr>
          <a:xfrm>
            <a:off x="457200" y="685800"/>
            <a:ext cx="8229600" cy="5867400"/>
          </a:xfrm>
        </p:spPr>
        <p:txBody>
          <a:bodyPr>
            <a:normAutofit fontScale="77500" lnSpcReduction="20000"/>
          </a:bodyPr>
          <a:lstStyle/>
          <a:p>
            <a:pPr>
              <a:buNone/>
            </a:pPr>
            <a:r>
              <a:rPr lang="en-US" dirty="0" smtClean="0"/>
              <a:t>interface </a:t>
            </a:r>
            <a:r>
              <a:rPr lang="en-US" dirty="0" err="1" smtClean="0"/>
              <a:t>Drawable</a:t>
            </a:r>
            <a:r>
              <a:rPr lang="en-US" dirty="0" smtClean="0"/>
              <a:t>{  </a:t>
            </a:r>
          </a:p>
          <a:p>
            <a:pPr>
              <a:buNone/>
            </a:pPr>
            <a:r>
              <a:rPr lang="en-US" dirty="0" smtClean="0"/>
              <a:t>void draw();  </a:t>
            </a:r>
          </a:p>
          <a:p>
            <a:pPr>
              <a:buNone/>
            </a:pPr>
            <a:r>
              <a:rPr lang="en-US" dirty="0" smtClean="0"/>
              <a:t>default void </a:t>
            </a:r>
            <a:r>
              <a:rPr lang="en-US" dirty="0" err="1" smtClean="0"/>
              <a:t>msg</a:t>
            </a:r>
            <a:r>
              <a:rPr lang="en-US" dirty="0" smtClean="0"/>
              <a:t>(){</a:t>
            </a:r>
            <a:r>
              <a:rPr lang="en-US" dirty="0" err="1" smtClean="0"/>
              <a:t>System.out.println</a:t>
            </a:r>
            <a:r>
              <a:rPr lang="en-US" dirty="0" smtClean="0"/>
              <a:t>("default method");}  </a:t>
            </a:r>
          </a:p>
          <a:p>
            <a:pPr>
              <a:buNone/>
            </a:pPr>
            <a:r>
              <a:rPr lang="en-US" dirty="0" smtClean="0"/>
              <a:t>static </a:t>
            </a:r>
            <a:r>
              <a:rPr lang="en-US" dirty="0" err="1" smtClean="0"/>
              <a:t>int</a:t>
            </a:r>
            <a:r>
              <a:rPr lang="en-US" dirty="0" smtClean="0"/>
              <a:t> cube(</a:t>
            </a:r>
            <a:r>
              <a:rPr lang="en-US" dirty="0" err="1" smtClean="0"/>
              <a:t>int</a:t>
            </a:r>
            <a:r>
              <a:rPr lang="en-US" dirty="0" smtClean="0"/>
              <a:t> x){return x*x*x;}</a:t>
            </a:r>
          </a:p>
          <a:p>
            <a:pPr>
              <a:buNone/>
            </a:pPr>
            <a:r>
              <a:rPr lang="en-US" dirty="0" smtClean="0"/>
              <a:t>}  </a:t>
            </a:r>
          </a:p>
          <a:p>
            <a:pPr>
              <a:buNone/>
            </a:pPr>
            <a:r>
              <a:rPr lang="en-US" dirty="0" smtClean="0"/>
              <a:t>class Rectangle implements </a:t>
            </a:r>
            <a:r>
              <a:rPr lang="en-US" dirty="0" err="1" smtClean="0"/>
              <a:t>Drawable</a:t>
            </a:r>
            <a:r>
              <a:rPr lang="en-US" dirty="0" smtClean="0"/>
              <a:t>{  </a:t>
            </a:r>
          </a:p>
          <a:p>
            <a:pPr>
              <a:buNone/>
            </a:pPr>
            <a:r>
              <a:rPr lang="en-US" dirty="0" smtClean="0"/>
              <a:t>public void draw(){</a:t>
            </a:r>
            <a:r>
              <a:rPr lang="en-US" dirty="0" err="1" smtClean="0"/>
              <a:t>System.out.println</a:t>
            </a:r>
            <a:r>
              <a:rPr lang="en-US" dirty="0" smtClean="0"/>
              <a:t>("drawing rectangle");}  </a:t>
            </a:r>
          </a:p>
          <a:p>
            <a:pPr>
              <a:buNone/>
            </a:pPr>
            <a:r>
              <a:rPr lang="en-US" dirty="0" smtClean="0"/>
              <a:t>}  </a:t>
            </a:r>
          </a:p>
          <a:p>
            <a:pPr>
              <a:buNone/>
            </a:pPr>
            <a:r>
              <a:rPr lang="en-US" dirty="0" smtClean="0"/>
              <a:t>class </a:t>
            </a:r>
            <a:r>
              <a:rPr lang="en-US" dirty="0" err="1" smtClean="0"/>
              <a:t>TestInterfaceDefault</a:t>
            </a:r>
            <a:r>
              <a:rPr lang="en-US" dirty="0" smtClean="0"/>
              <a:t>{  </a:t>
            </a:r>
          </a:p>
          <a:p>
            <a:pPr>
              <a:buNone/>
            </a:pPr>
            <a:r>
              <a:rPr lang="en-US" dirty="0" smtClean="0"/>
              <a:t>public static void main(String </a:t>
            </a:r>
            <a:r>
              <a:rPr lang="en-US" dirty="0" err="1" smtClean="0"/>
              <a:t>args</a:t>
            </a:r>
            <a:r>
              <a:rPr lang="en-US" dirty="0" smtClean="0"/>
              <a:t>[]){  </a:t>
            </a:r>
          </a:p>
          <a:p>
            <a:pPr>
              <a:buNone/>
            </a:pPr>
            <a:r>
              <a:rPr lang="en-US" dirty="0" err="1" smtClean="0"/>
              <a:t>Drawable</a:t>
            </a:r>
            <a:r>
              <a:rPr lang="en-US" dirty="0" smtClean="0"/>
              <a:t> d=new Rectangle();  </a:t>
            </a:r>
          </a:p>
          <a:p>
            <a:pPr>
              <a:buNone/>
            </a:pPr>
            <a:r>
              <a:rPr lang="en-US" dirty="0" err="1" smtClean="0"/>
              <a:t>d.draw</a:t>
            </a:r>
            <a:r>
              <a:rPr lang="en-US" dirty="0" smtClean="0"/>
              <a:t>();  </a:t>
            </a:r>
          </a:p>
          <a:p>
            <a:pPr>
              <a:buNone/>
            </a:pPr>
            <a:r>
              <a:rPr lang="en-US" dirty="0" smtClean="0"/>
              <a:t>d.msg();  </a:t>
            </a:r>
          </a:p>
          <a:p>
            <a:pPr>
              <a:buNone/>
            </a:pPr>
            <a:r>
              <a:rPr lang="en-US" dirty="0" err="1" smtClean="0"/>
              <a:t>System.out.println</a:t>
            </a:r>
            <a:r>
              <a:rPr lang="en-US" dirty="0" smtClean="0"/>
              <a:t>(</a:t>
            </a:r>
            <a:r>
              <a:rPr lang="en-US" dirty="0" err="1" smtClean="0"/>
              <a:t>Drawable.cube</a:t>
            </a:r>
            <a:r>
              <a:rPr lang="en-US" dirty="0" smtClean="0"/>
              <a:t>(3)); </a:t>
            </a:r>
          </a:p>
          <a:p>
            <a:pPr>
              <a:buNone/>
            </a:pPr>
            <a:r>
              <a:rPr lang="en-US" dirty="0" smtClean="0"/>
              <a:t>}}  </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endParaRPr lang="en-US"/>
          </a:p>
        </p:txBody>
      </p:sp>
      <p:pic>
        <p:nvPicPr>
          <p:cNvPr id="13" name="Content Placeholder 12" descr="Capture.PNG"/>
          <p:cNvPicPr>
            <a:picLocks noGrp="1" noChangeAspect="1"/>
          </p:cNvPicPr>
          <p:nvPr>
            <p:ph idx="1"/>
          </p:nvPr>
        </p:nvPicPr>
        <p:blipFill>
          <a:blip r:embed="rId2"/>
          <a:stretch>
            <a:fillRect/>
          </a:stretch>
        </p:blipFill>
        <p:spPr>
          <a:xfrm>
            <a:off x="457200" y="381000"/>
            <a:ext cx="8382000" cy="6096000"/>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Capture1.PNG"/>
          <p:cNvPicPr>
            <a:picLocks noGrp="1" noChangeAspect="1"/>
          </p:cNvPicPr>
          <p:nvPr>
            <p:ph idx="1"/>
          </p:nvPr>
        </p:nvPicPr>
        <p:blipFill>
          <a:blip r:embed="rId2"/>
          <a:stretch>
            <a:fillRect/>
          </a:stretch>
        </p:blipFill>
        <p:spPr>
          <a:xfrm>
            <a:off x="228600" y="609600"/>
            <a:ext cx="8686800" cy="5334000"/>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solidFill>
                  <a:srgbClr val="0070C0"/>
                </a:solidFill>
              </a:rPr>
              <a:t>Package in Java</a:t>
            </a:r>
            <a:endParaRPr lang="en-US" u="sng" dirty="0">
              <a:solidFill>
                <a:srgbClr val="0070C0"/>
              </a:solidFill>
            </a:endParaRPr>
          </a:p>
        </p:txBody>
      </p:sp>
      <p:sp>
        <p:nvSpPr>
          <p:cNvPr id="3" name="Content Placeholder 2"/>
          <p:cNvSpPr>
            <a:spLocks noGrp="1"/>
          </p:cNvSpPr>
          <p:nvPr>
            <p:ph idx="1"/>
          </p:nvPr>
        </p:nvSpPr>
        <p:spPr>
          <a:xfrm>
            <a:off x="457200" y="1600200"/>
            <a:ext cx="8229600" cy="4876800"/>
          </a:xfrm>
        </p:spPr>
        <p:txBody>
          <a:bodyPr>
            <a:normAutofit fontScale="85000" lnSpcReduction="10000"/>
          </a:bodyPr>
          <a:lstStyle/>
          <a:p>
            <a:pPr algn="just">
              <a:buNone/>
            </a:pPr>
            <a:r>
              <a:rPr lang="en-US" b="1" u="sng" dirty="0" smtClean="0">
                <a:solidFill>
                  <a:srgbClr val="00B050"/>
                </a:solidFill>
                <a:latin typeface="Andalus" pitchFamily="18" charset="-78"/>
                <a:cs typeface="Andalus" pitchFamily="18" charset="-78"/>
              </a:rPr>
              <a:t>Introduction:</a:t>
            </a:r>
          </a:p>
          <a:p>
            <a:pPr algn="just"/>
            <a:r>
              <a:rPr lang="en-US" dirty="0" smtClean="0">
                <a:latin typeface="Andalus" pitchFamily="18" charset="-78"/>
                <a:cs typeface="Andalus" pitchFamily="18" charset="-78"/>
              </a:rPr>
              <a:t>In java, programmers can create several classes &amp;Interface. After creating these classes and interface, it</a:t>
            </a:r>
          </a:p>
          <a:p>
            <a:pPr algn="just">
              <a:buNone/>
            </a:pPr>
            <a:r>
              <a:rPr lang="en-US" dirty="0" smtClean="0">
                <a:latin typeface="Andalus" pitchFamily="18" charset="-78"/>
                <a:cs typeface="Andalus" pitchFamily="18" charset="-78"/>
              </a:rPr>
              <a:t>     is better if they are divided into some groups</a:t>
            </a:r>
          </a:p>
          <a:p>
            <a:pPr algn="just">
              <a:buNone/>
            </a:pPr>
            <a:r>
              <a:rPr lang="en-US" dirty="0" smtClean="0">
                <a:latin typeface="Andalus" pitchFamily="18" charset="-78"/>
                <a:cs typeface="Andalus" pitchFamily="18" charset="-78"/>
              </a:rPr>
              <a:t>     depending on their relationship. </a:t>
            </a:r>
          </a:p>
          <a:p>
            <a:pPr algn="just"/>
            <a:r>
              <a:rPr lang="en-US" dirty="0" smtClean="0">
                <a:latin typeface="Andalus" pitchFamily="18" charset="-78"/>
                <a:cs typeface="Andalus" pitchFamily="18" charset="-78"/>
              </a:rPr>
              <a:t>Thus, the classes and interface which handle similar or same task are put into the same directory or folder, which is also known as package.</a:t>
            </a:r>
          </a:p>
          <a:p>
            <a:pPr algn="just"/>
            <a:r>
              <a:rPr lang="en-US" dirty="0" smtClean="0">
                <a:latin typeface="Andalus" pitchFamily="18" charset="-78"/>
                <a:cs typeface="Andalus" pitchFamily="18" charset="-78"/>
              </a:rPr>
              <a:t>Packages act as “containers” for classes. A package</a:t>
            </a:r>
          </a:p>
          <a:p>
            <a:pPr algn="just">
              <a:buNone/>
            </a:pPr>
            <a:r>
              <a:rPr lang="en-US" dirty="0" smtClean="0">
                <a:latin typeface="Andalus" pitchFamily="18" charset="-78"/>
                <a:cs typeface="Andalus" pitchFamily="18" charset="-78"/>
              </a:rPr>
              <a:t>     represents a directory that contain related group of</a:t>
            </a:r>
          </a:p>
          <a:p>
            <a:pPr algn="just">
              <a:buNone/>
            </a:pPr>
            <a:r>
              <a:rPr lang="en-US" dirty="0" smtClean="0">
                <a:latin typeface="Andalus" pitchFamily="18" charset="-78"/>
                <a:cs typeface="Andalus" pitchFamily="18" charset="-78"/>
              </a:rPr>
              <a:t>      classes &amp; interface</a:t>
            </a:r>
            <a:endParaRPr lang="en-US" dirty="0">
              <a:latin typeface="Andalus" pitchFamily="18" charset="-78"/>
              <a:cs typeface="Andalus" pitchFamily="18" charset="-78"/>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0"/>
            <a:ext cx="8229600" cy="6629400"/>
          </a:xfrm>
        </p:spPr>
        <p:txBody>
          <a:bodyPr>
            <a:noAutofit/>
          </a:bodyPr>
          <a:lstStyle/>
          <a:p>
            <a:pPr>
              <a:lnSpc>
                <a:spcPct val="150000"/>
              </a:lnSpc>
            </a:pPr>
            <a:r>
              <a:rPr lang="en-US" sz="2400" dirty="0" smtClean="0">
                <a:latin typeface="Andalus" pitchFamily="18" charset="-78"/>
                <a:cs typeface="Andalus" pitchFamily="18" charset="-78"/>
              </a:rPr>
              <a:t>Packages are used in Java in order to prevent naming conflicts, to control access, to make searching/locating and usage of </a:t>
            </a:r>
            <a:r>
              <a:rPr lang="en-US" sz="2400" dirty="0" err="1" smtClean="0">
                <a:latin typeface="Andalus" pitchFamily="18" charset="-78"/>
                <a:cs typeface="Andalus" pitchFamily="18" charset="-78"/>
              </a:rPr>
              <a:t>classes,interfaces</a:t>
            </a:r>
            <a:r>
              <a:rPr lang="en-US" sz="2400" dirty="0" smtClean="0">
                <a:latin typeface="Andalus" pitchFamily="18" charset="-78"/>
                <a:cs typeface="Andalus" pitchFamily="18" charset="-78"/>
              </a:rPr>
              <a:t>, enumerations and annotations easier, etc.</a:t>
            </a:r>
          </a:p>
          <a:p>
            <a:pPr>
              <a:lnSpc>
                <a:spcPct val="150000"/>
              </a:lnSpc>
            </a:pPr>
            <a:r>
              <a:rPr lang="en-US" sz="2400" dirty="0" smtClean="0">
                <a:latin typeface="Andalus" pitchFamily="18" charset="-78"/>
                <a:cs typeface="Andalus" pitchFamily="18" charset="-78"/>
              </a:rPr>
              <a:t>A </a:t>
            </a:r>
            <a:r>
              <a:rPr lang="en-US" sz="2400" b="1" dirty="0" smtClean="0">
                <a:latin typeface="Andalus" pitchFamily="18" charset="-78"/>
                <a:cs typeface="Andalus" pitchFamily="18" charset="-78"/>
              </a:rPr>
              <a:t>package provides a mechanism for grouping a variety of similar types </a:t>
            </a:r>
            <a:r>
              <a:rPr lang="en-US" sz="2400" dirty="0" smtClean="0">
                <a:latin typeface="Andalus" pitchFamily="18" charset="-78"/>
                <a:cs typeface="Andalus" pitchFamily="18" charset="-78"/>
              </a:rPr>
              <a:t>of classes, interfaces and sub-packages.</a:t>
            </a:r>
          </a:p>
          <a:p>
            <a:pPr>
              <a:lnSpc>
                <a:spcPct val="150000"/>
              </a:lnSpc>
            </a:pPr>
            <a:r>
              <a:rPr lang="en-US" sz="2400" dirty="0" smtClean="0">
                <a:latin typeface="Andalus" pitchFamily="18" charset="-78"/>
                <a:cs typeface="Andalus" pitchFamily="18" charset="-78"/>
              </a:rPr>
              <a:t> Grouping is based on functionality.</a:t>
            </a:r>
          </a:p>
          <a:p>
            <a:pPr>
              <a:lnSpc>
                <a:spcPct val="150000"/>
              </a:lnSpc>
            </a:pPr>
            <a:r>
              <a:rPr lang="en-US" sz="2400" dirty="0" smtClean="0">
                <a:latin typeface="Andalus" pitchFamily="18" charset="-78"/>
                <a:cs typeface="Andalus" pitchFamily="18" charset="-78"/>
              </a:rPr>
              <a:t>Package names are dot separated, e.g., </a:t>
            </a:r>
            <a:r>
              <a:rPr lang="en-US" sz="2400" dirty="0" err="1" smtClean="0">
                <a:latin typeface="Andalus" pitchFamily="18" charset="-78"/>
                <a:cs typeface="Andalus" pitchFamily="18" charset="-78"/>
              </a:rPr>
              <a:t>java.lang</a:t>
            </a:r>
            <a:r>
              <a:rPr lang="en-US" sz="2400" dirty="0" smtClean="0">
                <a:latin typeface="Andalus" pitchFamily="18" charset="-78"/>
                <a:cs typeface="Andalus" pitchFamily="18" charset="-78"/>
              </a:rPr>
              <a:t>.</a:t>
            </a:r>
          </a:p>
          <a:p>
            <a:pPr>
              <a:lnSpc>
                <a:spcPct val="150000"/>
              </a:lnSpc>
            </a:pPr>
            <a:r>
              <a:rPr lang="en-US" sz="2400" dirty="0" smtClean="0">
                <a:latin typeface="Andalus" pitchFamily="18" charset="-78"/>
                <a:cs typeface="Andalus" pitchFamily="18" charset="-78"/>
              </a:rPr>
              <a:t>Resolving naming conflict of classes by prefixing the class name with a package name.</a:t>
            </a:r>
          </a:p>
          <a:p>
            <a:pPr>
              <a:lnSpc>
                <a:spcPct val="150000"/>
              </a:lnSpc>
            </a:pPr>
            <a:r>
              <a:rPr lang="en-US" sz="2400" dirty="0" smtClean="0">
                <a:latin typeface="Andalus" pitchFamily="18" charset="-78"/>
                <a:cs typeface="Andalus" pitchFamily="18" charset="-78"/>
              </a:rPr>
              <a:t> </a:t>
            </a:r>
            <a:r>
              <a:rPr lang="en-US" sz="2400" dirty="0" err="1" smtClean="0">
                <a:latin typeface="Andalus" pitchFamily="18" charset="-78"/>
                <a:cs typeface="Andalus" pitchFamily="18" charset="-78"/>
              </a:rPr>
              <a:t>com.zzz.Circle</a:t>
            </a:r>
            <a:r>
              <a:rPr lang="en-US" sz="2400" dirty="0" smtClean="0">
                <a:latin typeface="Andalus" pitchFamily="18" charset="-78"/>
                <a:cs typeface="Andalus" pitchFamily="18" charset="-78"/>
              </a:rPr>
              <a:t> and </a:t>
            </a:r>
            <a:r>
              <a:rPr lang="en-US" sz="2400" dirty="0" err="1" smtClean="0">
                <a:latin typeface="Andalus" pitchFamily="18" charset="-78"/>
                <a:cs typeface="Andalus" pitchFamily="18" charset="-78"/>
              </a:rPr>
              <a:t>com.yyy.Circle</a:t>
            </a:r>
            <a:r>
              <a:rPr lang="en-US" sz="2400" dirty="0" smtClean="0">
                <a:latin typeface="Andalus" pitchFamily="18" charset="-78"/>
                <a:cs typeface="Andalus" pitchFamily="18" charset="-78"/>
              </a:rPr>
              <a:t> are two distinct classes</a:t>
            </a:r>
            <a:endParaRPr lang="en-US" sz="2400" dirty="0">
              <a:latin typeface="Andalus" pitchFamily="18" charset="-78"/>
              <a:cs typeface="Andalus" pitchFamily="18" charset="-78"/>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solidFill>
                  <a:srgbClr val="00B050"/>
                </a:solidFill>
                <a:latin typeface="Andalus" pitchFamily="18" charset="-78"/>
                <a:cs typeface="Andalus" pitchFamily="18" charset="-78"/>
              </a:rPr>
              <a:t>Advantage of Java Package</a:t>
            </a:r>
          </a:p>
          <a:p>
            <a:r>
              <a:rPr lang="en-US" dirty="0" smtClean="0">
                <a:latin typeface="Andalus" pitchFamily="18" charset="-78"/>
                <a:cs typeface="Andalus" pitchFamily="18" charset="-78"/>
              </a:rPr>
              <a:t>1) Java package is used to categorize the classes and interfaces so that they can be easily maintained.</a:t>
            </a:r>
          </a:p>
          <a:p>
            <a:r>
              <a:rPr lang="en-US" dirty="0" smtClean="0">
                <a:latin typeface="Andalus" pitchFamily="18" charset="-78"/>
                <a:cs typeface="Andalus" pitchFamily="18" charset="-78"/>
              </a:rPr>
              <a:t>2) Java package provides access protection.</a:t>
            </a:r>
          </a:p>
          <a:p>
            <a:r>
              <a:rPr lang="en-US" dirty="0" smtClean="0">
                <a:latin typeface="Andalus" pitchFamily="18" charset="-78"/>
                <a:cs typeface="Andalus" pitchFamily="18" charset="-78"/>
              </a:rPr>
              <a:t>3) Java package removes naming collision.</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u="sng" dirty="0" smtClean="0">
                <a:solidFill>
                  <a:srgbClr val="00B050"/>
                </a:solidFill>
              </a:rPr>
              <a:t>TYPES OF PACKAGES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dirty="0" smtClean="0">
                <a:latin typeface="Andalus" pitchFamily="18" charset="-78"/>
                <a:cs typeface="Andalus" pitchFamily="18" charset="-78"/>
              </a:rPr>
              <a:t>There are basically  2 types of java packages.</a:t>
            </a:r>
          </a:p>
          <a:p>
            <a:pPr>
              <a:buNone/>
            </a:pPr>
            <a:r>
              <a:rPr lang="en-US" dirty="0" smtClean="0">
                <a:latin typeface="Andalus" pitchFamily="18" charset="-78"/>
                <a:cs typeface="Andalus" pitchFamily="18" charset="-78"/>
              </a:rPr>
              <a:t>They are as follow :</a:t>
            </a:r>
          </a:p>
          <a:p>
            <a:pPr marL="571500" indent="-571500">
              <a:buFont typeface="+mj-lt"/>
              <a:buAutoNum type="romanUcPeriod"/>
            </a:pPr>
            <a:r>
              <a:rPr lang="en-US" dirty="0" smtClean="0">
                <a:solidFill>
                  <a:srgbClr val="FF0066"/>
                </a:solidFill>
                <a:latin typeface="Andalus" pitchFamily="18" charset="-78"/>
                <a:cs typeface="Andalus" pitchFamily="18" charset="-78"/>
              </a:rPr>
              <a:t> </a:t>
            </a:r>
            <a:r>
              <a:rPr lang="en-US" b="1" dirty="0" smtClean="0">
                <a:solidFill>
                  <a:srgbClr val="FF0066"/>
                </a:solidFill>
                <a:latin typeface="Andalus" pitchFamily="18" charset="-78"/>
                <a:cs typeface="Andalus" pitchFamily="18" charset="-78"/>
              </a:rPr>
              <a:t>System Packages or Java API</a:t>
            </a:r>
          </a:p>
          <a:p>
            <a:pPr marL="571500" indent="-571500">
              <a:buFont typeface="+mj-lt"/>
              <a:buAutoNum type="romanUcPeriod"/>
            </a:pPr>
            <a:r>
              <a:rPr lang="en-US" b="1" dirty="0" smtClean="0">
                <a:solidFill>
                  <a:srgbClr val="FF0066"/>
                </a:solidFill>
                <a:latin typeface="Andalus" pitchFamily="18" charset="-78"/>
                <a:cs typeface="Andalus" pitchFamily="18" charset="-78"/>
              </a:rPr>
              <a:t>User Defined Packages.</a:t>
            </a:r>
            <a:endParaRPr lang="en-US" dirty="0">
              <a:solidFill>
                <a:srgbClr val="FF0066"/>
              </a:solidFill>
              <a:latin typeface="Andalus" pitchFamily="18" charset="-78"/>
              <a:cs typeface="Andalus" pitchFamily="18" charset="-78"/>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u="sng" dirty="0" smtClean="0">
                <a:solidFill>
                  <a:srgbClr val="FF0066"/>
                </a:solidFill>
              </a:rPr>
              <a:t>SYSTEM PACKAGES /JAVA API</a:t>
            </a:r>
            <a:endParaRPr lang="en-US" sz="2400" u="sng" dirty="0">
              <a:solidFill>
                <a:srgbClr val="FF0066"/>
              </a:solidFill>
            </a:endParaRPr>
          </a:p>
        </p:txBody>
      </p:sp>
      <p:sp>
        <p:nvSpPr>
          <p:cNvPr id="3" name="Content Placeholder 2"/>
          <p:cNvSpPr>
            <a:spLocks noGrp="1"/>
          </p:cNvSpPr>
          <p:nvPr>
            <p:ph idx="1"/>
          </p:nvPr>
        </p:nvSpPr>
        <p:spPr>
          <a:xfrm>
            <a:off x="228600" y="1600200"/>
            <a:ext cx="8915400" cy="4525963"/>
          </a:xfrm>
        </p:spPr>
        <p:txBody>
          <a:bodyPr>
            <a:normAutofit fontScale="92500" lnSpcReduction="20000"/>
          </a:bodyPr>
          <a:lstStyle/>
          <a:p>
            <a:r>
              <a:rPr lang="en-US" dirty="0" smtClean="0">
                <a:latin typeface="Andalus" pitchFamily="18" charset="-78"/>
                <a:cs typeface="Andalus" pitchFamily="18" charset="-78"/>
              </a:rPr>
              <a:t>As there are built in methods , java also provides inbuilt packages which contain lots of classes and interfaces. </a:t>
            </a:r>
          </a:p>
          <a:p>
            <a:r>
              <a:rPr lang="en-US" dirty="0" smtClean="0">
                <a:latin typeface="Andalus" pitchFamily="18" charset="-78"/>
                <a:cs typeface="Andalus" pitchFamily="18" charset="-78"/>
              </a:rPr>
              <a:t>These classes inside the packages are already defined &amp; we can use them by importing relevant package in our program</a:t>
            </a:r>
          </a:p>
          <a:p>
            <a:r>
              <a:rPr lang="en-US" dirty="0" smtClean="0">
                <a:latin typeface="Andalus" pitchFamily="18" charset="-78"/>
                <a:cs typeface="Andalus" pitchFamily="18" charset="-78"/>
              </a:rPr>
              <a:t>Java has an extensive library of packages, a programmer need not think about logic for doing any</a:t>
            </a:r>
          </a:p>
          <a:p>
            <a:pPr>
              <a:buNone/>
            </a:pPr>
            <a:r>
              <a:rPr lang="en-US" dirty="0" smtClean="0">
                <a:latin typeface="Andalus" pitchFamily="18" charset="-78"/>
                <a:cs typeface="Andalus" pitchFamily="18" charset="-78"/>
              </a:rPr>
              <a:t>    task. For everything, there are the methods available</a:t>
            </a:r>
          </a:p>
          <a:p>
            <a:pPr>
              <a:buNone/>
            </a:pPr>
            <a:r>
              <a:rPr lang="en-US" dirty="0" smtClean="0">
                <a:latin typeface="Andalus" pitchFamily="18" charset="-78"/>
                <a:cs typeface="Andalus" pitchFamily="18" charset="-78"/>
              </a:rPr>
              <a:t>    in java</a:t>
            </a:r>
            <a:endParaRPr lang="en-US" dirty="0">
              <a:latin typeface="Andalus" pitchFamily="18" charset="-78"/>
              <a:cs typeface="Andalus" pitchFamily="18" charset="-78"/>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package in java.png"/>
          <p:cNvPicPr>
            <a:picLocks noGrp="1" noChangeAspect="1"/>
          </p:cNvPicPr>
          <p:nvPr>
            <p:ph idx="1"/>
          </p:nvPr>
        </p:nvPicPr>
        <p:blipFill>
          <a:blip r:embed="rId2"/>
          <a:stretch>
            <a:fillRect/>
          </a:stretch>
        </p:blipFill>
        <p:spPr>
          <a:xfrm>
            <a:off x="0" y="533400"/>
            <a:ext cx="9144000" cy="5638800"/>
          </a:xfrm>
        </p:spPr>
      </p:pic>
      <p:sp>
        <p:nvSpPr>
          <p:cNvPr id="5" name="Rectangle 4"/>
          <p:cNvSpPr/>
          <p:nvPr/>
        </p:nvSpPr>
        <p:spPr>
          <a:xfrm>
            <a:off x="5181600" y="1371600"/>
            <a:ext cx="2514600" cy="381000"/>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5821363"/>
          </a:xfrm>
        </p:spPr>
        <p:txBody>
          <a:bodyPr>
            <a:normAutofit lnSpcReduction="10000"/>
          </a:bodyPr>
          <a:lstStyle/>
          <a:p>
            <a:r>
              <a:rPr lang="en-US" dirty="0" err="1" smtClean="0">
                <a:latin typeface="Andalus" pitchFamily="18" charset="-78"/>
                <a:cs typeface="Andalus" pitchFamily="18" charset="-78"/>
              </a:rPr>
              <a:t>java.lang</a:t>
            </a:r>
            <a:r>
              <a:rPr lang="en-US" dirty="0" smtClean="0">
                <a:latin typeface="Andalus" pitchFamily="18" charset="-78"/>
                <a:cs typeface="Andalus" pitchFamily="18" charset="-78"/>
              </a:rPr>
              <a:t> - Contains classes for primitive types, strings, </a:t>
            </a:r>
            <a:r>
              <a:rPr lang="en-US" dirty="0" err="1" smtClean="0">
                <a:latin typeface="Andalus" pitchFamily="18" charset="-78"/>
                <a:cs typeface="Andalus" pitchFamily="18" charset="-78"/>
              </a:rPr>
              <a:t>mathfunctions</a:t>
            </a:r>
            <a:r>
              <a:rPr lang="en-US" dirty="0" smtClean="0">
                <a:latin typeface="Andalus" pitchFamily="18" charset="-78"/>
                <a:cs typeface="Andalus" pitchFamily="18" charset="-78"/>
              </a:rPr>
              <a:t>, threads, and exception</a:t>
            </a:r>
          </a:p>
          <a:p>
            <a:r>
              <a:rPr lang="en-US" dirty="0" smtClean="0">
                <a:latin typeface="Andalus" pitchFamily="18" charset="-78"/>
                <a:cs typeface="Andalus" pitchFamily="18" charset="-78"/>
              </a:rPr>
              <a:t> </a:t>
            </a:r>
            <a:r>
              <a:rPr lang="en-US" dirty="0" err="1" smtClean="0">
                <a:latin typeface="Andalus" pitchFamily="18" charset="-78"/>
                <a:cs typeface="Andalus" pitchFamily="18" charset="-78"/>
              </a:rPr>
              <a:t>java.util</a:t>
            </a:r>
            <a:r>
              <a:rPr lang="en-US" dirty="0" smtClean="0">
                <a:latin typeface="Andalus" pitchFamily="18" charset="-78"/>
                <a:cs typeface="Andalus" pitchFamily="18" charset="-78"/>
              </a:rPr>
              <a:t> - Contains classes such as vectors, hash tables, date etc.</a:t>
            </a:r>
          </a:p>
          <a:p>
            <a:r>
              <a:rPr lang="pt-BR" dirty="0" smtClean="0">
                <a:latin typeface="Andalus" pitchFamily="18" charset="-78"/>
                <a:cs typeface="Andalus" pitchFamily="18" charset="-78"/>
              </a:rPr>
              <a:t>java.io - Stream classes for I/O</a:t>
            </a:r>
          </a:p>
          <a:p>
            <a:r>
              <a:rPr lang="en-US" dirty="0" smtClean="0">
                <a:latin typeface="Andalus" pitchFamily="18" charset="-78"/>
                <a:cs typeface="Andalus" pitchFamily="18" charset="-78"/>
              </a:rPr>
              <a:t>java.awt - Classes for implementing GUI – windows, </a:t>
            </a:r>
            <a:r>
              <a:rPr lang="en-US" dirty="0" err="1" smtClean="0">
                <a:latin typeface="Andalus" pitchFamily="18" charset="-78"/>
                <a:cs typeface="Andalus" pitchFamily="18" charset="-78"/>
              </a:rPr>
              <a:t>buttons,menus</a:t>
            </a:r>
            <a:r>
              <a:rPr lang="en-US" dirty="0" smtClean="0">
                <a:latin typeface="Andalus" pitchFamily="18" charset="-78"/>
                <a:cs typeface="Andalus" pitchFamily="18" charset="-78"/>
              </a:rPr>
              <a:t> etc.</a:t>
            </a:r>
          </a:p>
          <a:p>
            <a:r>
              <a:rPr lang="en-US" dirty="0" smtClean="0">
                <a:latin typeface="Andalus" pitchFamily="18" charset="-78"/>
                <a:cs typeface="Andalus" pitchFamily="18" charset="-78"/>
              </a:rPr>
              <a:t> java.net - Classes for networking</a:t>
            </a:r>
          </a:p>
          <a:p>
            <a:r>
              <a:rPr lang="en-US" dirty="0" smtClean="0">
                <a:latin typeface="Andalus" pitchFamily="18" charset="-78"/>
                <a:cs typeface="Andalus" pitchFamily="18" charset="-78"/>
              </a:rPr>
              <a:t> java. Applet - Classes for creating and implementing applets</a:t>
            </a:r>
            <a:endParaRPr lang="en-US" dirty="0">
              <a:latin typeface="Andalus" pitchFamily="18" charset="-78"/>
              <a:cs typeface="Andalus" pitchFamily="18" charset="-78"/>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a:bodyPr>
          <a:lstStyle/>
          <a:p>
            <a:r>
              <a:rPr lang="en-US" sz="2400" b="1" u="sng" dirty="0" smtClean="0">
                <a:solidFill>
                  <a:srgbClr val="FF0066"/>
                </a:solidFill>
              </a:rPr>
              <a:t>USER DEFINED PACKAGES :</a:t>
            </a:r>
            <a:endParaRPr lang="en-US" sz="2400" b="1" u="sng" dirty="0">
              <a:solidFill>
                <a:srgbClr val="FF0066"/>
              </a:solidFill>
            </a:endParaRPr>
          </a:p>
        </p:txBody>
      </p:sp>
      <p:sp>
        <p:nvSpPr>
          <p:cNvPr id="3" name="Content Placeholder 2"/>
          <p:cNvSpPr>
            <a:spLocks noGrp="1"/>
          </p:cNvSpPr>
          <p:nvPr>
            <p:ph idx="1"/>
          </p:nvPr>
        </p:nvSpPr>
        <p:spPr>
          <a:xfrm>
            <a:off x="228600" y="685800"/>
            <a:ext cx="8458200" cy="6172200"/>
          </a:xfrm>
        </p:spPr>
        <p:txBody>
          <a:bodyPr>
            <a:normAutofit fontScale="70000" lnSpcReduction="20000"/>
          </a:bodyPr>
          <a:lstStyle/>
          <a:p>
            <a:r>
              <a:rPr lang="en-US" dirty="0" smtClean="0">
                <a:latin typeface="Andalus" pitchFamily="18" charset="-78"/>
                <a:cs typeface="Andalus" pitchFamily="18" charset="-78"/>
              </a:rPr>
              <a:t>The users of the Java language can also create their own packages.</a:t>
            </a:r>
          </a:p>
          <a:p>
            <a:pPr>
              <a:buNone/>
            </a:pPr>
            <a:r>
              <a:rPr lang="en-US" dirty="0" smtClean="0">
                <a:latin typeface="Andalus" pitchFamily="18" charset="-78"/>
                <a:cs typeface="Andalus" pitchFamily="18" charset="-78"/>
              </a:rPr>
              <a:t>They are called user-defined packages. User defined packages can</a:t>
            </a:r>
          </a:p>
          <a:p>
            <a:pPr>
              <a:buNone/>
            </a:pPr>
            <a:r>
              <a:rPr lang="en-US" dirty="0" smtClean="0">
                <a:latin typeface="Andalus" pitchFamily="18" charset="-78"/>
                <a:cs typeface="Andalus" pitchFamily="18" charset="-78"/>
              </a:rPr>
              <a:t>also be imported into other classes &amp; used exactly in the same way as</a:t>
            </a:r>
          </a:p>
          <a:p>
            <a:pPr>
              <a:buNone/>
            </a:pPr>
            <a:r>
              <a:rPr lang="en-US" dirty="0" smtClean="0">
                <a:latin typeface="Andalus" pitchFamily="18" charset="-78"/>
                <a:cs typeface="Andalus" pitchFamily="18" charset="-78"/>
              </a:rPr>
              <a:t>the Built in packages.</a:t>
            </a:r>
          </a:p>
          <a:p>
            <a:pPr>
              <a:buNone/>
            </a:pPr>
            <a:r>
              <a:rPr lang="en-US" b="1" dirty="0" err="1" smtClean="0">
                <a:latin typeface="Andalus" pitchFamily="18" charset="-78"/>
                <a:cs typeface="Andalus" pitchFamily="18" charset="-78"/>
              </a:rPr>
              <a:t>i</a:t>
            </a:r>
            <a:r>
              <a:rPr lang="en-US" b="1" dirty="0" smtClean="0">
                <a:latin typeface="Andalus" pitchFamily="18" charset="-78"/>
                <a:cs typeface="Andalus" pitchFamily="18" charset="-78"/>
              </a:rPr>
              <a:t>) Creating User Defined Packages</a:t>
            </a:r>
          </a:p>
          <a:p>
            <a:pPr>
              <a:buNone/>
            </a:pPr>
            <a:r>
              <a:rPr lang="en-US" dirty="0" smtClean="0">
                <a:latin typeface="Andalus" pitchFamily="18" charset="-78"/>
                <a:cs typeface="Andalus" pitchFamily="18" charset="-78"/>
              </a:rPr>
              <a:t>Syntax :</a:t>
            </a:r>
          </a:p>
          <a:p>
            <a:pPr>
              <a:buNone/>
            </a:pPr>
            <a:r>
              <a:rPr lang="en-US" dirty="0" smtClean="0">
                <a:latin typeface="Andalus" pitchFamily="18" charset="-78"/>
                <a:cs typeface="Andalus" pitchFamily="18" charset="-78"/>
              </a:rPr>
              <a:t>package </a:t>
            </a:r>
            <a:r>
              <a:rPr lang="en-US" dirty="0" err="1" smtClean="0">
                <a:latin typeface="Andalus" pitchFamily="18" charset="-78"/>
                <a:cs typeface="Andalus" pitchFamily="18" charset="-78"/>
              </a:rPr>
              <a:t>packageName</a:t>
            </a:r>
            <a:r>
              <a:rPr lang="en-US" dirty="0" smtClean="0">
                <a:latin typeface="Andalus" pitchFamily="18" charset="-78"/>
                <a:cs typeface="Andalus" pitchFamily="18" charset="-78"/>
              </a:rPr>
              <a:t>;</a:t>
            </a:r>
          </a:p>
          <a:p>
            <a:pPr>
              <a:buNone/>
            </a:pPr>
            <a:r>
              <a:rPr lang="en-US" dirty="0" smtClean="0">
                <a:latin typeface="Andalus" pitchFamily="18" charset="-78"/>
                <a:cs typeface="Andalus" pitchFamily="18" charset="-78"/>
              </a:rPr>
              <a:t>public class </a:t>
            </a:r>
            <a:r>
              <a:rPr lang="en-US" dirty="0" err="1" smtClean="0">
                <a:latin typeface="Andalus" pitchFamily="18" charset="-78"/>
                <a:cs typeface="Andalus" pitchFamily="18" charset="-78"/>
              </a:rPr>
              <a:t>className</a:t>
            </a:r>
            <a:endParaRPr lang="en-US" dirty="0" smtClean="0">
              <a:latin typeface="Andalus" pitchFamily="18" charset="-78"/>
              <a:cs typeface="Andalus" pitchFamily="18" charset="-78"/>
            </a:endParaRPr>
          </a:p>
          <a:p>
            <a:pPr>
              <a:buNone/>
            </a:pPr>
            <a:r>
              <a:rPr lang="en-US" dirty="0" smtClean="0">
                <a:latin typeface="Andalus" pitchFamily="18" charset="-78"/>
                <a:cs typeface="Andalus" pitchFamily="18" charset="-78"/>
              </a:rPr>
              <a:t>{</a:t>
            </a:r>
          </a:p>
          <a:p>
            <a:pPr>
              <a:buNone/>
            </a:pPr>
            <a:r>
              <a:rPr lang="en-US" dirty="0" smtClean="0">
                <a:latin typeface="Andalus" pitchFamily="18" charset="-78"/>
                <a:cs typeface="Andalus" pitchFamily="18" charset="-78"/>
              </a:rPr>
              <a:t>- - - - - - - - - - - - -</a:t>
            </a:r>
          </a:p>
          <a:p>
            <a:pPr>
              <a:buNone/>
            </a:pPr>
            <a:r>
              <a:rPr lang="en-US" dirty="0" smtClean="0">
                <a:latin typeface="Andalus" pitchFamily="18" charset="-78"/>
                <a:cs typeface="Andalus" pitchFamily="18" charset="-78"/>
              </a:rPr>
              <a:t>// Body of </a:t>
            </a:r>
            <a:r>
              <a:rPr lang="en-US" dirty="0" err="1" smtClean="0">
                <a:latin typeface="Andalus" pitchFamily="18" charset="-78"/>
                <a:cs typeface="Andalus" pitchFamily="18" charset="-78"/>
              </a:rPr>
              <a:t>className</a:t>
            </a:r>
            <a:endParaRPr lang="en-US" dirty="0" smtClean="0">
              <a:latin typeface="Andalus" pitchFamily="18" charset="-78"/>
              <a:cs typeface="Andalus" pitchFamily="18" charset="-78"/>
            </a:endParaRPr>
          </a:p>
          <a:p>
            <a:pPr>
              <a:buNone/>
            </a:pPr>
            <a:r>
              <a:rPr lang="en-US" dirty="0" smtClean="0">
                <a:latin typeface="Andalus" pitchFamily="18" charset="-78"/>
                <a:cs typeface="Andalus" pitchFamily="18" charset="-78"/>
              </a:rPr>
              <a:t>- - - - - - - - - - - -</a:t>
            </a:r>
          </a:p>
          <a:p>
            <a:pPr>
              <a:buNone/>
            </a:pPr>
            <a:r>
              <a:rPr lang="en-US" dirty="0" smtClean="0">
                <a:latin typeface="Andalus" pitchFamily="18" charset="-78"/>
                <a:cs typeface="Andalus" pitchFamily="18" charset="-78"/>
              </a:rPr>
              <a:t>}</a:t>
            </a:r>
          </a:p>
          <a:p>
            <a:pPr algn="just"/>
            <a:r>
              <a:rPr lang="en-US" dirty="0" smtClean="0">
                <a:latin typeface="Andalus" pitchFamily="18" charset="-78"/>
                <a:cs typeface="Andalus" pitchFamily="18" charset="-78"/>
              </a:rPr>
              <a:t>We must first declare the name of the package using the </a:t>
            </a:r>
            <a:r>
              <a:rPr lang="en-US" b="1" dirty="0" smtClean="0">
                <a:latin typeface="Andalus" pitchFamily="18" charset="-78"/>
                <a:cs typeface="Andalus" pitchFamily="18" charset="-78"/>
              </a:rPr>
              <a:t>package</a:t>
            </a:r>
          </a:p>
          <a:p>
            <a:pPr algn="just">
              <a:buNone/>
            </a:pPr>
            <a:r>
              <a:rPr lang="en-US" dirty="0" smtClean="0">
                <a:latin typeface="Andalus" pitchFamily="18" charset="-78"/>
                <a:cs typeface="Andalus" pitchFamily="18" charset="-78"/>
              </a:rPr>
              <a:t>keyword followed by the package name.</a:t>
            </a:r>
          </a:p>
          <a:p>
            <a:pPr algn="just">
              <a:buNone/>
            </a:pPr>
            <a:r>
              <a:rPr lang="en-US" dirty="0" smtClean="0">
                <a:latin typeface="Andalus" pitchFamily="18" charset="-78"/>
                <a:cs typeface="Andalus" pitchFamily="18" charset="-78"/>
              </a:rPr>
              <a:t>     This must be the first statement in a Java source file. Then define a classes as normally as define a class</a:t>
            </a:r>
            <a:endParaRPr lang="en-US" dirty="0">
              <a:latin typeface="Andalus" pitchFamily="18" charset="-78"/>
              <a:cs typeface="Andalus" pitchFamily="18" charset="-78"/>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
            <a:ext cx="8229600" cy="6324600"/>
          </a:xfrm>
        </p:spPr>
        <p:txBody>
          <a:bodyPr>
            <a:normAutofit fontScale="85000" lnSpcReduction="20000"/>
          </a:bodyPr>
          <a:lstStyle/>
          <a:p>
            <a:pPr>
              <a:buNone/>
            </a:pPr>
            <a:r>
              <a:rPr lang="en-US" b="1" dirty="0" smtClean="0">
                <a:solidFill>
                  <a:srgbClr val="FF0066"/>
                </a:solidFill>
                <a:latin typeface="Andalus" pitchFamily="18" charset="-78"/>
                <a:cs typeface="Andalus" pitchFamily="18" charset="-78"/>
              </a:rPr>
              <a:t>STEPS FOR CREATING PACKAGE :</a:t>
            </a:r>
          </a:p>
          <a:p>
            <a:pPr>
              <a:buNone/>
            </a:pPr>
            <a:r>
              <a:rPr lang="en-US" dirty="0" smtClean="0">
                <a:latin typeface="Andalus" pitchFamily="18" charset="-78"/>
                <a:cs typeface="Andalus" pitchFamily="18" charset="-78"/>
              </a:rPr>
              <a:t>To create a user defined package the following steps</a:t>
            </a:r>
          </a:p>
          <a:p>
            <a:pPr>
              <a:buNone/>
            </a:pPr>
            <a:r>
              <a:rPr lang="en-US" dirty="0" smtClean="0">
                <a:latin typeface="Andalus" pitchFamily="18" charset="-78"/>
                <a:cs typeface="Andalus" pitchFamily="18" charset="-78"/>
              </a:rPr>
              <a:t>should be involved :-</a:t>
            </a:r>
          </a:p>
          <a:p>
            <a:pPr>
              <a:buNone/>
            </a:pPr>
            <a:r>
              <a:rPr lang="en-US" dirty="0" smtClean="0">
                <a:latin typeface="Andalus" pitchFamily="18" charset="-78"/>
                <a:cs typeface="Andalus" pitchFamily="18" charset="-78"/>
              </a:rPr>
              <a:t>1: Declare the package at the beginning of a file using</a:t>
            </a:r>
          </a:p>
          <a:p>
            <a:pPr>
              <a:buNone/>
            </a:pPr>
            <a:r>
              <a:rPr lang="en-US" dirty="0" smtClean="0">
                <a:latin typeface="Andalus" pitchFamily="18" charset="-78"/>
                <a:cs typeface="Andalus" pitchFamily="18" charset="-78"/>
              </a:rPr>
              <a:t>the syntax :-</a:t>
            </a:r>
          </a:p>
          <a:p>
            <a:pPr>
              <a:buNone/>
            </a:pPr>
            <a:r>
              <a:rPr lang="en-US" dirty="0" smtClean="0">
                <a:latin typeface="Andalus" pitchFamily="18" charset="-78"/>
                <a:cs typeface="Andalus" pitchFamily="18" charset="-78"/>
              </a:rPr>
              <a:t>                     </a:t>
            </a:r>
            <a:r>
              <a:rPr lang="en-US" b="1" i="1" dirty="0" smtClean="0">
                <a:latin typeface="Andalus" pitchFamily="18" charset="-78"/>
                <a:cs typeface="Andalus" pitchFamily="18" charset="-78"/>
              </a:rPr>
              <a:t>package </a:t>
            </a:r>
            <a:r>
              <a:rPr lang="en-US" b="1" i="1" dirty="0" err="1" smtClean="0">
                <a:latin typeface="Andalus" pitchFamily="18" charset="-78"/>
                <a:cs typeface="Andalus" pitchFamily="18" charset="-78"/>
              </a:rPr>
              <a:t>packageName</a:t>
            </a:r>
            <a:r>
              <a:rPr lang="en-US" b="1" i="1" dirty="0" smtClean="0">
                <a:latin typeface="Andalus" pitchFamily="18" charset="-78"/>
                <a:cs typeface="Andalus" pitchFamily="18" charset="-78"/>
              </a:rPr>
              <a:t>;</a:t>
            </a:r>
          </a:p>
          <a:p>
            <a:pPr>
              <a:buNone/>
            </a:pPr>
            <a:r>
              <a:rPr lang="en-US" dirty="0" smtClean="0">
                <a:latin typeface="Andalus" pitchFamily="18" charset="-78"/>
                <a:cs typeface="Andalus" pitchFamily="18" charset="-78"/>
              </a:rPr>
              <a:t>2: Define the class that is to be put in the package &amp;</a:t>
            </a:r>
          </a:p>
          <a:p>
            <a:pPr>
              <a:buNone/>
            </a:pPr>
            <a:r>
              <a:rPr lang="en-US" dirty="0" smtClean="0">
                <a:latin typeface="Andalus" pitchFamily="18" charset="-78"/>
                <a:cs typeface="Andalus" pitchFamily="18" charset="-78"/>
              </a:rPr>
              <a:t>declare it public.</a:t>
            </a:r>
          </a:p>
          <a:p>
            <a:pPr>
              <a:buNone/>
            </a:pPr>
            <a:r>
              <a:rPr lang="en-US" dirty="0" smtClean="0">
                <a:latin typeface="Andalus" pitchFamily="18" charset="-78"/>
                <a:cs typeface="Andalus" pitchFamily="18" charset="-78"/>
              </a:rPr>
              <a:t>3: Create a subdirectory under the directory where the</a:t>
            </a:r>
          </a:p>
          <a:p>
            <a:pPr>
              <a:buNone/>
            </a:pPr>
            <a:r>
              <a:rPr lang="en-US" dirty="0" smtClean="0">
                <a:latin typeface="Andalus" pitchFamily="18" charset="-78"/>
                <a:cs typeface="Andalus" pitchFamily="18" charset="-78"/>
              </a:rPr>
              <a:t>main source files are stored.</a:t>
            </a:r>
          </a:p>
          <a:p>
            <a:pPr>
              <a:buNone/>
            </a:pPr>
            <a:r>
              <a:rPr lang="en-US" dirty="0" smtClean="0">
                <a:latin typeface="Andalus" pitchFamily="18" charset="-78"/>
                <a:cs typeface="Andalus" pitchFamily="18" charset="-78"/>
              </a:rPr>
              <a:t>4: Store the listing as the classname.java file in the</a:t>
            </a:r>
          </a:p>
          <a:p>
            <a:pPr>
              <a:buNone/>
            </a:pPr>
            <a:r>
              <a:rPr lang="en-US" dirty="0" smtClean="0">
                <a:latin typeface="Andalus" pitchFamily="18" charset="-78"/>
                <a:cs typeface="Andalus" pitchFamily="18" charset="-78"/>
              </a:rPr>
              <a:t>subdirectory created.</a:t>
            </a:r>
          </a:p>
          <a:p>
            <a:pPr>
              <a:buNone/>
            </a:pPr>
            <a:r>
              <a:rPr lang="en-US" dirty="0" smtClean="0">
                <a:latin typeface="Andalus" pitchFamily="18" charset="-78"/>
                <a:cs typeface="Andalus" pitchFamily="18" charset="-78"/>
              </a:rPr>
              <a:t>5: Compile the file. This create .class file in the</a:t>
            </a:r>
          </a:p>
          <a:p>
            <a:pPr>
              <a:buNone/>
            </a:pPr>
            <a:r>
              <a:rPr lang="en-US" dirty="0" smtClean="0">
                <a:latin typeface="Andalus" pitchFamily="18" charset="-78"/>
                <a:cs typeface="Andalus" pitchFamily="18" charset="-78"/>
              </a:rPr>
              <a:t>subdirectory.</a:t>
            </a:r>
            <a:endParaRPr lang="en-US" dirty="0">
              <a:latin typeface="Andalus" pitchFamily="18" charset="-78"/>
              <a:cs typeface="Andalus" pitchFamily="18" charset="-78"/>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1025" name="Rectangle 1"/>
          <p:cNvSpPr>
            <a:spLocks noGrp="1" noChangeArrowheads="1"/>
          </p:cNvSpPr>
          <p:nvPr>
            <p:ph idx="1"/>
          </p:nvPr>
        </p:nvSpPr>
        <p:spPr bwMode="auto">
          <a:xfrm>
            <a:off x="457200" y="1600200"/>
            <a:ext cx="8534400"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Arial" charset="0"/>
                <a:cs typeface="Arial" charset="0"/>
              </a:rPr>
              <a:t>package p1;  </a:t>
            </a: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Arial" charset="0"/>
                <a:cs typeface="Arial" charset="0"/>
              </a:rPr>
              <a:t>public class C1{  </a:t>
            </a: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Arial" charset="0"/>
                <a:cs typeface="Arial" charset="0"/>
              </a:rPr>
              <a:t> public static void main(String </a:t>
            </a:r>
            <a:r>
              <a:rPr kumimoji="0" lang="en-US" b="0" i="0" u="none" strike="noStrike" cap="none" normalizeH="0" baseline="0" dirty="0" err="1" smtClean="0">
                <a:ln>
                  <a:noFill/>
                </a:ln>
                <a:solidFill>
                  <a:schemeClr val="tx1"/>
                </a:solidFill>
                <a:effectLst/>
                <a:latin typeface="Arial" charset="0"/>
                <a:cs typeface="Arial" charset="0"/>
              </a:rPr>
              <a:t>args</a:t>
            </a:r>
            <a:r>
              <a:rPr kumimoji="0" lang="en-US" b="0" i="0" u="none" strike="noStrike" cap="none" normalizeH="0" baseline="0" dirty="0" smtClean="0">
                <a:ln>
                  <a:noFill/>
                </a:ln>
                <a:solidFill>
                  <a:schemeClr val="tx1"/>
                </a:solidFill>
                <a:effectLst/>
                <a:latin typeface="Arial" charset="0"/>
                <a:cs typeface="Arial"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Arial" charset="0"/>
                <a:cs typeface="Arial" charset="0"/>
              </a:rPr>
              <a:t>    </a:t>
            </a:r>
            <a:r>
              <a:rPr kumimoji="0" lang="en-US" b="0" i="0" u="none" strike="noStrike" cap="none" normalizeH="0" baseline="0" dirty="0" err="1" smtClean="0">
                <a:ln>
                  <a:noFill/>
                </a:ln>
                <a:solidFill>
                  <a:schemeClr val="tx1"/>
                </a:solidFill>
                <a:effectLst/>
                <a:latin typeface="Arial" charset="0"/>
                <a:cs typeface="Arial" charset="0"/>
              </a:rPr>
              <a:t>System.out.println</a:t>
            </a:r>
            <a:r>
              <a:rPr kumimoji="0" lang="en-US" b="0" i="0" u="none" strike="noStrike" cap="none" normalizeH="0" baseline="0" dirty="0" smtClean="0">
                <a:ln>
                  <a:noFill/>
                </a:ln>
                <a:solidFill>
                  <a:schemeClr val="tx1"/>
                </a:solidFill>
                <a:effectLst/>
                <a:latin typeface="Arial" charset="0"/>
                <a:cs typeface="Arial" charset="0"/>
              </a:rPr>
              <a:t>("package creation");  </a:t>
            </a: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Arial" charset="0"/>
                <a:cs typeface="Arial" charset="0"/>
              </a:rPr>
              <a:t>   }  </a:t>
            </a:r>
          </a:p>
          <a:p>
            <a:pPr marL="0" marR="0" lvl="0" indent="0" algn="l" defTabSz="914400" rtl="0" eaLnBrk="0" fontAlgn="base" latinLnBrk="0" hangingPunct="0">
              <a:lnSpc>
                <a:spcPct val="10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Arial" charset="0"/>
                <a:cs typeface="Arial" charset="0"/>
              </a:rPr>
              <a:t>}</a:t>
            </a:r>
            <a:r>
              <a:rPr kumimoji="0" lang="en-US" sz="2800" b="0" i="0" u="none" strike="noStrike" cap="none" normalizeH="0" baseline="0" dirty="0" smtClean="0">
                <a:ln>
                  <a:noFill/>
                </a:ln>
                <a:solidFill>
                  <a:schemeClr val="tx1"/>
                </a:solidFill>
                <a:effectLst/>
                <a:latin typeface="Arial" charset="0"/>
                <a:cs typeface="Arial" charset="0"/>
              </a:rPr>
              <a:t>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solidFill>
                  <a:srgbClr val="7030A0"/>
                </a:solidFill>
              </a:rPr>
              <a:t>How to compile java package</a:t>
            </a:r>
          </a:p>
          <a:p>
            <a:r>
              <a:rPr lang="en-US" dirty="0" err="1" smtClean="0"/>
              <a:t>javac</a:t>
            </a:r>
            <a:r>
              <a:rPr lang="en-US" dirty="0" smtClean="0"/>
              <a:t> -d directory </a:t>
            </a:r>
            <a:r>
              <a:rPr lang="en-US" dirty="0" err="1" smtClean="0"/>
              <a:t>javafilename</a:t>
            </a:r>
            <a:r>
              <a:rPr lang="en-US" dirty="0" smtClean="0"/>
              <a:t> </a:t>
            </a:r>
          </a:p>
          <a:p>
            <a:r>
              <a:rPr lang="en-US" dirty="0" err="1" smtClean="0"/>
              <a:t>Ex:javac</a:t>
            </a:r>
            <a:r>
              <a:rPr lang="en-US" dirty="0" smtClean="0"/>
              <a:t> -d .  C1.java (The -d switch specifies the destination where to put the generated class file)</a:t>
            </a:r>
          </a:p>
          <a:p>
            <a:pPr>
              <a:buNone/>
            </a:pPr>
            <a:r>
              <a:rPr lang="en-US" b="1" dirty="0" smtClean="0">
                <a:solidFill>
                  <a:srgbClr val="7030A0"/>
                </a:solidFill>
              </a:rPr>
              <a:t>How to run java package</a:t>
            </a:r>
          </a:p>
          <a:p>
            <a:r>
              <a:rPr lang="en-US" dirty="0" smtClean="0"/>
              <a:t>java </a:t>
            </a:r>
            <a:r>
              <a:rPr lang="en-US" dirty="0" err="1" smtClean="0"/>
              <a:t>directory.javafilename</a:t>
            </a:r>
            <a:endParaRPr lang="en-US" dirty="0" smtClean="0"/>
          </a:p>
          <a:p>
            <a:r>
              <a:rPr lang="en-US" b="1" dirty="0" err="1" smtClean="0"/>
              <a:t>Ex:java</a:t>
            </a:r>
            <a:r>
              <a:rPr lang="en-US" b="1" dirty="0" smtClean="0"/>
              <a:t> p1.C1</a:t>
            </a:r>
          </a:p>
          <a:p>
            <a:endParaRPr lang="en-US" dirty="0" smtClean="0"/>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solidFill>
                  <a:srgbClr val="00B050"/>
                </a:solidFill>
              </a:rPr>
              <a:t>How to access package from another package?</a:t>
            </a:r>
          </a:p>
          <a:p>
            <a:r>
              <a:rPr lang="en-US" dirty="0" smtClean="0"/>
              <a:t>There are three ways to access the package from outside the package.</a:t>
            </a:r>
          </a:p>
          <a:p>
            <a:pPr marL="514350" indent="-514350">
              <a:buFont typeface="+mj-lt"/>
              <a:buAutoNum type="arabicPeriod"/>
            </a:pPr>
            <a:r>
              <a:rPr lang="en-US" dirty="0" smtClean="0"/>
              <a:t>import package.*;</a:t>
            </a:r>
          </a:p>
          <a:p>
            <a:pPr marL="514350" indent="-514350">
              <a:buFont typeface="+mj-lt"/>
              <a:buAutoNum type="arabicPeriod"/>
            </a:pPr>
            <a:r>
              <a:rPr lang="en-US" dirty="0" smtClean="0"/>
              <a:t>import </a:t>
            </a:r>
            <a:r>
              <a:rPr lang="en-US" dirty="0" err="1" smtClean="0"/>
              <a:t>package.classname</a:t>
            </a:r>
            <a:r>
              <a:rPr lang="en-US" dirty="0" smtClean="0"/>
              <a:t>;</a:t>
            </a:r>
          </a:p>
          <a:p>
            <a:pPr marL="514350" indent="-514350">
              <a:buFont typeface="+mj-lt"/>
              <a:buAutoNum type="arabicPeriod"/>
            </a:pPr>
            <a:r>
              <a:rPr lang="en-US" dirty="0" smtClean="0"/>
              <a:t>fully qualified name.</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524000"/>
            <a:ext cx="8229600" cy="4602163"/>
          </a:xfrm>
        </p:spPr>
        <p:txBody>
          <a:bodyPr/>
          <a:lstStyle/>
          <a:p>
            <a:pPr>
              <a:buNone/>
            </a:pPr>
            <a:r>
              <a:rPr lang="en-US" b="1" dirty="0" smtClean="0">
                <a:solidFill>
                  <a:schemeClr val="accent6"/>
                </a:solidFill>
              </a:rPr>
              <a:t>1) Using packagename.*</a:t>
            </a:r>
          </a:p>
          <a:p>
            <a:r>
              <a:rPr lang="en-US" dirty="0" smtClean="0"/>
              <a:t>If you use package.* then all the classes and interfaces of this package will be accessible but not </a:t>
            </a:r>
            <a:r>
              <a:rPr lang="en-US" dirty="0" err="1" smtClean="0"/>
              <a:t>subpackages</a:t>
            </a:r>
            <a:r>
              <a:rPr lang="en-US" dirty="0" smtClean="0"/>
              <a:t>. </a:t>
            </a:r>
          </a:p>
          <a:p>
            <a:r>
              <a:rPr lang="en-US" dirty="0" smtClean="0"/>
              <a:t>The import keyword is used to make the classes and interface of another package accessible to the current package</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228600"/>
            <a:ext cx="8229600" cy="6477000"/>
          </a:xfrm>
        </p:spPr>
        <p:txBody>
          <a:bodyPr>
            <a:normAutofit fontScale="92500" lnSpcReduction="20000"/>
          </a:bodyPr>
          <a:lstStyle/>
          <a:p>
            <a:pPr>
              <a:buNone/>
            </a:pPr>
            <a:r>
              <a:rPr lang="en-US" dirty="0" smtClean="0"/>
              <a:t>//save by A.java  </a:t>
            </a:r>
          </a:p>
          <a:p>
            <a:pPr>
              <a:buNone/>
            </a:pPr>
            <a:r>
              <a:rPr lang="en-US" dirty="0" smtClean="0"/>
              <a:t>package pack;  </a:t>
            </a:r>
          </a:p>
          <a:p>
            <a:pPr>
              <a:buNone/>
            </a:pPr>
            <a:r>
              <a:rPr lang="en-US" dirty="0" smtClean="0"/>
              <a:t>public class A{  </a:t>
            </a:r>
          </a:p>
          <a:p>
            <a:pPr>
              <a:buNone/>
            </a:pPr>
            <a:r>
              <a:rPr lang="en-US" dirty="0" smtClean="0"/>
              <a:t>  public void </a:t>
            </a:r>
            <a:r>
              <a:rPr lang="en-US" dirty="0" err="1" smtClean="0"/>
              <a:t>msg</a:t>
            </a:r>
            <a:r>
              <a:rPr lang="en-US" dirty="0" smtClean="0"/>
              <a:t>(){</a:t>
            </a:r>
            <a:r>
              <a:rPr lang="en-US" dirty="0" err="1" smtClean="0"/>
              <a:t>System.out.println</a:t>
            </a:r>
            <a:r>
              <a:rPr lang="en-US" dirty="0" smtClean="0"/>
              <a:t>("Hello");}  </a:t>
            </a:r>
          </a:p>
          <a:p>
            <a:pPr>
              <a:buNone/>
            </a:pPr>
            <a:r>
              <a:rPr lang="en-US" dirty="0" smtClean="0"/>
              <a:t>}  </a:t>
            </a:r>
          </a:p>
          <a:p>
            <a:pPr>
              <a:buNone/>
            </a:pPr>
            <a:r>
              <a:rPr lang="en-US" dirty="0" smtClean="0"/>
              <a:t>//save by B.java  </a:t>
            </a:r>
          </a:p>
          <a:p>
            <a:pPr>
              <a:buNone/>
            </a:pPr>
            <a:r>
              <a:rPr lang="en-US" dirty="0" smtClean="0"/>
              <a:t>package </a:t>
            </a:r>
            <a:r>
              <a:rPr lang="en-US" dirty="0" err="1" smtClean="0"/>
              <a:t>mypack</a:t>
            </a:r>
            <a:r>
              <a:rPr lang="en-US" dirty="0" smtClean="0"/>
              <a:t>;  </a:t>
            </a:r>
          </a:p>
          <a:p>
            <a:pPr>
              <a:buNone/>
            </a:pPr>
            <a:r>
              <a:rPr lang="en-US" dirty="0" smtClean="0"/>
              <a:t>import pack.*;  </a:t>
            </a:r>
          </a:p>
          <a:p>
            <a:pPr>
              <a:buNone/>
            </a:pPr>
            <a:r>
              <a:rPr lang="en-US" dirty="0" smtClean="0"/>
              <a:t>  class B{  </a:t>
            </a:r>
          </a:p>
          <a:p>
            <a:pPr>
              <a:buNone/>
            </a:pPr>
            <a:r>
              <a:rPr lang="en-US" dirty="0" smtClean="0"/>
              <a:t>  public static void main(String </a:t>
            </a:r>
            <a:r>
              <a:rPr lang="en-US" dirty="0" err="1" smtClean="0"/>
              <a:t>args</a:t>
            </a:r>
            <a:r>
              <a:rPr lang="en-US" dirty="0" smtClean="0"/>
              <a:t>[]){  </a:t>
            </a:r>
          </a:p>
          <a:p>
            <a:pPr>
              <a:buNone/>
            </a:pPr>
            <a:r>
              <a:rPr lang="en-US" dirty="0" smtClean="0"/>
              <a:t>   A </a:t>
            </a:r>
            <a:r>
              <a:rPr lang="en-US" dirty="0" err="1" smtClean="0"/>
              <a:t>obj</a:t>
            </a:r>
            <a:r>
              <a:rPr lang="en-US" dirty="0" smtClean="0"/>
              <a:t> = new A();  </a:t>
            </a:r>
          </a:p>
          <a:p>
            <a:pPr>
              <a:buNone/>
            </a:pPr>
            <a:r>
              <a:rPr lang="en-US" dirty="0" smtClean="0"/>
              <a:t>   obj.msg();  </a:t>
            </a:r>
          </a:p>
          <a:p>
            <a:pPr>
              <a:buNone/>
            </a:pPr>
            <a:r>
              <a:rPr lang="en-US" dirty="0" smtClean="0"/>
              <a:t>  }  </a:t>
            </a:r>
          </a:p>
          <a:p>
            <a:pPr>
              <a:buNone/>
            </a:pPr>
            <a:r>
              <a:rPr lang="en-US" dirty="0" smtClean="0"/>
              <a:t>}  </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34400" cy="1401762"/>
          </a:xfrm>
        </p:spPr>
        <p:txBody>
          <a:bodyPr>
            <a:normAutofit fontScale="90000"/>
          </a:bodyPr>
          <a:lstStyle/>
          <a:p>
            <a:pPr algn="l"/>
            <a:r>
              <a:rPr lang="en-US" sz="3100" b="1" dirty="0" smtClean="0">
                <a:solidFill>
                  <a:schemeClr val="accent6"/>
                </a:solidFill>
              </a:rPr>
              <a:t>2) Using </a:t>
            </a:r>
            <a:r>
              <a:rPr lang="en-US" sz="3100" b="1" dirty="0" err="1" smtClean="0">
                <a:solidFill>
                  <a:schemeClr val="accent6"/>
                </a:solidFill>
              </a:rPr>
              <a:t>packagename.classname</a:t>
            </a:r>
            <a:r>
              <a:rPr lang="en-US" sz="3100" b="1" dirty="0" smtClean="0"/>
              <a:t/>
            </a:r>
            <a:br>
              <a:rPr lang="en-US" sz="3100" b="1" dirty="0" smtClean="0"/>
            </a:br>
            <a:r>
              <a:rPr lang="en-US" sz="3100" dirty="0" smtClean="0"/>
              <a:t>If you import </a:t>
            </a:r>
            <a:r>
              <a:rPr lang="en-US" sz="3100" dirty="0" err="1" smtClean="0"/>
              <a:t>package.classname</a:t>
            </a:r>
            <a:r>
              <a:rPr lang="en-US" sz="3100" dirty="0" smtClean="0"/>
              <a:t> then only declared class of this package will be accessible.</a:t>
            </a:r>
            <a:r>
              <a:rPr lang="en-US" dirty="0" smtClean="0"/>
              <a:t/>
            </a:r>
            <a:br>
              <a:rPr lang="en-US" dirty="0" smtClean="0"/>
            </a:br>
            <a:endParaRPr lang="en-US" dirty="0"/>
          </a:p>
        </p:txBody>
      </p:sp>
      <p:sp>
        <p:nvSpPr>
          <p:cNvPr id="3" name="Content Placeholder 2"/>
          <p:cNvSpPr>
            <a:spLocks noGrp="1"/>
          </p:cNvSpPr>
          <p:nvPr>
            <p:ph idx="1"/>
          </p:nvPr>
        </p:nvSpPr>
        <p:spPr>
          <a:xfrm>
            <a:off x="457200" y="1447800"/>
            <a:ext cx="8229600" cy="5410200"/>
          </a:xfrm>
        </p:spPr>
        <p:txBody>
          <a:bodyPr>
            <a:normAutofit fontScale="77500" lnSpcReduction="20000"/>
          </a:bodyPr>
          <a:lstStyle/>
          <a:p>
            <a:pPr>
              <a:buNone/>
            </a:pPr>
            <a:r>
              <a:rPr lang="en-US" dirty="0" smtClean="0"/>
              <a:t>package pack;  </a:t>
            </a:r>
          </a:p>
          <a:p>
            <a:pPr>
              <a:buNone/>
            </a:pPr>
            <a:r>
              <a:rPr lang="en-US" dirty="0" smtClean="0"/>
              <a:t>public class A{  </a:t>
            </a:r>
          </a:p>
          <a:p>
            <a:pPr>
              <a:buNone/>
            </a:pPr>
            <a:r>
              <a:rPr lang="en-US" dirty="0" smtClean="0"/>
              <a:t>  public void </a:t>
            </a:r>
            <a:r>
              <a:rPr lang="en-US" dirty="0" err="1" smtClean="0"/>
              <a:t>msg</a:t>
            </a:r>
            <a:r>
              <a:rPr lang="en-US" dirty="0" smtClean="0"/>
              <a:t>(){</a:t>
            </a:r>
            <a:r>
              <a:rPr lang="en-US" dirty="0" err="1" smtClean="0"/>
              <a:t>System.out.println</a:t>
            </a:r>
            <a:r>
              <a:rPr lang="en-US" dirty="0" smtClean="0"/>
              <a:t>("Hello");}  </a:t>
            </a:r>
          </a:p>
          <a:p>
            <a:pPr>
              <a:buNone/>
            </a:pPr>
            <a:r>
              <a:rPr lang="en-US" dirty="0" smtClean="0"/>
              <a:t>}  </a:t>
            </a:r>
          </a:p>
          <a:p>
            <a:pPr>
              <a:buNone/>
            </a:pPr>
            <a:r>
              <a:rPr lang="en-US" dirty="0" smtClean="0"/>
              <a:t>//save by B.java  </a:t>
            </a:r>
          </a:p>
          <a:p>
            <a:pPr>
              <a:buNone/>
            </a:pPr>
            <a:r>
              <a:rPr lang="en-US" dirty="0" smtClean="0"/>
              <a:t>package </a:t>
            </a:r>
            <a:r>
              <a:rPr lang="en-US" dirty="0" err="1" smtClean="0"/>
              <a:t>mypack</a:t>
            </a:r>
            <a:r>
              <a:rPr lang="en-US" dirty="0" smtClean="0"/>
              <a:t>;  </a:t>
            </a:r>
          </a:p>
          <a:p>
            <a:pPr>
              <a:buNone/>
            </a:pPr>
            <a:r>
              <a:rPr lang="en-US" dirty="0" smtClean="0"/>
              <a:t>import </a:t>
            </a:r>
            <a:r>
              <a:rPr lang="en-US" dirty="0" err="1" smtClean="0"/>
              <a:t>pack.A</a:t>
            </a:r>
            <a:r>
              <a:rPr lang="en-US" dirty="0" smtClean="0"/>
              <a:t>;  </a:t>
            </a:r>
          </a:p>
          <a:p>
            <a:pPr>
              <a:buNone/>
            </a:pPr>
            <a:r>
              <a:rPr lang="en-US" dirty="0" smtClean="0"/>
              <a:t>  </a:t>
            </a:r>
          </a:p>
          <a:p>
            <a:pPr>
              <a:buNone/>
            </a:pPr>
            <a:r>
              <a:rPr lang="en-US" dirty="0" smtClean="0"/>
              <a:t>class B{  </a:t>
            </a:r>
          </a:p>
          <a:p>
            <a:pPr>
              <a:buNone/>
            </a:pPr>
            <a:r>
              <a:rPr lang="en-US" dirty="0" smtClean="0"/>
              <a:t>  public static void main(String </a:t>
            </a:r>
            <a:r>
              <a:rPr lang="en-US" dirty="0" err="1" smtClean="0"/>
              <a:t>args</a:t>
            </a:r>
            <a:r>
              <a:rPr lang="en-US" dirty="0" smtClean="0"/>
              <a:t>[]){  </a:t>
            </a:r>
          </a:p>
          <a:p>
            <a:pPr>
              <a:buNone/>
            </a:pPr>
            <a:r>
              <a:rPr lang="en-US" dirty="0" smtClean="0"/>
              <a:t>   A </a:t>
            </a:r>
            <a:r>
              <a:rPr lang="en-US" dirty="0" err="1" smtClean="0"/>
              <a:t>obj</a:t>
            </a:r>
            <a:r>
              <a:rPr lang="en-US" dirty="0" smtClean="0"/>
              <a:t> = new A();  </a:t>
            </a:r>
          </a:p>
          <a:p>
            <a:pPr>
              <a:buNone/>
            </a:pPr>
            <a:r>
              <a:rPr lang="en-US" dirty="0" smtClean="0"/>
              <a:t>   obj.msg();  </a:t>
            </a:r>
          </a:p>
          <a:p>
            <a:pPr>
              <a:buNone/>
            </a:pPr>
            <a:r>
              <a:rPr lang="en-US" dirty="0" smtClean="0"/>
              <a:t>  }  </a:t>
            </a:r>
          </a:p>
          <a:p>
            <a:pPr>
              <a:buNone/>
            </a:pPr>
            <a:r>
              <a:rPr lang="en-US" dirty="0" smtClean="0"/>
              <a:t>}  </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None/>
            </a:pPr>
            <a:r>
              <a:rPr lang="en-US" b="1" dirty="0" smtClean="0">
                <a:solidFill>
                  <a:schemeClr val="accent6"/>
                </a:solidFill>
              </a:rPr>
              <a:t>3)Using fully qualified name</a:t>
            </a:r>
          </a:p>
          <a:p>
            <a:r>
              <a:rPr lang="en-US" dirty="0" smtClean="0"/>
              <a:t>If you use fully qualified name then only declared class of this package will be accessible. Now there is no need to import. But you need to use fully qualified name every time when you are accessing the class or interface.</a:t>
            </a:r>
          </a:p>
          <a:p>
            <a:r>
              <a:rPr lang="en-US" dirty="0" smtClean="0"/>
              <a:t>It is generally used when two packages have same class name e.g. </a:t>
            </a:r>
            <a:r>
              <a:rPr lang="en-US" dirty="0" err="1" smtClean="0"/>
              <a:t>java.util</a:t>
            </a:r>
            <a:r>
              <a:rPr lang="en-US" dirty="0" smtClean="0"/>
              <a:t> and java.sql packages contain Date class.</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81000"/>
            <a:ext cx="8229600" cy="5745163"/>
          </a:xfrm>
        </p:spPr>
        <p:txBody>
          <a:bodyPr>
            <a:normAutofit fontScale="85000" lnSpcReduction="10000"/>
          </a:bodyPr>
          <a:lstStyle/>
          <a:p>
            <a:pPr>
              <a:buNone/>
            </a:pPr>
            <a:r>
              <a:rPr lang="en-US" dirty="0" smtClean="0"/>
              <a:t>package pack;  </a:t>
            </a:r>
          </a:p>
          <a:p>
            <a:pPr>
              <a:buNone/>
            </a:pPr>
            <a:r>
              <a:rPr lang="en-US" dirty="0" smtClean="0"/>
              <a:t>public class A{  </a:t>
            </a:r>
          </a:p>
          <a:p>
            <a:pPr>
              <a:buNone/>
            </a:pPr>
            <a:r>
              <a:rPr lang="en-US" dirty="0" smtClean="0"/>
              <a:t>  public void </a:t>
            </a:r>
            <a:r>
              <a:rPr lang="en-US" dirty="0" err="1" smtClean="0"/>
              <a:t>msg</a:t>
            </a:r>
            <a:r>
              <a:rPr lang="en-US" dirty="0" smtClean="0"/>
              <a:t>(){</a:t>
            </a:r>
            <a:r>
              <a:rPr lang="en-US" dirty="0" err="1" smtClean="0"/>
              <a:t>System.out.println</a:t>
            </a:r>
            <a:r>
              <a:rPr lang="en-US" dirty="0" smtClean="0"/>
              <a:t>("Hello");}  </a:t>
            </a:r>
          </a:p>
          <a:p>
            <a:pPr>
              <a:buNone/>
            </a:pPr>
            <a:r>
              <a:rPr lang="en-US" dirty="0" smtClean="0"/>
              <a:t>}  </a:t>
            </a:r>
          </a:p>
          <a:p>
            <a:pPr>
              <a:buNone/>
            </a:pPr>
            <a:r>
              <a:rPr lang="en-US" dirty="0" smtClean="0"/>
              <a:t>//save by B.java  </a:t>
            </a:r>
          </a:p>
          <a:p>
            <a:pPr>
              <a:buNone/>
            </a:pPr>
            <a:r>
              <a:rPr lang="en-US" dirty="0" smtClean="0"/>
              <a:t>package </a:t>
            </a:r>
            <a:r>
              <a:rPr lang="en-US" dirty="0" err="1" smtClean="0"/>
              <a:t>mypack</a:t>
            </a:r>
            <a:r>
              <a:rPr lang="en-US" dirty="0" smtClean="0"/>
              <a:t>;  </a:t>
            </a:r>
          </a:p>
          <a:p>
            <a:pPr>
              <a:buNone/>
            </a:pPr>
            <a:r>
              <a:rPr lang="en-US" dirty="0" smtClean="0"/>
              <a:t>class B{  </a:t>
            </a:r>
          </a:p>
          <a:p>
            <a:pPr>
              <a:buNone/>
            </a:pPr>
            <a:r>
              <a:rPr lang="en-US" dirty="0" smtClean="0"/>
              <a:t>  public static void main(String </a:t>
            </a:r>
            <a:r>
              <a:rPr lang="en-US" dirty="0" err="1" smtClean="0"/>
              <a:t>args</a:t>
            </a:r>
            <a:r>
              <a:rPr lang="en-US" dirty="0" smtClean="0"/>
              <a:t>[]){  </a:t>
            </a:r>
          </a:p>
          <a:p>
            <a:pPr>
              <a:buNone/>
            </a:pPr>
            <a:r>
              <a:rPr lang="en-US" dirty="0" smtClean="0"/>
              <a:t>   </a:t>
            </a:r>
            <a:r>
              <a:rPr lang="en-US" dirty="0" err="1" smtClean="0"/>
              <a:t>pack.A</a:t>
            </a:r>
            <a:r>
              <a:rPr lang="en-US" dirty="0" smtClean="0"/>
              <a:t> </a:t>
            </a:r>
            <a:r>
              <a:rPr lang="en-US" dirty="0" err="1" smtClean="0"/>
              <a:t>obj</a:t>
            </a:r>
            <a:r>
              <a:rPr lang="en-US" dirty="0" smtClean="0"/>
              <a:t> = new </a:t>
            </a:r>
            <a:r>
              <a:rPr lang="en-US" dirty="0" err="1" smtClean="0"/>
              <a:t>pack.A</a:t>
            </a:r>
            <a:r>
              <a:rPr lang="en-US" dirty="0" smtClean="0"/>
              <a:t>();//using fully qualified name  </a:t>
            </a:r>
          </a:p>
          <a:p>
            <a:pPr>
              <a:buNone/>
            </a:pPr>
            <a:r>
              <a:rPr lang="en-US" dirty="0" smtClean="0"/>
              <a:t>   obj.msg();  </a:t>
            </a:r>
          </a:p>
          <a:p>
            <a:pPr>
              <a:buNone/>
            </a:pPr>
            <a:r>
              <a:rPr lang="en-US" dirty="0" smtClean="0"/>
              <a:t>  }  </a:t>
            </a:r>
          </a:p>
          <a:p>
            <a:pPr>
              <a:buNone/>
            </a:pPr>
            <a:r>
              <a:rPr lang="en-US" dirty="0" smtClean="0"/>
              <a:t>}  </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Sub packages</a:t>
            </a:r>
            <a:endParaRPr lang="en-US" dirty="0"/>
          </a:p>
        </p:txBody>
      </p:sp>
      <p:sp>
        <p:nvSpPr>
          <p:cNvPr id="3" name="Content Placeholder 2"/>
          <p:cNvSpPr>
            <a:spLocks noGrp="1"/>
          </p:cNvSpPr>
          <p:nvPr>
            <p:ph idx="1"/>
          </p:nvPr>
        </p:nvSpPr>
        <p:spPr/>
        <p:txBody>
          <a:bodyPr/>
          <a:lstStyle/>
          <a:p>
            <a:r>
              <a:rPr lang="en-US" dirty="0" smtClean="0"/>
              <a:t>create a sub package p2 within our existing java package p1. Then we will modify our code as </a:t>
            </a:r>
          </a:p>
          <a:p>
            <a:endParaRPr lang="en-US" dirty="0" smtClean="0"/>
          </a:p>
          <a:p>
            <a:endParaRPr lang="en-US" dirty="0" smtClean="0"/>
          </a:p>
          <a:p>
            <a:r>
              <a:rPr lang="en-US" dirty="0" smtClean="0"/>
              <a:t>Compile the file</a:t>
            </a:r>
          </a:p>
          <a:p>
            <a:endParaRPr lang="en-US" dirty="0" smtClean="0"/>
          </a:p>
          <a:p>
            <a:endParaRPr lang="en-US" dirty="0"/>
          </a:p>
        </p:txBody>
      </p:sp>
      <p:pic>
        <p:nvPicPr>
          <p:cNvPr id="4" name="Content Placeholder 3" descr="Capture.PNG"/>
          <p:cNvPicPr>
            <a:picLocks noChangeAspect="1"/>
          </p:cNvPicPr>
          <p:nvPr/>
        </p:nvPicPr>
        <p:blipFill>
          <a:blip r:embed="rId2"/>
          <a:stretch>
            <a:fillRect/>
          </a:stretch>
        </p:blipFill>
        <p:spPr>
          <a:xfrm>
            <a:off x="1600200" y="2895600"/>
            <a:ext cx="6001588" cy="1543265"/>
          </a:xfrm>
          <a:prstGeom prst="rect">
            <a:avLst/>
          </a:prstGeom>
        </p:spPr>
      </p:pic>
      <p:pic>
        <p:nvPicPr>
          <p:cNvPr id="5" name="Content Placeholder 5" descr="Capture.PNG"/>
          <p:cNvPicPr>
            <a:picLocks noChangeAspect="1"/>
          </p:cNvPicPr>
          <p:nvPr/>
        </p:nvPicPr>
        <p:blipFill>
          <a:blip r:embed="rId3"/>
          <a:stretch>
            <a:fillRect/>
          </a:stretch>
        </p:blipFill>
        <p:spPr>
          <a:xfrm>
            <a:off x="2362200" y="4953000"/>
            <a:ext cx="4639323" cy="139077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7" name="Content Placeholder 6"/>
          <p:cNvSpPr>
            <a:spLocks noGrp="1"/>
          </p:cNvSpPr>
          <p:nvPr>
            <p:ph idx="1"/>
          </p:nvPr>
        </p:nvSpPr>
        <p:spPr/>
        <p:txBody>
          <a:bodyPr/>
          <a:lstStyle/>
          <a:p>
            <a:r>
              <a:rPr lang="en-US" dirty="0" smtClean="0"/>
              <a:t>To execute the code mention the fully qualified name of the class i.e. the package name followed by the sub-package name followed by the class name – </a:t>
            </a:r>
          </a:p>
          <a:p>
            <a:endParaRPr lang="en-US" dirty="0"/>
          </a:p>
        </p:txBody>
      </p:sp>
      <p:pic>
        <p:nvPicPr>
          <p:cNvPr id="8" name="Content Placeholder 3" descr="Capture.PNG"/>
          <p:cNvPicPr>
            <a:picLocks noChangeAspect="1"/>
          </p:cNvPicPr>
          <p:nvPr/>
        </p:nvPicPr>
        <p:blipFill>
          <a:blip r:embed="rId2"/>
          <a:stretch>
            <a:fillRect/>
          </a:stretch>
        </p:blipFill>
        <p:spPr>
          <a:xfrm>
            <a:off x="1600200" y="3733800"/>
            <a:ext cx="7162800" cy="22956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1376</TotalTime>
  <Words>2602</Words>
  <Application>Microsoft Office PowerPoint</Application>
  <PresentationFormat>On-screen Show (4:3)</PresentationFormat>
  <Paragraphs>566</Paragraphs>
  <Slides>74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Andalus</vt:lpstr>
      <vt:lpstr>Arial</vt:lpstr>
      <vt:lpstr>Calibri</vt:lpstr>
      <vt:lpstr>Times New Roman</vt:lpstr>
      <vt:lpstr>Wingdings</vt:lpstr>
      <vt:lpstr>Office Theme</vt:lpstr>
      <vt:lpstr>M2:Unit-1 - Inheritance, Packages, Interfaces &amp;Exception handling </vt:lpstr>
      <vt:lpstr>Syllabus</vt:lpstr>
      <vt:lpstr>Inheritance-Introduction</vt:lpstr>
      <vt:lpstr>PowerPoint Presentation</vt:lpstr>
      <vt:lpstr>Types of Inheritance</vt:lpstr>
      <vt:lpstr>Single-level Inheritance</vt:lpstr>
      <vt:lpstr>PowerPoint Presentation</vt:lpstr>
      <vt:lpstr>Multilevel Inheritance</vt:lpstr>
      <vt:lpstr>PowerPoint Presentation</vt:lpstr>
      <vt:lpstr>PowerPoint Presentation</vt:lpstr>
      <vt:lpstr>PowerPoint Presentation</vt:lpstr>
      <vt:lpstr>Multiple Inheritance</vt:lpstr>
      <vt:lpstr>PowerPoint Presentation</vt:lpstr>
      <vt:lpstr>Hierarchical Inheritance</vt:lpstr>
      <vt:lpstr>PowerPoint Presentation</vt:lpstr>
      <vt:lpstr>Hybrid  Inheritance</vt:lpstr>
      <vt:lpstr>PowerPoint Presentation</vt:lpstr>
      <vt:lpstr>PowerPoint Presentation</vt:lpstr>
      <vt:lpstr>Super Keyword</vt:lpstr>
      <vt:lpstr>PowerPoint Presentation</vt:lpstr>
      <vt:lpstr>PowerPoint Presentation</vt:lpstr>
      <vt:lpstr>PowerPoint Presentation</vt:lpstr>
      <vt:lpstr>PowerPoint Presentation</vt:lpstr>
      <vt:lpstr>Access Specifiers(protected Keyword)</vt:lpstr>
      <vt:lpstr>Method Overriding</vt:lpstr>
      <vt:lpstr>PowerPoint Presentation</vt:lpstr>
      <vt:lpstr>PowerPoint Presentation</vt:lpstr>
      <vt:lpstr>PowerPoint Presentation</vt:lpstr>
      <vt:lpstr>PowerPoint Presentation</vt:lpstr>
      <vt:lpstr>PowerPoint Presentation</vt:lpstr>
      <vt:lpstr>Dynamic Method Dispatch</vt:lpstr>
      <vt:lpstr>PowerPoint Presentation</vt:lpstr>
      <vt:lpstr>PowerPoint Presentation</vt:lpstr>
      <vt:lpstr>PowerPoint Presentation</vt:lpstr>
      <vt:lpstr>PowerPoint Presentation</vt:lpstr>
      <vt:lpstr>In Java, we can override methods only, not the variables(data members), so runtime polymorphism cannot be achieved by data members. For example :</vt:lpstr>
      <vt:lpstr>PowerPoint Presentation</vt:lpstr>
      <vt:lpstr>Final Keyword for class</vt:lpstr>
      <vt:lpstr>PowerPoint Presentation</vt:lpstr>
      <vt:lpstr>Abstraction</vt:lpstr>
      <vt:lpstr>Abstract class </vt:lpstr>
      <vt:lpstr>PowerPoint Presentation</vt:lpstr>
      <vt:lpstr>PowerPoint Presentation</vt:lpstr>
      <vt:lpstr>PowerPoint Presentation</vt:lpstr>
      <vt:lpstr>//Abstract classes using constructors</vt:lpstr>
      <vt:lpstr>Interfaces</vt:lpstr>
      <vt:lpstr>PowerPoint Presentation</vt:lpstr>
      <vt:lpstr>PowerPoint Presentation</vt:lpstr>
      <vt:lpstr>PowerPoint Presentation</vt:lpstr>
      <vt:lpstr>Multiple inheritance in Java by interface </vt:lpstr>
      <vt:lpstr>PowerPoint Presentation</vt:lpstr>
      <vt:lpstr>Interface inheritance </vt:lpstr>
      <vt:lpstr>Static  and default method  in Interface </vt:lpstr>
      <vt:lpstr>PowerPoint Presentation</vt:lpstr>
      <vt:lpstr>PowerPoint Presentation</vt:lpstr>
      <vt:lpstr>Package in Java</vt:lpstr>
      <vt:lpstr>PowerPoint Presentation</vt:lpstr>
      <vt:lpstr>PowerPoint Presentation</vt:lpstr>
      <vt:lpstr>TYPES OF PACKAGES </vt:lpstr>
      <vt:lpstr>SYSTEM PACKAGES /JAVA API</vt:lpstr>
      <vt:lpstr>PowerPoint Presentation</vt:lpstr>
      <vt:lpstr>PowerPoint Presentation</vt:lpstr>
      <vt:lpstr>USER DEFINED PACKAGES :</vt:lpstr>
      <vt:lpstr>PowerPoint Presentation</vt:lpstr>
      <vt:lpstr>Example</vt:lpstr>
      <vt:lpstr>PowerPoint Presentation</vt:lpstr>
      <vt:lpstr>PowerPoint Presentation</vt:lpstr>
      <vt:lpstr>PowerPoint Presentation</vt:lpstr>
      <vt:lpstr>PowerPoint Presentation</vt:lpstr>
      <vt:lpstr>2) Using packagename.classname If you import package.classname then only declared class of this package will be accessible. </vt:lpstr>
      <vt:lpstr>PowerPoint Presentation</vt:lpstr>
      <vt:lpstr>PowerPoint Presentation</vt:lpstr>
      <vt:lpstr>Creating Sub packages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 - Inheritance, Packages and Interfaces</dc:title>
  <dc:creator>GOPI</dc:creator>
  <cp:lastModifiedBy>Windows User</cp:lastModifiedBy>
  <cp:revision>111</cp:revision>
  <dcterms:created xsi:type="dcterms:W3CDTF">2019-01-21T16:46:41Z</dcterms:created>
  <dcterms:modified xsi:type="dcterms:W3CDTF">2026-09-02T08:15:20Z</dcterms:modified>
</cp:coreProperties>
</file>