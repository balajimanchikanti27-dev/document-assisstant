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6" r:id="rId1"/>
  </p:sldMasterIdLst>
  <p:notesMasterIdLst>
    <p:notesMasterId r:id="rId65"/>
  </p:notesMasterIdLst>
  <p:handoutMasterIdLst>
    <p:handoutMasterId r:id="rId66"/>
  </p:handoutMasterIdLst>
  <p:sldIdLst>
    <p:sldId id="362" r:id="rId2"/>
    <p:sldId id="306" r:id="rId3"/>
    <p:sldId id="307" r:id="rId4"/>
    <p:sldId id="344" r:id="rId5"/>
    <p:sldId id="309" r:id="rId6"/>
    <p:sldId id="310" r:id="rId7"/>
    <p:sldId id="347" r:id="rId8"/>
    <p:sldId id="411" r:id="rId9"/>
    <p:sldId id="423" r:id="rId10"/>
    <p:sldId id="313" r:id="rId11"/>
    <p:sldId id="325" r:id="rId12"/>
    <p:sldId id="315" r:id="rId13"/>
    <p:sldId id="314" r:id="rId14"/>
    <p:sldId id="345" r:id="rId15"/>
    <p:sldId id="412" r:id="rId16"/>
    <p:sldId id="318" r:id="rId17"/>
    <p:sldId id="339" r:id="rId18"/>
    <p:sldId id="424" r:id="rId19"/>
    <p:sldId id="343" r:id="rId20"/>
    <p:sldId id="360" r:id="rId21"/>
    <p:sldId id="409" r:id="rId22"/>
    <p:sldId id="348" r:id="rId23"/>
    <p:sldId id="350" r:id="rId24"/>
    <p:sldId id="351" r:id="rId25"/>
    <p:sldId id="363" r:id="rId26"/>
    <p:sldId id="364" r:id="rId27"/>
    <p:sldId id="365" r:id="rId28"/>
    <p:sldId id="366" r:id="rId29"/>
    <p:sldId id="414" r:id="rId30"/>
    <p:sldId id="413" r:id="rId31"/>
    <p:sldId id="367" r:id="rId32"/>
    <p:sldId id="370" r:id="rId33"/>
    <p:sldId id="353" r:id="rId34"/>
    <p:sldId id="416" r:id="rId35"/>
    <p:sldId id="415" r:id="rId36"/>
    <p:sldId id="417" r:id="rId37"/>
    <p:sldId id="419" r:id="rId38"/>
    <p:sldId id="420" r:id="rId39"/>
    <p:sldId id="421" r:id="rId40"/>
    <p:sldId id="349" r:id="rId41"/>
    <p:sldId id="393" r:id="rId42"/>
    <p:sldId id="396" r:id="rId43"/>
    <p:sldId id="397" r:id="rId44"/>
    <p:sldId id="395" r:id="rId45"/>
    <p:sldId id="398" r:id="rId46"/>
    <p:sldId id="399" r:id="rId47"/>
    <p:sldId id="400" r:id="rId48"/>
    <p:sldId id="401" r:id="rId49"/>
    <p:sldId id="425" r:id="rId50"/>
    <p:sldId id="402" r:id="rId51"/>
    <p:sldId id="403" r:id="rId52"/>
    <p:sldId id="426" r:id="rId53"/>
    <p:sldId id="404" r:id="rId54"/>
    <p:sldId id="405" r:id="rId55"/>
    <p:sldId id="422" r:id="rId56"/>
    <p:sldId id="368" r:id="rId57"/>
    <p:sldId id="369" r:id="rId58"/>
    <p:sldId id="371" r:id="rId59"/>
    <p:sldId id="372" r:id="rId60"/>
    <p:sldId id="373" r:id="rId61"/>
    <p:sldId id="374" r:id="rId62"/>
    <p:sldId id="375" r:id="rId63"/>
    <p:sldId id="361" r:id="rId64"/>
  </p:sldIdLst>
  <p:sldSz cx="12192000" cy="6858000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CC00"/>
    <a:srgbClr val="FFFF99"/>
    <a:srgbClr val="FFFF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52" autoAdjust="0"/>
  </p:normalViewPr>
  <p:slideViewPr>
    <p:cSldViewPr>
      <p:cViewPr>
        <p:scale>
          <a:sx n="81" d="100"/>
          <a:sy n="81" d="100"/>
        </p:scale>
        <p:origin x="906" y="1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6" d="100"/>
        <a:sy n="136" d="100"/>
      </p:scale>
      <p:origin x="0" y="17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D6D89-C3CD-43E5-9CFF-0A2188EC83CD}" type="datetimeFigureOut">
              <a:rPr lang="en-US" smtClean="0"/>
              <a:pPr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83F4F-F363-421A-8354-E880A14A9ED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894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E8575-F07C-4FC9-AB4F-3BCBE8B61F0E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698500"/>
            <a:ext cx="6205538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21188"/>
            <a:ext cx="5564188" cy="4189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B75FC-84DC-4565-9B96-B35974B579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882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62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1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929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43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80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682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127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968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463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65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507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74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298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410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568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955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717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8377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6327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464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12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0664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263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5309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593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708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6556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7160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D756BC-1A0E-43FE-B201-FB9E726D2D81}" type="slidenum">
              <a:rPr lang="en-GB" smtClean="0"/>
              <a:pPr/>
              <a:t>63</a:t>
            </a:fld>
            <a:endParaRPr lang="en-GB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4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383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4FA4E1A-908F-4741-9891-8F5A81145EAD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9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8156F-89E8-47E1-901F-08332ECAD93E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7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27E9E-70AF-4AB8-A18B-64181101CB30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85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85D68-A511-4826-9B1D-45937688EDEB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54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DD76D-24FC-4C4C-B959-A3B8F73ADDD7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5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AE38-390D-411C-AC3D-41BE54783AC8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4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051C-A8AB-453D-85AB-13067A0897BC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29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3D88-DEE9-40C4-81A4-57E1A5414C73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762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2085D-62C3-492C-AA53-E241E2D90A6B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234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1E31-6F51-4FB1-9531-5D7021810749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52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2305-4EB0-4273-96C2-71EB7D08B341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105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9F7EE-BC3B-4836-8BE1-E7AEDD0DFF3B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8568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64B45-8114-4FA3-BA45-B14018082FFE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55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FEC5-EEB1-471C-9ECE-1C2B7FEC0766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750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DA846-59E6-4E4C-BF44-4739CA60F885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262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A110-29F1-4FD8-8DEA-A73D73694D9F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514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4583E-617B-4A36-A822-34E536DB7412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6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defRPr>
            </a:lvl1pPr>
          </a:lstStyle>
          <a:p>
            <a:fld id="{B59EE615-F00D-41FE-8EFE-05262B867E1C}" type="datetime1">
              <a:rPr lang="en-US" smtClean="0"/>
              <a:pPr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1873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parajita" panose="02020603050405020304" pitchFamily="18" charset="0"/>
          <a:ea typeface="+mj-ea"/>
          <a:cs typeface="Aparajita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parajita" panose="02020603050405020304" pitchFamily="18" charset="0"/>
          <a:ea typeface="+mn-ea"/>
          <a:cs typeface="Aparajita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parajita" panose="02020603050405020304" pitchFamily="18" charset="0"/>
          <a:ea typeface="+mn-ea"/>
          <a:cs typeface="Aparajita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parajita" panose="02020603050405020304" pitchFamily="18" charset="0"/>
          <a:ea typeface="+mn-ea"/>
          <a:cs typeface="Aparajita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parajita" panose="02020603050405020304" pitchFamily="18" charset="0"/>
          <a:ea typeface="+mn-ea"/>
          <a:cs typeface="Aparajita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parajita" panose="02020603050405020304" pitchFamily="18" charset="0"/>
          <a:ea typeface="+mn-ea"/>
          <a:cs typeface="Aparajita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1767600" y="-16920"/>
            <a:ext cx="10423800" cy="5767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9" name="CustomShape 3"/>
          <p:cNvSpPr/>
          <p:nvPr/>
        </p:nvSpPr>
        <p:spPr>
          <a:xfrm>
            <a:off x="0" y="639648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r>
              <a:rPr lang="en-US" sz="2800" b="1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itchFamily="18" charset="0"/>
              </a:rPr>
              <a:t>22CS201-DBMS							                                                 Dept. of CSE</a:t>
            </a:r>
          </a:p>
          <a:p>
            <a:pPr>
              <a:lnSpc>
                <a:spcPct val="100000"/>
              </a:lnSpc>
            </a:pPr>
            <a:endParaRPr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43" name="CustomShape 7"/>
          <p:cNvSpPr/>
          <p:nvPr/>
        </p:nvSpPr>
        <p:spPr>
          <a:xfrm>
            <a:off x="9448920" y="641736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6C8D3CF-AF89-446B-ABD0-133C8FAE1B80}" type="slidenum">
              <a:rPr lang="en-IN" sz="120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</a:t>
            </a:fld>
            <a:endParaRPr/>
          </a:p>
        </p:txBody>
      </p:sp>
      <p:sp>
        <p:nvSpPr>
          <p:cNvPr id="44" name="CustomShape 8"/>
          <p:cNvSpPr/>
          <p:nvPr/>
        </p:nvSpPr>
        <p:spPr>
          <a:xfrm>
            <a:off x="1667208" y="1750163"/>
            <a:ext cx="8856984" cy="3070361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50000"/>
              </a:lnSpc>
            </a:pPr>
            <a:r>
              <a:rPr lang="en-IN" sz="60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Transaction Processing Concepts</a:t>
            </a:r>
          </a:p>
        </p:txBody>
      </p:sp>
      <p:pic>
        <p:nvPicPr>
          <p:cNvPr id="1028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820ABDAB-FACD-4807-AC0D-4B6C89333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632" y="-16920"/>
            <a:ext cx="4007768" cy="132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61378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722076" y="0"/>
            <a:ext cx="4215526" cy="57001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solidFill>
                  <a:schemeClr val="bg1"/>
                </a:solidFill>
                <a:latin typeface="Bookman Old Style" pitchFamily="18" charset="0"/>
              </a:rPr>
              <a:t>Contents</a:t>
            </a:r>
          </a:p>
        </p:txBody>
      </p:sp>
      <p:sp>
        <p:nvSpPr>
          <p:cNvPr id="48" name="CustomShape 3"/>
          <p:cNvSpPr/>
          <p:nvPr/>
        </p:nvSpPr>
        <p:spPr>
          <a:xfrm>
            <a:off x="15911" y="6425775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stomShape 1"/>
          <p:cNvSpPr/>
          <p:nvPr/>
        </p:nvSpPr>
        <p:spPr>
          <a:xfrm>
            <a:off x="4310050" y="928670"/>
            <a:ext cx="7143800" cy="485778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>
              <a:lnSpc>
                <a:spcPct val="100000"/>
              </a:lnSpc>
            </a:pPr>
            <a:endParaRPr lang="en-IN" sz="2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4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buFont typeface="Wingdings" pitchFamily="2" charset="2"/>
              <a:buChar char="v"/>
            </a:pP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4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1504" y="1484784"/>
            <a:ext cx="9721080" cy="5009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FFF00"/>
              </a:buClr>
            </a:pPr>
            <a:r>
              <a:rPr lang="en-US" sz="36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Transaction:</a:t>
            </a:r>
          </a:p>
          <a:p>
            <a:pPr marL="342900" indent="-3429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Introduction to Transaction Processing</a:t>
            </a:r>
          </a:p>
          <a:p>
            <a:pPr marL="342900" indent="-3429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Transaction and System Concepts</a:t>
            </a:r>
          </a:p>
          <a:p>
            <a:pPr marL="342900" indent="-3429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Desirable Properties of Transactions</a:t>
            </a:r>
          </a:p>
          <a:p>
            <a:pPr marL="342900" indent="-3429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IN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Characterizing Schedules based on serializability</a:t>
            </a:r>
          </a:p>
          <a:p>
            <a:pPr algn="just">
              <a:lnSpc>
                <a:spcPct val="150000"/>
              </a:lnSpc>
              <a:buClr>
                <a:srgbClr val="FFFF00"/>
              </a:buClr>
            </a:pPr>
            <a:endParaRPr lang="en-US" sz="3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767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511824" y="0"/>
            <a:ext cx="4055914" cy="620688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Transaction</a:t>
            </a:r>
            <a:br>
              <a:rPr lang="en-US" sz="3200" b="1" i="1" u="sng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3200" b="1" dirty="0">
              <a:solidFill>
                <a:schemeClr val="bg1"/>
              </a:solidFill>
              <a:latin typeface="Bookman Old Style" panose="02050604050505020204" pitchFamily="18" charset="0"/>
              <a:cs typeface="Calibri" pitchFamily="34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stomShape 1"/>
          <p:cNvSpPr/>
          <p:nvPr/>
        </p:nvSpPr>
        <p:spPr>
          <a:xfrm>
            <a:off x="4095736" y="785794"/>
            <a:ext cx="7643866" cy="557180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>
              <a:lnSpc>
                <a:spcPct val="100000"/>
              </a:lnSpc>
            </a:pPr>
            <a:endParaRPr lang="en-IN" sz="240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Shape 2"/>
          <p:cNvSpPr txBox="1"/>
          <p:nvPr/>
        </p:nvSpPr>
        <p:spPr>
          <a:xfrm>
            <a:off x="911424" y="1196752"/>
            <a:ext cx="10828178" cy="3960440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transaction is a program including a collection of database operations, executed as a logical unit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a transaction </a:t>
            </a: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focusing on executing a series of operations as a single unit of work.</a:t>
            </a:r>
          </a:p>
          <a:p>
            <a:pPr marL="342900" indent="-3429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atomic process that is either performed into completion entirely or is not performed at all. 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322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223792" y="0"/>
            <a:ext cx="4343946" cy="557914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Transaction</a:t>
            </a:r>
            <a:br>
              <a:rPr lang="en-US" sz="3200" b="1" i="1" u="sng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US" sz="3200" b="1" dirty="0">
              <a:solidFill>
                <a:schemeClr val="bg1"/>
              </a:solidFill>
              <a:latin typeface="Bookman Old Style" panose="02050604050505020204" pitchFamily="18" charset="0"/>
              <a:cs typeface="Calibri" pitchFamily="34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stomShape 1"/>
          <p:cNvSpPr/>
          <p:nvPr/>
        </p:nvSpPr>
        <p:spPr>
          <a:xfrm>
            <a:off x="4095736" y="785794"/>
            <a:ext cx="7643866" cy="557180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>
              <a:lnSpc>
                <a:spcPct val="100000"/>
              </a:lnSpc>
            </a:pPr>
            <a:endParaRPr lang="en-IN" sz="240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Shape 2"/>
          <p:cNvSpPr txBox="1"/>
          <p:nvPr/>
        </p:nvSpPr>
        <p:spPr>
          <a:xfrm>
            <a:off x="1343472" y="1890867"/>
            <a:ext cx="9141358" cy="4201117"/>
          </a:xfrm>
          <a:prstGeom prst="rect">
            <a:avLst/>
          </a:prstGeom>
        </p:spPr>
        <p:txBody>
          <a:bodyPr/>
          <a:lstStyle/>
          <a:p>
            <a:pPr marL="342900" indent="-3429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 transaction has two boundaries 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 transaction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transaction.</a:t>
            </a:r>
          </a:p>
          <a:p>
            <a:pPr marL="342900" indent="-3429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insertion, deletion, modification, or retrieval operation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 an application program.</a:t>
            </a:r>
          </a:p>
          <a:p>
            <a:pPr>
              <a:lnSpc>
                <a:spcPct val="150000"/>
              </a:lnSpc>
            </a:pP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</a:pP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5613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2100382" y="117810"/>
            <a:ext cx="7348538" cy="54868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IN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Transaction processing systems</a:t>
            </a:r>
            <a:endParaRPr lang="en-US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524364" y="714356"/>
            <a:ext cx="678661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endParaRPr lang="en-US" sz="2800" dirty="0">
              <a:latin typeface="Calibri" pitchFamily="34" charset="0"/>
            </a:endParaRPr>
          </a:p>
          <a:p>
            <a:pPr algn="just">
              <a:lnSpc>
                <a:spcPct val="90000"/>
              </a:lnSpc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99457" y="1185747"/>
            <a:ext cx="9934629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Clr>
                <a:srgbClr val="FFFF00"/>
              </a:buClr>
              <a:buFont typeface="Courier New" panose="02070309020205020404" pitchFamily="49" charset="0"/>
              <a:buChar char="o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processing systems are systems with </a:t>
            </a: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databases and</a:t>
            </a: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hundreds of concurrent users”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executing database transactions.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Examples of such systems are</a:t>
            </a:r>
          </a:p>
          <a:p>
            <a:pPr marL="1257300" lvl="2" indent="-342900">
              <a:spcBef>
                <a:spcPts val="600"/>
              </a:spcBef>
              <a:buClr>
                <a:srgbClr val="FFFF00"/>
              </a:buClr>
              <a:buSzPct val="120000"/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Reservations</a:t>
            </a:r>
          </a:p>
          <a:p>
            <a:pPr marL="1257300" lvl="2" indent="-342900">
              <a:spcBef>
                <a:spcPts val="600"/>
              </a:spcBef>
              <a:buClr>
                <a:srgbClr val="FFFF00"/>
              </a:buClr>
              <a:buSzPct val="120000"/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Banking</a:t>
            </a:r>
          </a:p>
          <a:p>
            <a:pPr marL="1257300" lvl="2" indent="-342900">
              <a:spcBef>
                <a:spcPts val="600"/>
              </a:spcBef>
              <a:buClr>
                <a:srgbClr val="FFFF00"/>
              </a:buClr>
              <a:buSzPct val="120000"/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markets</a:t>
            </a:r>
          </a:p>
          <a:p>
            <a:pPr marL="1257300" lvl="2" indent="-342900">
              <a:spcBef>
                <a:spcPts val="600"/>
              </a:spcBef>
              <a:buClr>
                <a:srgbClr val="FFFF00"/>
              </a:buClr>
              <a:buSzPct val="120000"/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Supermarkets</a:t>
            </a:r>
          </a:p>
          <a:p>
            <a:pPr>
              <a:spcBef>
                <a:spcPts val="6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require high availability and fast response time for hundreds of concurrent users.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2670994"/>
            <a:ext cx="3201061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775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1991544" y="104088"/>
            <a:ext cx="7446140" cy="51660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Basic database access operations</a:t>
            </a:r>
            <a:endParaRPr lang="en-US" sz="3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90000"/>
              </a:lnSpc>
            </a:pPr>
            <a:endParaRPr lang="en-IN" sz="32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600" y="640224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stomShape 1"/>
          <p:cNvSpPr/>
          <p:nvPr/>
        </p:nvSpPr>
        <p:spPr>
          <a:xfrm>
            <a:off x="983432" y="1556792"/>
            <a:ext cx="10729192" cy="329412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>
              <a:buNone/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read_item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−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data item from storage to main memory.</a:t>
            </a:r>
          </a:p>
          <a:p>
            <a:pPr algn="just">
              <a:buNone/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write_item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−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modified value from main memory to storage.</a:t>
            </a:r>
          </a:p>
          <a:p>
            <a:pPr marL="0" lvl="2" algn="just">
              <a:lnSpc>
                <a:spcPct val="150000"/>
              </a:lnSpc>
            </a:pP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715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511824" y="16567"/>
            <a:ext cx="2498565" cy="583053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Example</a:t>
            </a:r>
          </a:p>
        </p:txBody>
      </p:sp>
      <p:sp>
        <p:nvSpPr>
          <p:cNvPr id="48" name="CustomShape 3"/>
          <p:cNvSpPr/>
          <p:nvPr/>
        </p:nvSpPr>
        <p:spPr>
          <a:xfrm>
            <a:off x="0" y="6449040"/>
            <a:ext cx="12191400" cy="4039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stomShape 1"/>
          <p:cNvSpPr/>
          <p:nvPr/>
        </p:nvSpPr>
        <p:spPr>
          <a:xfrm>
            <a:off x="4595802" y="914400"/>
            <a:ext cx="7143800" cy="4800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>
              <a:lnSpc>
                <a:spcPct val="150000"/>
              </a:lnSpc>
            </a:pP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43602" y="85817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44B76B-EED7-5A51-53FF-084E015A7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381393"/>
              </p:ext>
            </p:extLst>
          </p:nvPr>
        </p:nvGraphicFramePr>
        <p:xfrm>
          <a:off x="2423592" y="1157727"/>
          <a:ext cx="6408712" cy="46218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1420">
                  <a:extLst>
                    <a:ext uri="{9D8B030D-6E8A-4147-A177-3AD203B41FA5}">
                      <a16:colId xmlns:a16="http://schemas.microsoft.com/office/drawing/2014/main" val="514804193"/>
                    </a:ext>
                  </a:extLst>
                </a:gridCol>
                <a:gridCol w="2867292">
                  <a:extLst>
                    <a:ext uri="{9D8B030D-6E8A-4147-A177-3AD203B41FA5}">
                      <a16:colId xmlns:a16="http://schemas.microsoft.com/office/drawing/2014/main" val="620542628"/>
                    </a:ext>
                  </a:extLst>
                </a:gridCol>
              </a:tblGrid>
              <a:tr h="66026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BEFORE T: X: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Y: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433159"/>
                  </a:ext>
                </a:extLst>
              </a:tr>
              <a:tr h="660269">
                <a:tc gridSpan="2"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Transaction 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147958"/>
                  </a:ext>
                </a:extLst>
              </a:tr>
              <a:tr h="660269">
                <a:tc>
                  <a:txBody>
                    <a:bodyPr/>
                    <a:lstStyle/>
                    <a:p>
                      <a:pPr algn="ctr"/>
                      <a:r>
                        <a:rPr lang="en-IN" sz="36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b="1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272553"/>
                  </a:ext>
                </a:extLst>
              </a:tr>
              <a:tr h="66026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err="1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read_item</a:t>
                      </a:r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err="1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read_item</a:t>
                      </a:r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929512"/>
                  </a:ext>
                </a:extLst>
              </a:tr>
              <a:tr h="66026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X:=X-100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Y:=Y+100</a:t>
                      </a:r>
                      <a:endParaRPr lang="en-IN" sz="3600" dirty="0">
                        <a:latin typeface="Aparajita" panose="02020603050405020304" pitchFamily="18" charset="0"/>
                        <a:cs typeface="Aparajita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021601"/>
                  </a:ext>
                </a:extLst>
              </a:tr>
              <a:tr h="66026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err="1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write_item</a:t>
                      </a:r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 err="1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write_item</a:t>
                      </a:r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644215"/>
                  </a:ext>
                </a:extLst>
              </a:tr>
              <a:tr h="660269"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After T: X:400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latin typeface="Aparajita" panose="02020603050405020304" pitchFamily="18" charset="0"/>
                          <a:cs typeface="Aparajita" panose="02020603050405020304" pitchFamily="18" charset="0"/>
                        </a:rPr>
                        <a:t>Y: 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294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2645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A9F77-F570-0106-B788-C822910C4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908720"/>
            <a:ext cx="8064896" cy="25346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E6E970-6EC5-9E3F-1B20-5B54265F4C91}"/>
              </a:ext>
            </a:extLst>
          </p:cNvPr>
          <p:cNvSpPr txBox="1"/>
          <p:nvPr/>
        </p:nvSpPr>
        <p:spPr>
          <a:xfrm>
            <a:off x="1487488" y="188640"/>
            <a:ext cx="6984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Why Concurrency Control Is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C29CDF-18A8-9685-F412-344C6803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857" y="2996952"/>
            <a:ext cx="6951823" cy="386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37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1991544" y="104088"/>
            <a:ext cx="7446140" cy="51660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Transaction Operations</a:t>
            </a:r>
            <a:endParaRPr lang="en-IN" sz="32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600" y="640224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26EA4C-9B12-3070-CF96-BA8B9EADCEAC}"/>
              </a:ext>
            </a:extLst>
          </p:cNvPr>
          <p:cNvSpPr txBox="1"/>
          <p:nvPr/>
        </p:nvSpPr>
        <p:spPr>
          <a:xfrm>
            <a:off x="1055440" y="926141"/>
            <a:ext cx="1022513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low level operations performed in a transaction are −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begin_transaction</a:t>
            </a:r>
            <a:r>
              <a:rPr lang="en-US" sz="2200" dirty="0"/>
              <a:t> − A marker that specifies start of transaction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read_item</a:t>
            </a:r>
            <a:r>
              <a:rPr lang="en-US" sz="2200" dirty="0"/>
              <a:t> or </a:t>
            </a:r>
            <a:r>
              <a:rPr lang="en-US" sz="2200" dirty="0" err="1"/>
              <a:t>write_item</a:t>
            </a:r>
            <a:r>
              <a:rPr lang="en-US" sz="2200" dirty="0"/>
              <a:t> − Database operations that may be interleaved with main memory operations as a part of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err="1"/>
              <a:t>end_transaction</a:t>
            </a:r>
            <a:r>
              <a:rPr lang="en-US" sz="2200" dirty="0"/>
              <a:t> − A marker that specifies end of transaction.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commit − A signal to specify that the transaction has been successfully completed and will not be undone.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rollback − A signal to specify that the transaction has been unsuccessful and so all temporary changes in the database are undone. A committed transaction cannot be rolled back.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832434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2871068" y="12700"/>
            <a:ext cx="6449264" cy="837165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IN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Transaction and system concepts</a:t>
            </a: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10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stomShape 1"/>
          <p:cNvSpPr/>
          <p:nvPr/>
        </p:nvSpPr>
        <p:spPr>
          <a:xfrm>
            <a:off x="4595802" y="914400"/>
            <a:ext cx="7143800" cy="4800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>
              <a:lnSpc>
                <a:spcPct val="150000"/>
              </a:lnSpc>
            </a:pP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24332" y="1211085"/>
            <a:ext cx="6096000" cy="44358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states:</a:t>
            </a:r>
          </a:p>
          <a:p>
            <a:pPr marL="914400" lvl="1" indent="-4572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state</a:t>
            </a:r>
          </a:p>
          <a:p>
            <a:pPr marL="914400" lvl="1" indent="-4572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committed state</a:t>
            </a:r>
          </a:p>
          <a:p>
            <a:pPr marL="914400" lvl="1" indent="-4572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Committed state</a:t>
            </a:r>
          </a:p>
          <a:p>
            <a:pPr marL="914400" lvl="1" indent="-4572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 state</a:t>
            </a:r>
          </a:p>
          <a:p>
            <a:pPr marL="914400" lvl="1" indent="-4572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Terminated State</a:t>
            </a:r>
          </a:p>
        </p:txBody>
      </p:sp>
    </p:spTree>
    <p:extLst>
      <p:ext uri="{BB962C8B-B14F-4D97-AF65-F5344CB8AC3E}">
        <p14:creationId xmlns:p14="http://schemas.microsoft.com/office/powerpoint/2010/main" val="2123367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511824" y="14231"/>
            <a:ext cx="2808312" cy="51660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States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>
                <a:lnSpc>
                  <a:spcPct val="100000"/>
                </a:lnSpc>
              </a:pPr>
              <a:t>11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Shape 2"/>
          <p:cNvSpPr txBox="1"/>
          <p:nvPr/>
        </p:nvSpPr>
        <p:spPr>
          <a:xfrm>
            <a:off x="4439816" y="1345625"/>
            <a:ext cx="7286676" cy="5449355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43472" y="1196753"/>
            <a:ext cx="1005698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State −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state where the transaction enters is the active state. The transaction remains in this state while it is executing read or write operations.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Partially Committed −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enters this state after the last statement of the transaction has been executed.</a:t>
            </a:r>
          </a:p>
        </p:txBody>
      </p:sp>
    </p:spTree>
    <p:extLst>
      <p:ext uri="{BB962C8B-B14F-4D97-AF65-F5344CB8AC3E}">
        <p14:creationId xmlns:p14="http://schemas.microsoft.com/office/powerpoint/2010/main" val="1365340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727848" y="0"/>
            <a:ext cx="2448272" cy="51660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    States</a:t>
            </a: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12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Shape 2"/>
          <p:cNvSpPr txBox="1"/>
          <p:nvPr/>
        </p:nvSpPr>
        <p:spPr>
          <a:xfrm>
            <a:off x="911424" y="961575"/>
            <a:ext cx="10527036" cy="5143536"/>
          </a:xfrm>
          <a:prstGeom prst="rect">
            <a:avLst/>
          </a:prstGeom>
        </p:spPr>
        <p:txBody>
          <a:bodyPr/>
          <a:lstStyle/>
          <a:p>
            <a:pPr marL="342900" indent="-342900" algn="just">
              <a:spcBef>
                <a:spcPts val="300"/>
              </a:spcBef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Committed −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enters this state after successful completion of the transaction and system checks have issued commit signal.</a:t>
            </a:r>
          </a:p>
          <a:p>
            <a:pPr marL="342900" indent="-342900" algn="just">
              <a:spcBef>
                <a:spcPts val="300"/>
              </a:spcBef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Failed −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transaction goes from partially committed state or active state to failed state when it is discovered that normal execution can no longer proceed or system checks fail.</a:t>
            </a:r>
          </a:p>
          <a:p>
            <a:pPr marL="342900" indent="-342900" algn="just">
              <a:spcBef>
                <a:spcPts val="300"/>
              </a:spcBef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n-US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300"/>
              </a:spcBef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Rollback/Aborted −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signals that the transaction has ended unsuccessfully, so that any changes or effects that the transaction may have applied to the database must be undone.</a:t>
            </a:r>
          </a:p>
          <a:p>
            <a:pPr marL="342900" indent="-342900" algn="just">
              <a:spcBef>
                <a:spcPts val="300"/>
              </a:spcBef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292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2567608" y="0"/>
            <a:ext cx="6988498" cy="837166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IN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Transaction States or State Transition Diagram</a:t>
            </a:r>
            <a:endParaRPr lang="en-US" sz="28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13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Shape 2"/>
          <p:cNvSpPr txBox="1"/>
          <p:nvPr/>
        </p:nvSpPr>
        <p:spPr>
          <a:xfrm>
            <a:off x="4810116" y="1070640"/>
            <a:ext cx="6929486" cy="514444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endParaRPr lang="en-US" sz="240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algn="just">
              <a:lnSpc>
                <a:spcPct val="100000"/>
              </a:lnSpc>
            </a:pPr>
            <a:endParaRPr dirty="0"/>
          </a:p>
        </p:txBody>
      </p:sp>
      <p:pic>
        <p:nvPicPr>
          <p:cNvPr id="1028" name="Picture 4" descr="https://www.guru99.com/images/1/100518_0500_DBMSTransac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456" y="1196752"/>
            <a:ext cx="10280978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5528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511824" y="6648"/>
            <a:ext cx="3240360" cy="51660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solidFill>
                  <a:schemeClr val="bg1"/>
                </a:solidFill>
                <a:latin typeface="Bookman Old Style" pitchFamily="18" charset="0"/>
              </a:rPr>
              <a:t>System  log</a:t>
            </a: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14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4452926" y="990600"/>
            <a:ext cx="70723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endParaRPr lang="en-US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99456" y="2093934"/>
            <a:ext cx="10541856" cy="1653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keep a track of all transaction operations system maintains log</a:t>
            </a:r>
          </a:p>
          <a:p>
            <a:pPr marL="342900" indent="-3429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refers unique 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transaction-id</a:t>
            </a:r>
          </a:p>
        </p:txBody>
      </p:sp>
    </p:spTree>
    <p:extLst>
      <p:ext uri="{BB962C8B-B14F-4D97-AF65-F5344CB8AC3E}">
        <p14:creationId xmlns:p14="http://schemas.microsoft.com/office/powerpoint/2010/main" val="40235627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B41FE7-B6E5-4994-CFD7-EF5CB6B4881D}"/>
              </a:ext>
            </a:extLst>
          </p:cNvPr>
          <p:cNvSpPr txBox="1"/>
          <p:nvPr/>
        </p:nvSpPr>
        <p:spPr>
          <a:xfrm>
            <a:off x="983432" y="1124744"/>
            <a:ext cx="107291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In these entries, T refers to a unique transaction-id that is generated automatically by the system for each transaction and that is used to identify each transaction:</a:t>
            </a:r>
          </a:p>
          <a:p>
            <a:endParaRPr lang="en-US" sz="2400" dirty="0"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  <a:latin typeface="+mj-lt"/>
              </a:rPr>
              <a:t>[</a:t>
            </a:r>
            <a:r>
              <a:rPr lang="en-US" sz="2400" b="1" dirty="0" err="1">
                <a:solidFill>
                  <a:srgbClr val="FFC000"/>
                </a:solidFill>
                <a:latin typeface="+mj-lt"/>
              </a:rPr>
              <a:t>start_transaction</a:t>
            </a:r>
            <a:r>
              <a:rPr lang="en-US" sz="2400" b="1" dirty="0">
                <a:solidFill>
                  <a:srgbClr val="FFC000"/>
                </a:solidFill>
                <a:latin typeface="+mj-lt"/>
              </a:rPr>
              <a:t>, T]: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Indicates that transaction T has started execution.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  <a:latin typeface="+mj-lt"/>
              </a:rPr>
              <a:t>[</a:t>
            </a:r>
            <a:r>
              <a:rPr lang="en-US" sz="2400" b="1" dirty="0" err="1">
                <a:solidFill>
                  <a:srgbClr val="FFC000"/>
                </a:solidFill>
                <a:latin typeface="+mj-lt"/>
              </a:rPr>
              <a:t>write_item</a:t>
            </a:r>
            <a:r>
              <a:rPr lang="en-US" sz="2400" b="1" dirty="0">
                <a:solidFill>
                  <a:srgbClr val="FFC000"/>
                </a:solidFill>
                <a:latin typeface="+mj-lt"/>
              </a:rPr>
              <a:t>, T, X, </a:t>
            </a:r>
            <a:r>
              <a:rPr lang="en-US" sz="2400" b="1" dirty="0" err="1">
                <a:solidFill>
                  <a:srgbClr val="FFC000"/>
                </a:solidFill>
                <a:latin typeface="+mj-lt"/>
              </a:rPr>
              <a:t>old_value</a:t>
            </a:r>
            <a:r>
              <a:rPr lang="en-US" sz="2400" b="1" dirty="0">
                <a:solidFill>
                  <a:srgbClr val="FFC000"/>
                </a:solidFill>
                <a:latin typeface="+mj-lt"/>
              </a:rPr>
              <a:t>, </a:t>
            </a:r>
            <a:r>
              <a:rPr lang="en-US" sz="2400" b="1" dirty="0" err="1">
                <a:solidFill>
                  <a:srgbClr val="FFC000"/>
                </a:solidFill>
                <a:latin typeface="+mj-lt"/>
              </a:rPr>
              <a:t>new_value</a:t>
            </a:r>
            <a:r>
              <a:rPr lang="en-US" sz="2400" b="1" dirty="0">
                <a:solidFill>
                  <a:srgbClr val="FFC000"/>
                </a:solidFill>
                <a:latin typeface="+mj-lt"/>
              </a:rPr>
              <a:t>]: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Indicates that transaction T has changed the value of database item X from </a:t>
            </a:r>
            <a:r>
              <a:rPr lang="en-US" sz="2400" dirty="0" err="1">
                <a:latin typeface="+mj-lt"/>
              </a:rPr>
              <a:t>old_value</a:t>
            </a:r>
            <a:r>
              <a:rPr lang="en-US" sz="2400" dirty="0">
                <a:latin typeface="+mj-lt"/>
              </a:rPr>
              <a:t> to </a:t>
            </a:r>
            <a:r>
              <a:rPr lang="en-US" sz="2400" dirty="0" err="1">
                <a:latin typeface="+mj-lt"/>
              </a:rPr>
              <a:t>new_value</a:t>
            </a:r>
            <a:r>
              <a:rPr lang="en-US" sz="2400" dirty="0">
                <a:latin typeface="+mj-lt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  <a:latin typeface="+mj-lt"/>
              </a:rPr>
              <a:t>[</a:t>
            </a:r>
            <a:r>
              <a:rPr lang="en-US" sz="2400" b="1" dirty="0" err="1">
                <a:solidFill>
                  <a:srgbClr val="FFC000"/>
                </a:solidFill>
                <a:latin typeface="+mj-lt"/>
              </a:rPr>
              <a:t>read_item</a:t>
            </a:r>
            <a:r>
              <a:rPr lang="en-US" sz="2400" b="1" dirty="0">
                <a:solidFill>
                  <a:srgbClr val="FFC000"/>
                </a:solidFill>
                <a:latin typeface="+mj-lt"/>
              </a:rPr>
              <a:t>, T, X]: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Indicates that transaction T has read the value of database </a:t>
            </a:r>
            <a:r>
              <a:rPr lang="en-IN" sz="2400" dirty="0">
                <a:latin typeface="+mj-lt"/>
              </a:rPr>
              <a:t>item X.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  <a:latin typeface="+mj-lt"/>
              </a:rPr>
              <a:t>[commit, T]: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Indicates that transaction T has completed successfully, and affirms that its effect can be committed (recorded permanently) to the database.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FFC000"/>
                </a:solidFill>
                <a:latin typeface="+mj-lt"/>
              </a:rPr>
              <a:t>[abort, T]: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Indicates that transaction T has been aborted.</a:t>
            </a:r>
          </a:p>
          <a:p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6758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2207568" y="11774"/>
            <a:ext cx="5908572" cy="1005989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DESIRABLE PROPERTIES OF TRANSACTIONS</a:t>
            </a:r>
            <a:br>
              <a:rPr lang="en-US" sz="2800" b="1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endParaRPr lang="en-IN" sz="28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16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238744" y="1017763"/>
            <a:ext cx="7810512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US" sz="240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03512" y="1611875"/>
            <a:ext cx="9840416" cy="4147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FFF00"/>
              </a:buClr>
            </a:pPr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ACID Properties</a:t>
            </a:r>
          </a:p>
          <a:p>
            <a:pPr marL="1828800" lvl="3" indent="-4572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IN" sz="3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A-Atomicity</a:t>
            </a:r>
          </a:p>
          <a:p>
            <a:pPr marL="1828800" lvl="3" indent="-4572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IN" sz="3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C-Consistency</a:t>
            </a:r>
          </a:p>
          <a:p>
            <a:pPr marL="1828800" lvl="3" indent="-4572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IN" sz="3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 Isolation</a:t>
            </a:r>
          </a:p>
          <a:p>
            <a:pPr marL="1828800" lvl="3" indent="-4572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ü"/>
            </a:pPr>
            <a:r>
              <a:rPr lang="en-IN" sz="3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D- Durability</a:t>
            </a:r>
          </a:p>
        </p:txBody>
      </p:sp>
    </p:spTree>
    <p:extLst>
      <p:ext uri="{BB962C8B-B14F-4D97-AF65-F5344CB8AC3E}">
        <p14:creationId xmlns:p14="http://schemas.microsoft.com/office/powerpoint/2010/main" val="9592823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17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911424" y="692696"/>
            <a:ext cx="10514204" cy="5472607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571500" indent="-571500" algn="just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Atomicity − </a:t>
            </a: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Ensures that either all the operations in a transaction are completed, or none of them are.</a:t>
            </a:r>
          </a:p>
          <a:p>
            <a:pPr marL="1028700" lvl="1" indent="-571500" algn="just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Example: If you are transferring money between two bank accounts, the amount should be deducted from one account and added to another in a single transaction. If one operation fails, the entire transaction is rolled back.</a:t>
            </a:r>
          </a:p>
          <a:p>
            <a:pPr marL="571500" indent="-571500" algn="just">
              <a:buClr>
                <a:srgbClr val="FFFF00"/>
              </a:buClr>
              <a:buFont typeface="Arial" panose="020B0604020202020204" pitchFamily="34" charset="0"/>
              <a:buChar char="•"/>
            </a:pPr>
            <a:endParaRPr lang="en-US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571500" indent="-571500" algn="just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Consistency − </a:t>
            </a: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A transaction should take the database from one consistent state to another consistent state. It should not adversely affect any data item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6450890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18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911424" y="837165"/>
            <a:ext cx="10514204" cy="4896091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571500" indent="-571500" algn="just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Isolation − </a:t>
            </a: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A transaction should be executed as if it is the only one in the system. There should not be any interference from the other concurrent transactions that are simultaneously running.</a:t>
            </a:r>
          </a:p>
          <a:p>
            <a:pPr marL="1028700" lvl="1" indent="-571500" algn="just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Example: If two people are booking the last seat on a flight at the same time, one should not see the incomplete state of the other's transaction, which might result in overbooking.</a:t>
            </a:r>
          </a:p>
          <a:p>
            <a:pPr marL="571500" indent="-571500" algn="just">
              <a:buClr>
                <a:srgbClr val="FFFF00"/>
              </a:buClr>
              <a:buFont typeface="Arial" panose="020B0604020202020204" pitchFamily="34" charset="0"/>
              <a:buChar char="•"/>
            </a:pPr>
            <a:endParaRPr lang="en-US" sz="22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571500" indent="-571500" algn="just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Durability − </a:t>
            </a:r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Once a transaction completes successfully, the changes it has made into the database should be permanent even if there is a system failure.</a:t>
            </a:r>
          </a:p>
        </p:txBody>
      </p:sp>
    </p:spTree>
    <p:extLst>
      <p:ext uri="{BB962C8B-B14F-4D97-AF65-F5344CB8AC3E}">
        <p14:creationId xmlns:p14="http://schemas.microsoft.com/office/powerpoint/2010/main" val="39226135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655840" y="6648"/>
            <a:ext cx="4207087" cy="51660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IN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Durability(cont..)</a:t>
            </a: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19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1459120" y="1374233"/>
            <a:ext cx="9361040" cy="4503039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>
              <a:buClr>
                <a:srgbClr val="FFFF00"/>
              </a:buClr>
            </a:pPr>
            <a:r>
              <a:rPr lang="en-IN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Durability Features to consider for durability:</a:t>
            </a:r>
          </a:p>
          <a:p>
            <a:pPr marL="800100" lvl="1" indent="-342900"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IN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Recovery to the </a:t>
            </a:r>
            <a:r>
              <a:rPr lang="en-IN" sz="36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most recent successful </a:t>
            </a:r>
            <a:r>
              <a:rPr lang="en-IN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commit after a </a:t>
            </a:r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database</a:t>
            </a:r>
            <a:r>
              <a:rPr lang="en-IN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software failure.</a:t>
            </a:r>
          </a:p>
          <a:p>
            <a:pPr marL="800100" lvl="1" indent="-342900"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IN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Recovery to the most recent successful commit after an </a:t>
            </a:r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application</a:t>
            </a:r>
            <a:r>
              <a:rPr lang="en-IN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software failure.</a:t>
            </a:r>
          </a:p>
          <a:p>
            <a:pPr marL="800100" lvl="1" indent="-342900"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IN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Recovery to the most recent successful commit after a </a:t>
            </a:r>
            <a:r>
              <a:rPr lang="en-IN" sz="3600" b="1" dirty="0">
                <a:solidFill>
                  <a:schemeClr val="tx2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CPU failure.</a:t>
            </a:r>
          </a:p>
          <a:p>
            <a:pPr marL="800100" lvl="1" indent="-342900"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n-US" sz="3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lvl="1">
              <a:buClr>
                <a:srgbClr val="FFFF00"/>
              </a:buClr>
            </a:pPr>
            <a:endParaRPr lang="en-US" sz="3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n-US" sz="3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553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2135560" y="-16172"/>
            <a:ext cx="6857095" cy="10527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Schedules</a:t>
            </a:r>
          </a:p>
          <a:p>
            <a:pPr algn="ctr">
              <a:lnSpc>
                <a:spcPct val="100000"/>
              </a:lnSpc>
            </a:pPr>
            <a:endParaRPr lang="en-IN" sz="36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0" y="6397200"/>
            <a:ext cx="12191400" cy="4557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bg1"/>
                </a:solidFill>
                <a:latin typeface="Bookman Old Style" pitchFamily="18" charset="0"/>
                <a:ea typeface="Times New Roman"/>
              </a:rPr>
              <a:t>Department of Computer Science &amp; Engineering </a:t>
            </a:r>
            <a:endParaRPr lang="en-US" sz="16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20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1088"/>
            <a:ext cx="2819772" cy="104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stomShape 1"/>
          <p:cNvSpPr/>
          <p:nvPr/>
        </p:nvSpPr>
        <p:spPr>
          <a:xfrm>
            <a:off x="4310050" y="928670"/>
            <a:ext cx="7143800" cy="485778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just">
              <a:lnSpc>
                <a:spcPct val="100000"/>
              </a:lnSpc>
            </a:pPr>
            <a:endParaRPr lang="en-IN" sz="20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4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buFont typeface="Wingdings" pitchFamily="2" charset="2"/>
              <a:buChar char="v"/>
            </a:pPr>
            <a:endParaRPr lang="en-US" sz="24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4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000" b="1" dirty="0">
              <a:latin typeface="Calibri" pitchFamily="34" charset="0"/>
              <a:cs typeface="Calibri" pitchFamily="34" charset="0"/>
            </a:endParaRPr>
          </a:p>
          <a:p>
            <a:pPr marL="0" lvl="2" algn="just">
              <a:lnSpc>
                <a:spcPct val="150000"/>
              </a:lnSpc>
            </a:pP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99456" y="1944088"/>
            <a:ext cx="10585176" cy="4147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FFF00"/>
              </a:buClr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6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Topics:</a:t>
            </a:r>
          </a:p>
          <a:p>
            <a:pPr marL="1028700" lvl="1" indent="-5715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Serial, Non-serial Schedules</a:t>
            </a:r>
          </a:p>
          <a:p>
            <a:pPr marL="1028700" lvl="1" indent="-5715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Serializability Schedules -  Conflict &amp; View</a:t>
            </a:r>
          </a:p>
          <a:p>
            <a:pPr marL="1028700" lvl="1" indent="-5715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Characteristics of a Schedule </a:t>
            </a:r>
          </a:p>
          <a:p>
            <a:pPr marL="342900" indent="-342900" algn="just">
              <a:lnSpc>
                <a:spcPct val="150000"/>
              </a:lnSpc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055830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chedule&#10;&#10;Description automatically generated">
            <a:extLst>
              <a:ext uri="{FF2B5EF4-FFF2-40B4-BE49-F238E27FC236}">
                <a16:creationId xmlns:a16="http://schemas.microsoft.com/office/drawing/2014/main" id="{1377CCAF-F91E-CC67-47E9-EF44D813C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441" y="-27384"/>
            <a:ext cx="7463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09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306850" y="6648"/>
            <a:ext cx="4556077" cy="105814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IN" sz="3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Schedules based on serializability</a:t>
            </a: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22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767408" y="1747525"/>
            <a:ext cx="11305256" cy="4624094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>
              <a:buClr>
                <a:srgbClr val="FFFF00"/>
              </a:buClr>
            </a:pPr>
            <a:r>
              <a:rPr lang="en-IN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  </a:t>
            </a:r>
            <a:r>
              <a:rPr lang="en-IN" sz="40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Schedule:</a:t>
            </a:r>
          </a:p>
          <a:p>
            <a:pPr marL="571500" indent="-571500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The </a:t>
            </a:r>
            <a:r>
              <a:rPr lang="en-US" sz="40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order of execution of operations </a:t>
            </a:r>
            <a:r>
              <a:rPr lang="en-US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from the various transactions is known as a schedule.</a:t>
            </a:r>
          </a:p>
          <a:p>
            <a:pPr marL="571500" indent="-571500">
              <a:buClr>
                <a:srgbClr val="FFFF00"/>
              </a:buClr>
              <a:buFont typeface="Arial" panose="020B0604020202020204" pitchFamily="34" charset="0"/>
              <a:buChar char="•"/>
            </a:pPr>
            <a:r>
              <a:rPr lang="en-US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A sequences of instructions that specify the 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chronological order </a:t>
            </a:r>
            <a:r>
              <a:rPr lang="en-US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in which instructions of concurrent transactions are executed.</a:t>
            </a:r>
          </a:p>
          <a:p>
            <a:pPr>
              <a:buClr>
                <a:srgbClr val="FFFF00"/>
              </a:buClr>
            </a:pPr>
            <a:endParaRPr lang="en-IN" sz="40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51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3215680" y="0"/>
            <a:ext cx="4556077" cy="105814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IN" sz="40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Serial Schedule</a:t>
            </a:r>
            <a:endParaRPr lang="en-IN" sz="4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23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879176" y="2153963"/>
            <a:ext cx="5400600" cy="3836524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lvl="0" algn="just">
              <a:buClr>
                <a:srgbClr val="FFFF00"/>
              </a:buClr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A schedule S is</a:t>
            </a:r>
            <a:r>
              <a:rPr lang="en-US" sz="36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serial </a:t>
            </a: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if, for every transaction T participating in the schedule, all the operations of T are executed consecutively in the schedule.</a:t>
            </a:r>
          </a:p>
          <a:p>
            <a:pPr algn="just">
              <a:buClr>
                <a:srgbClr val="FFFF00"/>
              </a:buClr>
            </a:pPr>
            <a:endParaRPr lang="en-IN" sz="3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3" name="Picture 2" descr="https://www.gatevidyalay.com/wp-content/uploads/2018/05/Serial-Schedules-Example-01.png">
            <a:extLst>
              <a:ext uri="{FF2B5EF4-FFF2-40B4-BE49-F238E27FC236}">
                <a16:creationId xmlns:a16="http://schemas.microsoft.com/office/drawing/2014/main" id="{F6A81EB6-2E80-67D4-1C52-BDF0D1F02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56" y="1516692"/>
            <a:ext cx="4721418" cy="447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479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306850" y="6648"/>
            <a:ext cx="4556077" cy="105814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IN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Non-Serial Schedule</a:t>
            </a:r>
          </a:p>
          <a:p>
            <a:pPr algn="ctr">
              <a:lnSpc>
                <a:spcPct val="90000"/>
              </a:lnSpc>
            </a:pP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24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1559496" y="1785072"/>
            <a:ext cx="3888432" cy="5066280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342900" indent="-342900" fontAlgn="base"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Multiple transactions execute 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concurrently.</a:t>
            </a:r>
          </a:p>
          <a:p>
            <a:pPr marL="342900" indent="-342900" fontAlgn="base"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Operations of all the transactions are </a:t>
            </a:r>
            <a:r>
              <a:rPr lang="en-US" sz="36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interleaved</a:t>
            </a:r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 or mixed with each other.</a:t>
            </a:r>
            <a:endParaRPr lang="en-IN" sz="3600" b="1" dirty="0">
              <a:solidFill>
                <a:srgbClr val="FFFF00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buClr>
                <a:srgbClr val="FFFF00"/>
              </a:buClr>
            </a:pPr>
            <a:endParaRPr lang="en-IN" sz="3600" b="1" dirty="0">
              <a:solidFill>
                <a:srgbClr val="FFFF00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buClr>
                <a:srgbClr val="FFFF00"/>
              </a:buClr>
            </a:pPr>
            <a:endParaRPr lang="en-IN" sz="3600" b="1" dirty="0">
              <a:solidFill>
                <a:srgbClr val="FFFF00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buClr>
                <a:srgbClr val="FFFF00"/>
              </a:buClr>
            </a:pPr>
            <a:endParaRPr lang="en-IN" sz="36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3" name="Picture 2" descr="https://www.gatevidyalay.com/wp-content/uploads/2018/05/Non-Serial-Schedules-Example-01.png">
            <a:extLst>
              <a:ext uri="{FF2B5EF4-FFF2-40B4-BE49-F238E27FC236}">
                <a16:creationId xmlns:a16="http://schemas.microsoft.com/office/drawing/2014/main" id="{1513BEFF-97F9-5414-0633-0A3C0C516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485552"/>
            <a:ext cx="5591164" cy="496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705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97FE8B-268D-4D2E-9A6C-30ABB6F80263}"/>
              </a:ext>
            </a:extLst>
          </p:cNvPr>
          <p:cNvSpPr/>
          <p:nvPr/>
        </p:nvSpPr>
        <p:spPr>
          <a:xfrm>
            <a:off x="1243005" y="116632"/>
            <a:ext cx="9705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Identify the type of serializability?</a:t>
            </a:r>
            <a:endParaRPr lang="en-US" sz="5400" b="0" cap="none" spc="0" dirty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1225FC-AAEA-4679-ABBA-82594E9DE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5951984" cy="5231302"/>
          </a:xfrm>
          <a:prstGeom prst="rect">
            <a:avLst/>
          </a:prstGeom>
        </p:spPr>
      </p:pic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36719C3C-C0DC-4DAF-8D07-4625E0978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168" y="1268760"/>
            <a:ext cx="6740832" cy="523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9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391C85-FC5C-4D7E-B08F-3AF126183497}"/>
              </a:ext>
            </a:extLst>
          </p:cNvPr>
          <p:cNvSpPr txBox="1"/>
          <p:nvPr/>
        </p:nvSpPr>
        <p:spPr>
          <a:xfrm>
            <a:off x="2351584" y="188640"/>
            <a:ext cx="7920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Finding Number of Schedules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2726D-1384-41E1-82E1-F84107C3F9C6}"/>
              </a:ext>
            </a:extLst>
          </p:cNvPr>
          <p:cNvSpPr txBox="1"/>
          <p:nvPr/>
        </p:nvSpPr>
        <p:spPr>
          <a:xfrm>
            <a:off x="839416" y="1124153"/>
            <a:ext cx="11377264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there are n number of transactions T1, T2, T3 …. , Tn with N1, N2, N3 …. 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operations, respectively.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u="sng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Schedules-</a:t>
            </a:r>
            <a:endParaRPr lang="en-IN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u="sng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Serial Schedules-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It is all possible permutations of n 													      transactions = </a:t>
            </a: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N!</a:t>
            </a:r>
          </a:p>
          <a:p>
            <a:endParaRPr lang="en-US" sz="2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u="sng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Non-Serial Schedules-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		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Total number of schedules – Total number of serial schedules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((N1 + N2 + N3 + ..... + Nn)! / (N1! * N2! * N3! * ... * Nn!)) - (N!)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E607DF7-FE56-4048-A249-9D3AF5E7E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6" y="2420888"/>
            <a:ext cx="4418108" cy="112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304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DCBC9-A010-41DA-829E-86AB22C32F2C}"/>
              </a:ext>
            </a:extLst>
          </p:cNvPr>
          <p:cNvSpPr txBox="1"/>
          <p:nvPr/>
        </p:nvSpPr>
        <p:spPr>
          <a:xfrm>
            <a:off x="2900560" y="188640"/>
            <a:ext cx="61028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B3C9C-1D92-4F6C-A906-06A0F7640494}"/>
              </a:ext>
            </a:extLst>
          </p:cNvPr>
          <p:cNvSpPr txBox="1"/>
          <p:nvPr/>
        </p:nvSpPr>
        <p:spPr>
          <a:xfrm>
            <a:off x="983432" y="1035483"/>
            <a:ext cx="108732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Ques: 1:</a:t>
            </a:r>
          </a:p>
          <a:p>
            <a:r>
              <a:rPr lang="en-US" sz="4000" dirty="0"/>
              <a:t>Consider there are three transactions with </a:t>
            </a:r>
            <a:r>
              <a:rPr lang="en-US" sz="4000" dirty="0">
                <a:solidFill>
                  <a:srgbClr val="FFFF00"/>
                </a:solidFill>
              </a:rPr>
              <a:t>2, 3, 4 </a:t>
            </a:r>
            <a:r>
              <a:rPr lang="en-US" sz="4000" dirty="0"/>
              <a:t>operations respectively, and find-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solidFill>
                  <a:srgbClr val="92D050"/>
                </a:solidFill>
              </a:rPr>
              <a:t>How many total schedules are possible?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solidFill>
                  <a:srgbClr val="00B0F0"/>
                </a:solidFill>
              </a:rPr>
              <a:t>How many serial schedules are possible?</a:t>
            </a:r>
          </a:p>
          <a:p>
            <a:pPr>
              <a:buFont typeface="+mj-lt"/>
              <a:buAutoNum type="arabicPeriod"/>
            </a:pPr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How many non-serial schedules are possible?</a:t>
            </a:r>
          </a:p>
        </p:txBody>
      </p:sp>
    </p:spTree>
    <p:extLst>
      <p:ext uri="{BB962C8B-B14F-4D97-AF65-F5344CB8AC3E}">
        <p14:creationId xmlns:p14="http://schemas.microsoft.com/office/powerpoint/2010/main" val="510823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825C017-F3D4-4A23-883A-1D589FB6E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476672"/>
            <a:ext cx="6211966" cy="21543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457289-681E-4C12-AA0A-66931AB15949}"/>
              </a:ext>
            </a:extLst>
          </p:cNvPr>
          <p:cNvSpPr txBox="1"/>
          <p:nvPr/>
        </p:nvSpPr>
        <p:spPr>
          <a:xfrm>
            <a:off x="1343472" y="2996952"/>
            <a:ext cx="993710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Serial schedules </a:t>
            </a:r>
            <a:endParaRPr lang="en-US" sz="3600" b="1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Number of different ways of arranging 3 transactions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3!         = 6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06036-016A-42E0-B985-C3D0EFB6A149}"/>
              </a:ext>
            </a:extLst>
          </p:cNvPr>
          <p:cNvSpPr txBox="1"/>
          <p:nvPr/>
        </p:nvSpPr>
        <p:spPr>
          <a:xfrm>
            <a:off x="1343472" y="4717354"/>
            <a:ext cx="110172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Non-Serial Schedules </a:t>
            </a:r>
            <a:r>
              <a:rPr lang="en-US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b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schedules – Total number of serial schedules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1260 – 6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1254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05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3C5C9C-F04B-05BA-4AE4-3D7E9C0B0682}"/>
              </a:ext>
            </a:extLst>
          </p:cNvPr>
          <p:cNvSpPr txBox="1"/>
          <p:nvPr/>
        </p:nvSpPr>
        <p:spPr>
          <a:xfrm>
            <a:off x="1847528" y="548680"/>
            <a:ext cx="835292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Advantages of Serial Schedule: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Never creates inconsistency.</a:t>
            </a:r>
          </a:p>
          <a:p>
            <a:r>
              <a:rPr lang="en-US" sz="2600" b="1" dirty="0"/>
              <a:t>Disadvantages of Serial Schedule: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Poor throughput.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600" dirty="0"/>
              <a:t>No. of transactions complete per unit time is very less.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600" dirty="0"/>
              <a:t>Poor resource utilization. </a:t>
            </a:r>
          </a:p>
          <a:p>
            <a:endParaRPr lang="en-IN" sz="2600" dirty="0"/>
          </a:p>
          <a:p>
            <a:r>
              <a:rPr lang="en-US" sz="2600" b="1" dirty="0"/>
              <a:t>Advantages of Non - Serial Schedule: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Better throughput.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600" dirty="0"/>
              <a:t>Better resource utilization.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600" dirty="0"/>
              <a:t>No. of transactions complete per unit time is more number.</a:t>
            </a:r>
            <a:endParaRPr lang="en-US" sz="2600" dirty="0"/>
          </a:p>
          <a:p>
            <a:r>
              <a:rPr lang="en-US" sz="2600" b="1" dirty="0"/>
              <a:t>Disadvantages of Non - Serial Schedule: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Creates inconsistency.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36759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E3FC0D-BC05-AD8A-AA91-798A988E73AC}"/>
              </a:ext>
            </a:extLst>
          </p:cNvPr>
          <p:cNvSpPr txBox="1"/>
          <p:nvPr/>
        </p:nvSpPr>
        <p:spPr>
          <a:xfrm>
            <a:off x="1487488" y="1196752"/>
            <a:ext cx="943304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FFFFFF"/>
                </a:solidFill>
                <a:effectLst/>
                <a:latin typeface="Nunito" pitchFamily="2" charset="0"/>
              </a:rPr>
              <a:t>The Non-Serial Schedule can be divided further into:</a:t>
            </a:r>
          </a:p>
          <a:p>
            <a:endParaRPr lang="en-US" sz="3600" b="0" i="0" dirty="0">
              <a:solidFill>
                <a:srgbClr val="FFFFFF"/>
              </a:solidFill>
              <a:effectLst/>
              <a:latin typeface="Nunito" pitchFamily="2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FFC000"/>
                </a:solidFill>
                <a:effectLst/>
                <a:latin typeface="Nunito" pitchFamily="2" charset="0"/>
              </a:rPr>
              <a:t>Serializable and </a:t>
            </a:r>
          </a:p>
          <a:p>
            <a:pPr marL="2857500" lvl="5" indent="-571500">
              <a:buFont typeface="Arial" panose="020B0604020202020204" pitchFamily="34" charset="0"/>
              <a:buChar char="•"/>
            </a:pPr>
            <a:endParaRPr lang="en-US" sz="1400" b="1" i="0" dirty="0">
              <a:solidFill>
                <a:srgbClr val="FFC000"/>
              </a:solidFill>
              <a:effectLst/>
              <a:latin typeface="Nunito" pitchFamily="2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i="0" dirty="0">
                <a:solidFill>
                  <a:srgbClr val="FFC000"/>
                </a:solidFill>
                <a:effectLst/>
                <a:latin typeface="Nunito" pitchFamily="2" charset="0"/>
              </a:rPr>
              <a:t>Non-Serializable.</a:t>
            </a:r>
            <a:endParaRPr lang="en-IN" sz="36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047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0B50AC-D3F7-46B7-9958-2815C839CA85}"/>
              </a:ext>
            </a:extLst>
          </p:cNvPr>
          <p:cNvSpPr/>
          <p:nvPr/>
        </p:nvSpPr>
        <p:spPr>
          <a:xfrm>
            <a:off x="3647728" y="188640"/>
            <a:ext cx="45352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SERIALIZABILITY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9A499-5011-46EA-A924-74FA0CF687A5}"/>
              </a:ext>
            </a:extLst>
          </p:cNvPr>
          <p:cNvSpPr txBox="1"/>
          <p:nvPr/>
        </p:nvSpPr>
        <p:spPr>
          <a:xfrm>
            <a:off x="1343472" y="1844824"/>
            <a:ext cx="93610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dirty="0">
                <a:latin typeface="Aparajita" panose="02020603050405020304" pitchFamily="18" charset="0"/>
                <a:cs typeface="Aparajita" panose="02020603050405020304" pitchFamily="18" charset="0"/>
              </a:rPr>
              <a:t> Some </a:t>
            </a:r>
            <a:r>
              <a:rPr lang="en-US" sz="4000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non-serial schedules </a:t>
            </a:r>
            <a:r>
              <a:rPr lang="en-US" sz="4000" dirty="0">
                <a:latin typeface="Aparajita" panose="02020603050405020304" pitchFamily="18" charset="0"/>
                <a:cs typeface="Aparajita" panose="02020603050405020304" pitchFamily="18" charset="0"/>
              </a:rPr>
              <a:t>may lead to </a:t>
            </a:r>
            <a:r>
              <a:rPr lang="en-US" sz="4000" b="1" i="1" u="sng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inconsistency</a:t>
            </a:r>
            <a:r>
              <a:rPr lang="en-US" sz="4000" dirty="0">
                <a:latin typeface="Aparajita" panose="02020603050405020304" pitchFamily="18" charset="0"/>
                <a:cs typeface="Aparajita" panose="02020603050405020304" pitchFamily="18" charset="0"/>
              </a:rPr>
              <a:t> 	of the database.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4000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i="1" dirty="0"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US" sz="4000" b="1" i="1" u="sng" dirty="0">
                <a:latin typeface="Aparajita" panose="02020603050405020304" pitchFamily="18" charset="0"/>
                <a:cs typeface="Aparajita" panose="02020603050405020304" pitchFamily="18" charset="0"/>
              </a:rPr>
              <a:t>Serializability</a:t>
            </a:r>
            <a:r>
              <a:rPr lang="en-US" sz="4000" dirty="0">
                <a:latin typeface="Aparajita" panose="02020603050405020304" pitchFamily="18" charset="0"/>
                <a:cs typeface="Aparajita" panose="02020603050405020304" pitchFamily="18" charset="0"/>
              </a:rPr>
              <a:t> is a concept that helps to identify 	which 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non-serial schedules are correct </a:t>
            </a:r>
            <a:r>
              <a:rPr lang="en-US" sz="4000" dirty="0">
                <a:latin typeface="Aparajita" panose="02020603050405020304" pitchFamily="18" charset="0"/>
                <a:cs typeface="Aparajita" panose="02020603050405020304" pitchFamily="18" charset="0"/>
              </a:rPr>
              <a:t>and will 	maintain the consistency of the database.</a:t>
            </a:r>
          </a:p>
        </p:txBody>
      </p:sp>
    </p:spTree>
    <p:extLst>
      <p:ext uri="{BB962C8B-B14F-4D97-AF65-F5344CB8AC3E}">
        <p14:creationId xmlns:p14="http://schemas.microsoft.com/office/powerpoint/2010/main" val="2884705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B34845-6B3E-48C9-AF9C-73B4C862FBDD}"/>
              </a:ext>
            </a:extLst>
          </p:cNvPr>
          <p:cNvSpPr txBox="1"/>
          <p:nvPr/>
        </p:nvSpPr>
        <p:spPr>
          <a:xfrm>
            <a:off x="1055440" y="548680"/>
            <a:ext cx="107291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effectLst/>
                <a:latin typeface="Bodoni MT" panose="02070603080606020203" pitchFamily="18" charset="0"/>
                <a:cs typeface="Aparajita" panose="02020603050405020304" pitchFamily="18" charset="0"/>
              </a:rPr>
              <a:t>Serializable Schedules-</a:t>
            </a:r>
            <a:endParaRPr lang="en-US" sz="3600" b="1" dirty="0">
              <a:latin typeface="Bodoni MT" panose="02070603080606020203" pitchFamily="18" charset="0"/>
              <a:cs typeface="Aparajita" panose="02020603050405020304" pitchFamily="18" charset="0"/>
            </a:endParaRPr>
          </a:p>
          <a:p>
            <a:r>
              <a:rPr lang="en-US" sz="3600" dirty="0">
                <a:solidFill>
                  <a:srgbClr val="FFFF00"/>
                </a:solidFill>
                <a:latin typeface="Bodoni MT" panose="02070603080606020203" pitchFamily="18" charset="0"/>
                <a:cs typeface="Aparajita" panose="02020603050405020304" pitchFamily="18" charset="0"/>
              </a:rPr>
              <a:t> If a given non-serial schedule of ‘n’ transactions is equivalent to some serial schedule of ‘n’ transactions, then it is called as a </a:t>
            </a:r>
            <a:r>
              <a:rPr lang="en-US" sz="3600" b="1" u="sng" dirty="0">
                <a:solidFill>
                  <a:srgbClr val="FFFF00"/>
                </a:solidFill>
                <a:latin typeface="Bodoni MT" panose="02070603080606020203" pitchFamily="18" charset="0"/>
                <a:cs typeface="Aparajita" panose="02020603050405020304" pitchFamily="18" charset="0"/>
              </a:rPr>
              <a:t>serializable schedule</a:t>
            </a:r>
            <a:r>
              <a:rPr lang="en-US" sz="3600" u="sng" dirty="0">
                <a:solidFill>
                  <a:srgbClr val="FFFF00"/>
                </a:solidFill>
                <a:latin typeface="Bodoni MT" panose="02070603080606020203" pitchFamily="18" charset="0"/>
                <a:cs typeface="Aparajita" panose="02020603050405020304" pitchFamily="18" charset="0"/>
              </a:rPr>
              <a:t>.</a:t>
            </a:r>
          </a:p>
          <a:p>
            <a:pPr algn="just"/>
            <a:r>
              <a:rPr lang="en-US" sz="3600" dirty="0">
                <a:latin typeface="Bodoni MT" panose="02070603080606020203" pitchFamily="18" charset="0"/>
                <a:cs typeface="Aparajita" panose="02020603050405020304" pitchFamily="18" charset="0"/>
              </a:rPr>
              <a:t> </a:t>
            </a:r>
            <a:r>
              <a:rPr lang="en-US" sz="3600" b="1" dirty="0">
                <a:effectLst/>
                <a:latin typeface="Bodoni MT" panose="02070603080606020203" pitchFamily="18" charset="0"/>
                <a:cs typeface="Aparajita" panose="02020603050405020304" pitchFamily="18" charset="0"/>
              </a:rPr>
              <a:t>A serializable schedule helps in improving both resource utilization and CPU throughput. These are of two types: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IN" sz="3600" u="sng" dirty="0">
                <a:solidFill>
                  <a:srgbClr val="FF0000"/>
                </a:solidFill>
                <a:latin typeface="Bodoni MT" panose="02070603080606020203" pitchFamily="18" charset="0"/>
              </a:rPr>
              <a:t>Conflict Serializable</a:t>
            </a:r>
            <a:endParaRPr lang="en-US" sz="3600" b="1" i="0" u="sng" dirty="0">
              <a:solidFill>
                <a:srgbClr val="FF0000"/>
              </a:solidFill>
              <a:latin typeface="Bodoni MT" panose="02070603080606020203" pitchFamily="18" charset="0"/>
              <a:cs typeface="Aparajita" panose="02020603050405020304" pitchFamily="18" charset="0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IN" sz="3600" u="sng" dirty="0">
                <a:solidFill>
                  <a:srgbClr val="FF0000"/>
                </a:solidFill>
                <a:latin typeface="Bodoni MT" panose="02070603080606020203" pitchFamily="18" charset="0"/>
              </a:rPr>
              <a:t>View Serializable</a:t>
            </a:r>
            <a:endParaRPr lang="en-US" sz="3600" dirty="0">
              <a:solidFill>
                <a:srgbClr val="FF0000"/>
              </a:solidFill>
              <a:latin typeface="Bodoni MT" panose="02070603080606020203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568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306850" y="6648"/>
            <a:ext cx="4556077" cy="105814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Conflict serializable schedules</a:t>
            </a: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33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Shape 3"/>
              <p:cNvSpPr txBox="1"/>
              <p:nvPr/>
            </p:nvSpPr>
            <p:spPr>
              <a:xfrm>
                <a:off x="695400" y="1340768"/>
                <a:ext cx="11233248" cy="5472592"/>
              </a:xfrm>
              <a:prstGeom prst="rect">
                <a:avLst/>
              </a:prstGeom>
            </p:spPr>
            <p:txBody>
              <a:bodyPr/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just">
                  <a:buClr>
                    <a:srgbClr val="FFFF00"/>
                  </a:buClr>
                </a:pPr>
                <a:r>
                  <a:rPr lang="en-US" sz="3600" dirty="0">
                    <a:latin typeface="Bodoni MT" panose="02070603080606020203" pitchFamily="18" charset="0"/>
                    <a:cs typeface="Aparajita" panose="02020603050405020304" pitchFamily="18" charset="0"/>
                  </a:rPr>
                  <a:t>A schedule is said to be </a:t>
                </a:r>
                <a:r>
                  <a:rPr lang="en-US" sz="3600" dirty="0">
                    <a:solidFill>
                      <a:srgbClr val="FFFF00"/>
                    </a:solidFill>
                    <a:latin typeface="Bodoni MT" panose="02070603080606020203" pitchFamily="18" charset="0"/>
                    <a:cs typeface="Aparajita" panose="02020603050405020304" pitchFamily="18" charset="0"/>
                  </a:rPr>
                  <a:t>Conflict Serializable</a:t>
                </a:r>
                <a:r>
                  <a:rPr lang="en-US" sz="3600" dirty="0">
                    <a:latin typeface="Bodoni MT" panose="02070603080606020203" pitchFamily="18" charset="0"/>
                    <a:cs typeface="Aparajita" panose="02020603050405020304" pitchFamily="18" charset="0"/>
                  </a:rPr>
                  <a:t> if one of its conflict equivalent schedule is serializable.</a:t>
                </a:r>
              </a:p>
              <a:p>
                <a:pPr algn="just">
                  <a:buClr>
                    <a:srgbClr val="FFFF00"/>
                  </a:buClr>
                </a:pPr>
                <a:endParaRPr lang="en-US" sz="3600" dirty="0">
                  <a:latin typeface="Bodoni MT" panose="02070603080606020203" pitchFamily="18" charset="0"/>
                  <a:cs typeface="Aparajita" panose="02020603050405020304" pitchFamily="18" charset="0"/>
                </a:endParaRPr>
              </a:p>
              <a:p>
                <a:pPr algn="just">
                  <a:buClr>
                    <a:srgbClr val="FFFF00"/>
                  </a:buClr>
                </a:pPr>
                <a:r>
                  <a:rPr lang="en-US" sz="3600" dirty="0">
                    <a:solidFill>
                      <a:srgbClr val="FFFF00"/>
                    </a:solidFill>
                    <a:latin typeface="Bodoni MT" panose="02070603080606020203" pitchFamily="18" charset="0"/>
                    <a:cs typeface="Aparajita" panose="02020603050405020304" pitchFamily="18" charset="0"/>
                  </a:rPr>
                  <a:t>Conflict Equivalent Schedule:</a:t>
                </a:r>
                <a:r>
                  <a:rPr lang="en-US" sz="3600" dirty="0">
                    <a:latin typeface="Bodoni MT" panose="02070603080606020203" pitchFamily="18" charset="0"/>
                    <a:cs typeface="Aparajita" panose="02020603050405020304" pitchFamily="18" charset="0"/>
                  </a:rPr>
                  <a:t>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360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3600" dirty="0">
                    <a:latin typeface="Bodoni MT" panose="02070603080606020203" pitchFamily="18" charset="0"/>
                    <a:cs typeface="Aparajita" panose="02020603050405020304" pitchFamily="18" charset="0"/>
                  </a:rPr>
                  <a:t> is a schedule formed after swapping the non – conflict pairs in a given schedule S then 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3600" dirty="0">
                    <a:latin typeface="Bodoni MT" panose="02070603080606020203" pitchFamily="18" charset="0"/>
                    <a:cs typeface="Aparajita" panose="02020603050405020304" pitchFamily="18" charset="0"/>
                  </a:rPr>
                  <a:t> are called </a:t>
                </a:r>
                <a:r>
                  <a:rPr lang="en-US" sz="3600" dirty="0">
                    <a:latin typeface="Bodoni MT" panose="02070603080606020203" pitchFamily="18" charset="0"/>
                    <a:cs typeface="Aparajita" panose="02020603050405020304" pitchFamily="18" charset="0"/>
                  </a:rPr>
                  <a:t>Conflict Equivalent Schedule.</a:t>
                </a:r>
                <a:endParaRPr lang="en-IN" sz="3600" dirty="0">
                  <a:latin typeface="Bodoni MT" panose="02070603080606020203" pitchFamily="18" charset="0"/>
                  <a:cs typeface="Aparajita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Shap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340768"/>
                <a:ext cx="11233248" cy="5472592"/>
              </a:xfrm>
              <a:prstGeom prst="rect">
                <a:avLst/>
              </a:prstGeom>
              <a:blipFill>
                <a:blip r:embed="rId4"/>
                <a:stretch>
                  <a:fillRect l="-1628" t="-1782" r="-1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0650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3443975" y="283097"/>
            <a:ext cx="4556077" cy="105814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Conflict pairs and Non – Conflict pairs</a:t>
            </a: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953112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34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504072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789932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479376" y="1844840"/>
            <a:ext cx="11712024" cy="5184576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just">
              <a:buClr>
                <a:srgbClr val="FFFF00"/>
              </a:buClr>
            </a:pPr>
            <a:r>
              <a:rPr lang="en-IN" sz="3600" dirty="0">
                <a:latin typeface="Bodoni MT" panose="02070603080606020203" pitchFamily="18" charset="0"/>
                <a:cs typeface="Aparajita" panose="02020603050405020304" pitchFamily="18" charset="0"/>
              </a:rPr>
              <a:t>      Conflict Pairs:</a:t>
            </a:r>
          </a:p>
          <a:p>
            <a:pPr algn="just">
              <a:buClr>
                <a:srgbClr val="FFFF00"/>
              </a:buClr>
            </a:pPr>
            <a:endParaRPr lang="en-IN" sz="3600" dirty="0">
              <a:latin typeface="Bodoni MT" panose="02070603080606020203" pitchFamily="18" charset="0"/>
              <a:cs typeface="Aparajita" panose="02020603050405020304" pitchFamily="18" charset="0"/>
            </a:endParaRPr>
          </a:p>
          <a:p>
            <a:pPr algn="just">
              <a:buClr>
                <a:srgbClr val="FFFF00"/>
              </a:buClr>
            </a:pPr>
            <a:r>
              <a:rPr lang="en-IN" sz="3600" dirty="0">
                <a:latin typeface="Bodoni MT" panose="02070603080606020203" pitchFamily="18" charset="0"/>
                <a:cs typeface="Aparajita" panose="02020603050405020304" pitchFamily="18" charset="0"/>
              </a:rPr>
              <a:t>R(A)			W(A)			W(A)			W(A)			R(A)		</a:t>
            </a:r>
          </a:p>
          <a:p>
            <a:pPr algn="just">
              <a:buClr>
                <a:srgbClr val="FFFF00"/>
              </a:buClr>
            </a:pPr>
            <a:r>
              <a:rPr lang="en-IN" sz="3600" dirty="0">
                <a:latin typeface="Bodoni MT" panose="02070603080606020203" pitchFamily="18" charset="0"/>
                <a:cs typeface="Aparajita" panose="02020603050405020304" pitchFamily="18" charset="0"/>
              </a:rPr>
              <a:t>		  W(A)		  	  R(A)			  W(A)			  R(A)			  W(A)</a:t>
            </a:r>
          </a:p>
          <a:p>
            <a:pPr algn="just">
              <a:buClr>
                <a:srgbClr val="FFFF00"/>
              </a:buClr>
            </a:pPr>
            <a:endParaRPr lang="en-IN" sz="3600" dirty="0">
              <a:latin typeface="Bodoni MT" panose="02070603080606020203" pitchFamily="18" charset="0"/>
              <a:cs typeface="Aparajita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1DEF00-A685-EC5E-6F68-6FE593AEFD22}"/>
              </a:ext>
            </a:extLst>
          </p:cNvPr>
          <p:cNvCxnSpPr/>
          <p:nvPr/>
        </p:nvCxnSpPr>
        <p:spPr>
          <a:xfrm>
            <a:off x="1631504" y="2996968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653EC0-1393-5CD7-6C12-D09C066C1213}"/>
              </a:ext>
            </a:extLst>
          </p:cNvPr>
          <p:cNvCxnSpPr/>
          <p:nvPr/>
        </p:nvCxnSpPr>
        <p:spPr>
          <a:xfrm>
            <a:off x="3935760" y="2924960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59E34F-E061-EA49-E843-09B63BA7A5ED}"/>
              </a:ext>
            </a:extLst>
          </p:cNvPr>
          <p:cNvCxnSpPr/>
          <p:nvPr/>
        </p:nvCxnSpPr>
        <p:spPr>
          <a:xfrm>
            <a:off x="6240016" y="2924960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841CBF-C817-6DAD-FB30-ADCDFC4DFB8C}"/>
              </a:ext>
            </a:extLst>
          </p:cNvPr>
          <p:cNvCxnSpPr/>
          <p:nvPr/>
        </p:nvCxnSpPr>
        <p:spPr>
          <a:xfrm>
            <a:off x="8544272" y="2996968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68747A-72A8-40B1-80CD-A7F852FD68F5}"/>
              </a:ext>
            </a:extLst>
          </p:cNvPr>
          <p:cNvCxnSpPr/>
          <p:nvPr/>
        </p:nvCxnSpPr>
        <p:spPr>
          <a:xfrm>
            <a:off x="10776520" y="2996968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2954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2">
            <a:extLst>
              <a:ext uri="{FF2B5EF4-FFF2-40B4-BE49-F238E27FC236}">
                <a16:creationId xmlns:a16="http://schemas.microsoft.com/office/drawing/2014/main" id="{4C4D0250-C586-7728-0A99-ADF693A2E9F1}"/>
              </a:ext>
            </a:extLst>
          </p:cNvPr>
          <p:cNvSpPr/>
          <p:nvPr/>
        </p:nvSpPr>
        <p:spPr>
          <a:xfrm>
            <a:off x="2927648" y="260649"/>
            <a:ext cx="6656580" cy="576064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Why are they Conflict pairs?</a:t>
            </a: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AF0B9-6FE3-F756-6A15-5CBF9C12B539}"/>
              </a:ext>
            </a:extLst>
          </p:cNvPr>
          <p:cNvSpPr txBox="1"/>
          <p:nvPr/>
        </p:nvSpPr>
        <p:spPr>
          <a:xfrm>
            <a:off x="1415480" y="1772816"/>
            <a:ext cx="95050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ook Antiqua" panose="02040602050305030304" pitchFamily="18" charset="0"/>
              </a:rPr>
              <a:t>If the order of execution of these conflict pairs are inverted then the output or the result gets changed.</a:t>
            </a:r>
          </a:p>
          <a:p>
            <a:endParaRPr lang="en-US" sz="2800" dirty="0">
              <a:latin typeface="Book Antiqua" panose="02040602050305030304" pitchFamily="18" charset="0"/>
            </a:endParaRPr>
          </a:p>
          <a:p>
            <a:pPr algn="just">
              <a:buClr>
                <a:srgbClr val="FFFF00"/>
              </a:buClr>
            </a:pPr>
            <a:r>
              <a:rPr lang="en-US" sz="2800" dirty="0">
                <a:latin typeface="Book Antiqua" panose="02040602050305030304" pitchFamily="18" charset="0"/>
              </a:rPr>
              <a:t>i.e., if </a:t>
            </a:r>
            <a:r>
              <a:rPr lang="en-IN" sz="2800" dirty="0">
                <a:latin typeface="Bodoni MT" panose="02070603080606020203" pitchFamily="18" charset="0"/>
                <a:cs typeface="Aparajita" panose="02020603050405020304" pitchFamily="18" charset="0"/>
              </a:rPr>
              <a:t>R(A)		</a:t>
            </a:r>
          </a:p>
          <a:p>
            <a:pPr algn="just">
              <a:buClr>
                <a:srgbClr val="FFFF00"/>
              </a:buClr>
            </a:pPr>
            <a:r>
              <a:rPr lang="en-IN" sz="2800" dirty="0">
                <a:latin typeface="Bodoni MT" panose="02070603080606020203" pitchFamily="18" charset="0"/>
                <a:cs typeface="Aparajita" panose="02020603050405020304" pitchFamily="18" charset="0"/>
              </a:rPr>
              <a:t>		           W(A)</a:t>
            </a:r>
          </a:p>
          <a:p>
            <a:pPr algn="just">
              <a:buClr>
                <a:srgbClr val="FFFF00"/>
              </a:buClr>
            </a:pPr>
            <a:endParaRPr lang="en-IN" sz="2800" dirty="0">
              <a:latin typeface="Bodoni MT" panose="02070603080606020203" pitchFamily="18" charset="0"/>
              <a:cs typeface="Aparajita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D436F1-9F0C-F6B8-EB18-F36240AE1AAB}"/>
              </a:ext>
            </a:extLst>
          </p:cNvPr>
          <p:cNvCxnSpPr>
            <a:cxnSpLocks/>
          </p:cNvCxnSpPr>
          <p:nvPr/>
        </p:nvCxnSpPr>
        <p:spPr>
          <a:xfrm>
            <a:off x="3287688" y="3111644"/>
            <a:ext cx="0" cy="712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8459449-5BBF-0227-0450-B5D00F2CA20E}"/>
              </a:ext>
            </a:extLst>
          </p:cNvPr>
          <p:cNvSpPr txBox="1"/>
          <p:nvPr/>
        </p:nvSpPr>
        <p:spPr>
          <a:xfrm>
            <a:off x="2927648" y="4696576"/>
            <a:ext cx="2160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rgbClr val="FFFF00"/>
              </a:buClr>
            </a:pPr>
            <a:r>
              <a:rPr lang="en-US" sz="2400" dirty="0">
                <a:latin typeface="Book Antiqua" panose="02040602050305030304" pitchFamily="18" charset="0"/>
              </a:rPr>
              <a:t>if </a:t>
            </a:r>
            <a:r>
              <a:rPr lang="en-IN" sz="2400" dirty="0">
                <a:latin typeface="Bodoni MT" panose="02070603080606020203" pitchFamily="18" charset="0"/>
                <a:cs typeface="Aparajita" panose="02020603050405020304" pitchFamily="18" charset="0"/>
              </a:rPr>
              <a:t>W(A)		</a:t>
            </a:r>
          </a:p>
          <a:p>
            <a:pPr algn="just">
              <a:buClr>
                <a:srgbClr val="FFFF00"/>
              </a:buClr>
            </a:pPr>
            <a:r>
              <a:rPr lang="en-IN" sz="2400" dirty="0">
                <a:latin typeface="Bodoni MT" panose="02070603080606020203" pitchFamily="18" charset="0"/>
                <a:cs typeface="Aparajita" panose="02020603050405020304" pitchFamily="18" charset="0"/>
              </a:rPr>
              <a:t>	          R(A)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E2EADA-0724-3830-4342-16724E052470}"/>
              </a:ext>
            </a:extLst>
          </p:cNvPr>
          <p:cNvCxnSpPr>
            <a:cxnSpLocks/>
          </p:cNvCxnSpPr>
          <p:nvPr/>
        </p:nvCxnSpPr>
        <p:spPr>
          <a:xfrm>
            <a:off x="4079776" y="4797152"/>
            <a:ext cx="0" cy="648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674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3443975" y="283097"/>
            <a:ext cx="4556077" cy="553615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Non – Conflict pairs</a:t>
            </a: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953112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36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504072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789932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479376" y="1844840"/>
            <a:ext cx="11712024" cy="5184576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just">
              <a:buClr>
                <a:srgbClr val="FFFF00"/>
              </a:buClr>
            </a:pPr>
            <a:r>
              <a:rPr lang="en-IN" sz="3600" dirty="0">
                <a:latin typeface="Bodoni MT" panose="02070603080606020203" pitchFamily="18" charset="0"/>
                <a:cs typeface="Aparajita" panose="02020603050405020304" pitchFamily="18" charset="0"/>
              </a:rPr>
              <a:t>      Non - Conflict Pairs:</a:t>
            </a:r>
          </a:p>
          <a:p>
            <a:pPr algn="just">
              <a:buClr>
                <a:srgbClr val="FFFF00"/>
              </a:buClr>
            </a:pPr>
            <a:endParaRPr lang="en-IN" sz="3600" dirty="0">
              <a:latin typeface="Bodoni MT" panose="02070603080606020203" pitchFamily="18" charset="0"/>
              <a:cs typeface="Aparajita" panose="02020603050405020304" pitchFamily="18" charset="0"/>
            </a:endParaRPr>
          </a:p>
          <a:p>
            <a:pPr algn="just">
              <a:buClr>
                <a:srgbClr val="FFFF00"/>
              </a:buClr>
            </a:pPr>
            <a:r>
              <a:rPr lang="en-IN" sz="3600" dirty="0">
                <a:latin typeface="Bodoni MT" panose="02070603080606020203" pitchFamily="18" charset="0"/>
                <a:cs typeface="Aparajita" panose="02020603050405020304" pitchFamily="18" charset="0"/>
              </a:rPr>
              <a:t>R(A)			R(A)			W(A)			W(A)			R(A)		</a:t>
            </a:r>
          </a:p>
          <a:p>
            <a:pPr algn="just">
              <a:buClr>
                <a:srgbClr val="FFFF00"/>
              </a:buClr>
            </a:pPr>
            <a:r>
              <a:rPr lang="en-IN" sz="3600" dirty="0">
                <a:latin typeface="Bodoni MT" panose="02070603080606020203" pitchFamily="18" charset="0"/>
                <a:cs typeface="Aparajita" panose="02020603050405020304" pitchFamily="18" charset="0"/>
              </a:rPr>
              <a:t>		  R(B)		  	  R(A)			  W(B)			  R(B)			  W(B)</a:t>
            </a:r>
          </a:p>
          <a:p>
            <a:pPr algn="just">
              <a:buClr>
                <a:srgbClr val="FFFF00"/>
              </a:buClr>
            </a:pPr>
            <a:endParaRPr lang="en-IN" sz="3600" dirty="0">
              <a:latin typeface="Bodoni MT" panose="02070603080606020203" pitchFamily="18" charset="0"/>
              <a:cs typeface="Aparajita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1DEF00-A685-EC5E-6F68-6FE593AEFD22}"/>
              </a:ext>
            </a:extLst>
          </p:cNvPr>
          <p:cNvCxnSpPr/>
          <p:nvPr/>
        </p:nvCxnSpPr>
        <p:spPr>
          <a:xfrm>
            <a:off x="1631504" y="2996968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653EC0-1393-5CD7-6C12-D09C066C1213}"/>
              </a:ext>
            </a:extLst>
          </p:cNvPr>
          <p:cNvCxnSpPr/>
          <p:nvPr/>
        </p:nvCxnSpPr>
        <p:spPr>
          <a:xfrm>
            <a:off x="3935760" y="2924960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59E34F-E061-EA49-E843-09B63BA7A5ED}"/>
              </a:ext>
            </a:extLst>
          </p:cNvPr>
          <p:cNvCxnSpPr/>
          <p:nvPr/>
        </p:nvCxnSpPr>
        <p:spPr>
          <a:xfrm>
            <a:off x="6240016" y="2924960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841CBF-C817-6DAD-FB30-ADCDFC4DFB8C}"/>
              </a:ext>
            </a:extLst>
          </p:cNvPr>
          <p:cNvCxnSpPr/>
          <p:nvPr/>
        </p:nvCxnSpPr>
        <p:spPr>
          <a:xfrm>
            <a:off x="8544272" y="2996968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68747A-72A8-40B1-80CD-A7F852FD68F5}"/>
              </a:ext>
            </a:extLst>
          </p:cNvPr>
          <p:cNvCxnSpPr/>
          <p:nvPr/>
        </p:nvCxnSpPr>
        <p:spPr>
          <a:xfrm>
            <a:off x="10776520" y="2996968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5703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1847529" y="260648"/>
            <a:ext cx="8496943" cy="553615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Finding a Conflict Equivalent schedule</a:t>
            </a: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953112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37</a:t>
            </a:fld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4310050" y="1789932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511316" y="1124744"/>
            <a:ext cx="11712024" cy="5184576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just">
              <a:buClr>
                <a:srgbClr val="FFFF00"/>
              </a:buClr>
            </a:pPr>
            <a:endParaRPr lang="en-IN" sz="3600" dirty="0">
              <a:latin typeface="Bodoni MT" panose="02070603080606020203" pitchFamily="18" charset="0"/>
              <a:cs typeface="Aparajita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2B2D0-6697-BEF2-6BA1-327CF8636352}"/>
              </a:ext>
            </a:extLst>
          </p:cNvPr>
          <p:cNvSpPr txBox="1"/>
          <p:nvPr/>
        </p:nvSpPr>
        <p:spPr>
          <a:xfrm>
            <a:off x="1415480" y="1412776"/>
            <a:ext cx="97210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               S1</a:t>
            </a:r>
          </a:p>
          <a:p>
            <a:r>
              <a:rPr lang="en-IN" dirty="0">
                <a:latin typeface="Book Antiqua" panose="02040602050305030304" pitchFamily="18" charset="0"/>
              </a:rPr>
              <a:t>   T1		   		  T2</a:t>
            </a:r>
          </a:p>
          <a:p>
            <a:r>
              <a:rPr lang="en-IN" dirty="0">
                <a:latin typeface="Book Antiqua" panose="02040602050305030304" pitchFamily="18" charset="0"/>
              </a:rPr>
              <a:t>R(A)</a:t>
            </a:r>
          </a:p>
          <a:p>
            <a:endParaRPr lang="en-IN" sz="700" dirty="0"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W(A)</a:t>
            </a:r>
          </a:p>
          <a:p>
            <a:r>
              <a:rPr lang="en-IN" dirty="0">
                <a:latin typeface="Book Antiqua" panose="02040602050305030304" pitchFamily="18" charset="0"/>
              </a:rPr>
              <a:t>				R(A)</a:t>
            </a:r>
          </a:p>
          <a:p>
            <a:r>
              <a:rPr lang="en-IN" dirty="0">
                <a:latin typeface="Book Antiqua" panose="02040602050305030304" pitchFamily="18" charset="0"/>
              </a:rPr>
              <a:t>R(B)</a:t>
            </a:r>
          </a:p>
          <a:p>
            <a:endParaRPr lang="en-IN" sz="1050" dirty="0"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W(B)</a:t>
            </a:r>
          </a:p>
          <a:p>
            <a:r>
              <a:rPr lang="en-IN" dirty="0">
                <a:latin typeface="Book Antiqua" panose="02040602050305030304" pitchFamily="18" charset="0"/>
              </a:rPr>
              <a:t>				R(B)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6D9AC7F-5D40-84C9-5509-1F4E02C4178B}"/>
              </a:ext>
            </a:extLst>
          </p:cNvPr>
          <p:cNvSpPr/>
          <p:nvPr/>
        </p:nvSpPr>
        <p:spPr>
          <a:xfrm rot="603117">
            <a:off x="1364634" y="2353223"/>
            <a:ext cx="2717062" cy="720000"/>
          </a:xfrm>
          <a:prstGeom prst="ellipse">
            <a:avLst/>
          </a:prstGeom>
          <a:solidFill>
            <a:srgbClr val="FFC114">
              <a:alpha val="5000"/>
            </a:srgbClr>
          </a:solidFill>
          <a:ln w="36000">
            <a:solidFill>
              <a:srgbClr val="FFC1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C11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7EA6736-8472-490E-EE65-B70CFC6AD5B3}"/>
              </a:ext>
            </a:extLst>
          </p:cNvPr>
          <p:cNvSpPr/>
          <p:nvPr/>
        </p:nvSpPr>
        <p:spPr>
          <a:xfrm rot="603117">
            <a:off x="1313446" y="3300554"/>
            <a:ext cx="2717062" cy="720000"/>
          </a:xfrm>
          <a:prstGeom prst="ellipse">
            <a:avLst/>
          </a:prstGeom>
          <a:solidFill>
            <a:srgbClr val="FFC114">
              <a:alpha val="5000"/>
            </a:srgbClr>
          </a:solidFill>
          <a:ln w="36000">
            <a:solidFill>
              <a:srgbClr val="FFC1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C114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F68497-38DD-BEB1-71B3-09D76FC35422}"/>
              </a:ext>
            </a:extLst>
          </p:cNvPr>
          <p:cNvSpPr txBox="1"/>
          <p:nvPr/>
        </p:nvSpPr>
        <p:spPr>
          <a:xfrm>
            <a:off x="4727848" y="2431922"/>
            <a:ext cx="215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Non - Conflict Pair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D75289-FD93-8504-99FB-63E8883EEEC8}"/>
              </a:ext>
            </a:extLst>
          </p:cNvPr>
          <p:cNvSpPr txBox="1"/>
          <p:nvPr/>
        </p:nvSpPr>
        <p:spPr>
          <a:xfrm>
            <a:off x="4735746" y="3361943"/>
            <a:ext cx="3221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Conflict Pair</a:t>
            </a:r>
          </a:p>
          <a:p>
            <a:r>
              <a:rPr lang="en-IN" dirty="0"/>
              <a:t>This order can not swapped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DDB9CE0-61C5-FEFB-7A43-943CD4B4164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072490" y="2996952"/>
            <a:ext cx="663256" cy="68815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B34D47-679C-978C-7914-605CC4557C91}"/>
              </a:ext>
            </a:extLst>
          </p:cNvPr>
          <p:cNvCxnSpPr>
            <a:stCxn id="17" idx="6"/>
          </p:cNvCxnSpPr>
          <p:nvPr/>
        </p:nvCxnSpPr>
        <p:spPr>
          <a:xfrm flipV="1">
            <a:off x="4009654" y="3546609"/>
            <a:ext cx="726092" cy="351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5AA521B0-8E24-7A8B-549D-7EAA67B8D919}"/>
              </a:ext>
            </a:extLst>
          </p:cNvPr>
          <p:cNvSpPr/>
          <p:nvPr/>
        </p:nvSpPr>
        <p:spPr>
          <a:xfrm rot="20897172">
            <a:off x="1254428" y="2556821"/>
            <a:ext cx="2937473" cy="720000"/>
          </a:xfrm>
          <a:prstGeom prst="ellips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3DA9D4-8262-A089-067C-9593BBFC1C60}"/>
              </a:ext>
            </a:extLst>
          </p:cNvPr>
          <p:cNvCxnSpPr/>
          <p:nvPr/>
        </p:nvCxnSpPr>
        <p:spPr>
          <a:xfrm flipV="1">
            <a:off x="4132704" y="2592445"/>
            <a:ext cx="695870" cy="286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5916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1847529" y="260648"/>
            <a:ext cx="8496943" cy="553615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Finding a Conflict Equivalent schedule</a:t>
            </a: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953112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38</a:t>
            </a:fld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4310050" y="1789932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511316" y="1124744"/>
            <a:ext cx="11712024" cy="5184576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just">
              <a:buClr>
                <a:srgbClr val="FFFF00"/>
              </a:buClr>
            </a:pPr>
            <a:endParaRPr lang="en-IN" sz="3600" dirty="0">
              <a:latin typeface="Bodoni MT" panose="02070603080606020203" pitchFamily="18" charset="0"/>
              <a:cs typeface="Aparajita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82B2D0-6697-BEF2-6BA1-327CF8636352}"/>
                  </a:ext>
                </a:extLst>
              </p:cNvPr>
              <p:cNvSpPr txBox="1"/>
              <p:nvPr/>
            </p:nvSpPr>
            <p:spPr>
              <a:xfrm>
                <a:off x="1415480" y="1412776"/>
                <a:ext cx="9721080" cy="2816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Book Antiqua" panose="02040602050305030304" pitchFamily="18" charset="0"/>
                  </a:rPr>
                  <a:t>		</a:t>
                </a:r>
                <a:r>
                  <a:rPr lang="en-IN" b="1" dirty="0">
                    <a:solidFill>
                      <a:srgbClr val="FF0000"/>
                    </a:solidFill>
                    <a:latin typeface="Book Antiqua" panose="0204060205030503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IN" b="1" dirty="0">
                  <a:solidFill>
                    <a:srgbClr val="FF0000"/>
                  </a:solidFill>
                  <a:latin typeface="Book Antiqua" panose="02040602050305030304" pitchFamily="18" charset="0"/>
                </a:endParaRPr>
              </a:p>
              <a:p>
                <a:r>
                  <a:rPr lang="en-IN" dirty="0">
                    <a:latin typeface="Book Antiqua" panose="02040602050305030304" pitchFamily="18" charset="0"/>
                  </a:rPr>
                  <a:t>   T1		   		  T2</a:t>
                </a:r>
              </a:p>
              <a:p>
                <a:r>
                  <a:rPr lang="en-IN" dirty="0">
                    <a:latin typeface="Book Antiqua" panose="02040602050305030304" pitchFamily="18" charset="0"/>
                  </a:rPr>
                  <a:t>R(A)</a:t>
                </a:r>
              </a:p>
              <a:p>
                <a:endParaRPr lang="en-IN" sz="700" dirty="0">
                  <a:latin typeface="Book Antiqua" panose="02040602050305030304" pitchFamily="18" charset="0"/>
                </a:endParaRPr>
              </a:p>
              <a:p>
                <a:r>
                  <a:rPr lang="en-IN" dirty="0">
                    <a:latin typeface="Book Antiqua" panose="02040602050305030304" pitchFamily="18" charset="0"/>
                  </a:rPr>
                  <a:t>W(A)</a:t>
                </a:r>
              </a:p>
              <a:p>
                <a:endParaRPr lang="en-IN" sz="800" dirty="0">
                  <a:latin typeface="Book Antiqua" panose="02040602050305030304" pitchFamily="18" charset="0"/>
                </a:endParaRPr>
              </a:p>
              <a:p>
                <a:r>
                  <a:rPr lang="en-IN" dirty="0">
                    <a:latin typeface="Book Antiqua" panose="02040602050305030304" pitchFamily="18" charset="0"/>
                  </a:rPr>
                  <a:t>R(B)</a:t>
                </a:r>
              </a:p>
              <a:p>
                <a:endParaRPr lang="en-IN" sz="800" dirty="0">
                  <a:latin typeface="Book Antiqua" panose="02040602050305030304" pitchFamily="18" charset="0"/>
                </a:endParaRPr>
              </a:p>
              <a:p>
                <a:r>
                  <a:rPr lang="en-IN" dirty="0">
                    <a:latin typeface="Book Antiqua" panose="02040602050305030304" pitchFamily="18" charset="0"/>
                  </a:rPr>
                  <a:t>W(B)</a:t>
                </a:r>
              </a:p>
              <a:p>
                <a:r>
                  <a:rPr lang="en-IN" dirty="0">
                    <a:latin typeface="Book Antiqua" panose="02040602050305030304" pitchFamily="18" charset="0"/>
                  </a:rPr>
                  <a:t>				R(A)</a:t>
                </a:r>
              </a:p>
              <a:p>
                <a:r>
                  <a:rPr lang="en-IN" sz="800" dirty="0">
                    <a:latin typeface="Book Antiqua" panose="02040602050305030304" pitchFamily="18" charset="0"/>
                  </a:rPr>
                  <a:t>				</a:t>
                </a:r>
                <a:endParaRPr lang="en-IN" sz="100" dirty="0">
                  <a:latin typeface="Book Antiqua" panose="02040602050305030304" pitchFamily="18" charset="0"/>
                </a:endParaRPr>
              </a:p>
              <a:p>
                <a:r>
                  <a:rPr lang="en-IN" dirty="0">
                    <a:latin typeface="Book Antiqua" panose="02040602050305030304" pitchFamily="18" charset="0"/>
                  </a:rPr>
                  <a:t>				R(B)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82B2D0-6697-BEF2-6BA1-327CF8636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1412776"/>
                <a:ext cx="9721080" cy="2816156"/>
              </a:xfrm>
              <a:prstGeom prst="rect">
                <a:avLst/>
              </a:prstGeom>
              <a:blipFill>
                <a:blip r:embed="rId3"/>
                <a:stretch>
                  <a:fillRect l="-502" b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F68497-38DD-BEB1-71B3-09D76FC35422}"/>
                  </a:ext>
                </a:extLst>
              </p:cNvPr>
              <p:cNvSpPr txBox="1"/>
              <p:nvPr/>
            </p:nvSpPr>
            <p:spPr>
              <a:xfrm>
                <a:off x="4965188" y="1873628"/>
                <a:ext cx="722621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Order of Non - Conflict Pair is swapped.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If we see this schedule all the operations of T1 is performed then T2 is started then it is called Serializable schedule.</a:t>
                </a:r>
              </a:p>
              <a:p>
                <a:endParaRPr lang="en-IN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IN" sz="2400" dirty="0"/>
                  <a:t> is a Conflict equivalent schedule to S1. Therefore S1 is a Serializable schedule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9F68497-38DD-BEB1-71B3-09D76FC35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188" y="1873628"/>
                <a:ext cx="7226212" cy="3046988"/>
              </a:xfrm>
              <a:prstGeom prst="rect">
                <a:avLst/>
              </a:prstGeom>
              <a:blipFill>
                <a:blip r:embed="rId4"/>
                <a:stretch>
                  <a:fillRect l="-1265" t="-1600" r="-675" b="-3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5AA521B0-8E24-7A8B-549D-7EAA67B8D919}"/>
              </a:ext>
            </a:extLst>
          </p:cNvPr>
          <p:cNvSpPr/>
          <p:nvPr/>
        </p:nvSpPr>
        <p:spPr>
          <a:xfrm rot="1233255">
            <a:off x="1207495" y="3013790"/>
            <a:ext cx="2937473" cy="471682"/>
          </a:xfrm>
          <a:prstGeom prst="ellipse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3DA9D4-8262-A089-067C-9593BBFC1C60}"/>
              </a:ext>
            </a:extLst>
          </p:cNvPr>
          <p:cNvCxnSpPr>
            <a:cxnSpLocks/>
          </p:cNvCxnSpPr>
          <p:nvPr/>
        </p:nvCxnSpPr>
        <p:spPr>
          <a:xfrm flipV="1">
            <a:off x="3647013" y="2202657"/>
            <a:ext cx="1391422" cy="11493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861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2567608" y="6648"/>
            <a:ext cx="6295319" cy="61404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View serializable schedules</a:t>
            </a: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ctr">
              <a:lnSpc>
                <a:spcPct val="90000"/>
              </a:lnSpc>
            </a:pP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39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Shape 3"/>
          <p:cNvSpPr txBox="1"/>
          <p:nvPr/>
        </p:nvSpPr>
        <p:spPr>
          <a:xfrm>
            <a:off x="841580" y="1035923"/>
            <a:ext cx="10898022" cy="4286280"/>
          </a:xfrm>
          <a:prstGeom prst="rect">
            <a:avLst/>
          </a:prstGeom>
        </p:spPr>
        <p:txBody>
          <a:bodyPr/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just">
              <a:buClr>
                <a:srgbClr val="FFFF00"/>
              </a:buClr>
            </a:pPr>
            <a:r>
              <a:rPr lang="en-IN" sz="3200" b="0" i="0" dirty="0">
                <a:solidFill>
                  <a:srgbClr val="FFFFFF"/>
                </a:solidFill>
                <a:effectLst/>
                <a:latin typeface="Bodoni MT" panose="02070603080606020203" pitchFamily="18" charset="0"/>
              </a:rPr>
              <a:t>If the given schedule is Conflict serializable then we can say that the schedule </a:t>
            </a:r>
            <a:r>
              <a:rPr lang="en-IN" sz="3200" dirty="0">
                <a:solidFill>
                  <a:srgbClr val="FFFFFF"/>
                </a:solidFill>
                <a:latin typeface="Bodoni MT" panose="02070603080606020203" pitchFamily="18" charset="0"/>
              </a:rPr>
              <a:t>i</a:t>
            </a:r>
            <a:r>
              <a:rPr lang="en-IN" sz="3200" b="0" i="0" dirty="0">
                <a:solidFill>
                  <a:srgbClr val="FFFFFF"/>
                </a:solidFill>
                <a:effectLst/>
                <a:latin typeface="Bodoni MT" panose="02070603080606020203" pitchFamily="18" charset="0"/>
              </a:rPr>
              <a:t>s Serializable.</a:t>
            </a:r>
          </a:p>
          <a:p>
            <a:pPr algn="just">
              <a:buClr>
                <a:srgbClr val="FFFF00"/>
              </a:buClr>
            </a:pPr>
            <a:endParaRPr lang="en-IN" sz="3200" dirty="0">
              <a:solidFill>
                <a:srgbClr val="FFFFFF"/>
              </a:solidFill>
              <a:latin typeface="Bodoni MT" panose="02070603080606020203" pitchFamily="18" charset="0"/>
            </a:endParaRPr>
          </a:p>
          <a:p>
            <a:pPr algn="just">
              <a:buClr>
                <a:srgbClr val="FFFF00"/>
              </a:buClr>
            </a:pPr>
            <a:r>
              <a:rPr lang="en-IN" sz="3200" b="0" i="0" dirty="0">
                <a:solidFill>
                  <a:srgbClr val="FFFFFF"/>
                </a:solidFill>
                <a:effectLst/>
                <a:latin typeface="Bodoni MT" panose="02070603080606020203" pitchFamily="18" charset="0"/>
              </a:rPr>
              <a:t>If we given schedule is not conflict serializable then we can check for view serializability. If it is true then that the schedule </a:t>
            </a:r>
            <a:r>
              <a:rPr lang="en-IN" sz="3200" dirty="0">
                <a:solidFill>
                  <a:srgbClr val="FFFFFF"/>
                </a:solidFill>
                <a:latin typeface="Bodoni MT" panose="02070603080606020203" pitchFamily="18" charset="0"/>
              </a:rPr>
              <a:t>i</a:t>
            </a:r>
            <a:r>
              <a:rPr lang="en-IN" sz="3200" b="0" i="0" dirty="0">
                <a:solidFill>
                  <a:srgbClr val="FFFFFF"/>
                </a:solidFill>
                <a:effectLst/>
                <a:latin typeface="Bodoni MT" panose="02070603080606020203" pitchFamily="18" charset="0"/>
              </a:rPr>
              <a:t>s Serializable, otherwise the schedule is Non – Serializable.</a:t>
            </a:r>
          </a:p>
          <a:p>
            <a:pPr algn="just">
              <a:buClr>
                <a:srgbClr val="FFFF00"/>
              </a:buClr>
            </a:pPr>
            <a:endParaRPr lang="en-IN" sz="3200" b="0" i="0" dirty="0">
              <a:solidFill>
                <a:srgbClr val="FFFFFF"/>
              </a:solidFill>
              <a:effectLst/>
              <a:latin typeface="Bodoni MT" panose="02070603080606020203" pitchFamily="18" charset="0"/>
            </a:endParaRPr>
          </a:p>
          <a:p>
            <a:pPr algn="just">
              <a:buClr>
                <a:srgbClr val="FFFF00"/>
              </a:buClr>
            </a:pPr>
            <a:endParaRPr lang="en-IN" sz="3200" b="1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5423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2"/>
          <p:cNvSpPr/>
          <p:nvPr/>
        </p:nvSpPr>
        <p:spPr>
          <a:xfrm>
            <a:off x="4306850" y="6648"/>
            <a:ext cx="4556077" cy="1058140"/>
          </a:xfrm>
          <a:prstGeom prst="rect">
            <a:avLst/>
          </a:prstGeom>
          <a:solidFill>
            <a:srgbClr val="FFFF66"/>
          </a:solidFill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View serializable schedules</a:t>
            </a: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algn="ctr">
              <a:lnSpc>
                <a:spcPct val="90000"/>
              </a:lnSpc>
            </a:pPr>
            <a:endParaRPr lang="en-IN" sz="3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9448920" y="644904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2F943E9B-96DD-4170-9F89-7D87FD8FD327}" type="slidenum">
              <a:rPr lang="en-IN" sz="1200" smtClean="0">
                <a:solidFill>
                  <a:srgbClr val="FFFFFF"/>
                </a:solidFill>
                <a:latin typeface="Calibri"/>
              </a:rPr>
              <a:pPr algn="r">
                <a:lnSpc>
                  <a:spcPct val="100000"/>
                </a:lnSpc>
              </a:pPr>
              <a:t>40</a:t>
            </a:fld>
            <a:endParaRPr lang="en-IN"/>
          </a:p>
        </p:txBody>
      </p:sp>
      <p:pic>
        <p:nvPicPr>
          <p:cNvPr id="2" name="Picture 4" descr="Vignan University Admission 2020-21,online Application Dates, Courses">
            <a:extLst>
              <a:ext uri="{FF2B5EF4-FFF2-40B4-BE49-F238E27FC236}">
                <a16:creationId xmlns:a16="http://schemas.microsoft.com/office/drawing/2014/main" id="{2620C6BC-EFA2-4AC7-8B23-D1BD17C52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35" y="0"/>
            <a:ext cx="2498565" cy="83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4310050" y="1285860"/>
            <a:ext cx="74295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Shape 3"/>
              <p:cNvSpPr txBox="1"/>
              <p:nvPr/>
            </p:nvSpPr>
            <p:spPr>
              <a:xfrm>
                <a:off x="841580" y="2060848"/>
                <a:ext cx="10898022" cy="4286280"/>
              </a:xfrm>
              <a:prstGeom prst="rect">
                <a:avLst/>
              </a:prstGeom>
            </p:spPr>
            <p:txBody>
              <a:bodyPr/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just">
                  <a:buClr>
                    <a:srgbClr val="FFFF00"/>
                  </a:buClr>
                </a:pPr>
                <a:r>
                  <a:rPr lang="en-US" sz="3200" b="0" i="0" dirty="0">
                    <a:solidFill>
                      <a:srgbClr val="FFFFFF"/>
                    </a:solidFill>
                    <a:effectLst/>
                    <a:latin typeface="Bodoni MT" panose="02070603080606020203" pitchFamily="18" charset="0"/>
                  </a:rPr>
                  <a:t>A Schedule is said to be view serializable, if it has an equivalent “</a:t>
                </a:r>
                <a:r>
                  <a:rPr lang="en-US" sz="3200" dirty="0">
                    <a:solidFill>
                      <a:srgbClr val="FFFFFF"/>
                    </a:solidFill>
                    <a:latin typeface="Bodoni MT" panose="02070603080606020203" pitchFamily="18" charset="0"/>
                  </a:rPr>
                  <a:t>V</a:t>
                </a:r>
                <a:r>
                  <a:rPr lang="en-US" sz="3200" b="0" i="0" dirty="0">
                    <a:solidFill>
                      <a:srgbClr val="FFFFFF"/>
                    </a:solidFill>
                    <a:effectLst/>
                    <a:latin typeface="Bodoni MT" panose="02070603080606020203" pitchFamily="18" charset="0"/>
                  </a:rPr>
                  <a:t>iew Equivalent” Schedule. </a:t>
                </a:r>
              </a:p>
              <a:p>
                <a:pPr algn="just">
                  <a:buClr>
                    <a:srgbClr val="FFFF00"/>
                  </a:buClr>
                </a:pPr>
                <a:endParaRPr lang="en-US" dirty="0">
                  <a:solidFill>
                    <a:srgbClr val="FFFFFF"/>
                  </a:solidFill>
                  <a:latin typeface="Bodoni MT" panose="02070603080606020203" pitchFamily="18" charset="0"/>
                </a:endParaRPr>
              </a:p>
              <a:p>
                <a:pPr algn="just">
                  <a:buClr>
                    <a:srgbClr val="FFFF00"/>
                  </a:buClr>
                </a:pPr>
                <a:r>
                  <a:rPr lang="en-US" sz="3200" dirty="0">
                    <a:solidFill>
                      <a:srgbClr val="FFFFFF"/>
                    </a:solidFill>
                    <a:latin typeface="Bodoni MT" panose="02070603080606020203" pitchFamily="18" charset="0"/>
                  </a:rPr>
                  <a:t>V</a:t>
                </a:r>
                <a:r>
                  <a:rPr lang="en-US" sz="3200" b="0" i="0" dirty="0">
                    <a:solidFill>
                      <a:srgbClr val="FFFFFF"/>
                    </a:solidFill>
                    <a:effectLst/>
                    <a:latin typeface="Bodoni MT" panose="02070603080606020203" pitchFamily="18" charset="0"/>
                  </a:rPr>
                  <a:t>iew Equivalent Schedule: A schedule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b="0" i="0" dirty="0">
                    <a:solidFill>
                      <a:srgbClr val="FFFFFF"/>
                    </a:solidFill>
                    <a:effectLst/>
                    <a:latin typeface="Bodoni MT" panose="02070603080606020203" pitchFamily="18" charset="0"/>
                  </a:rPr>
                  <a:t>is said to be view equivalent schedule to S if it satisfies the following three conditions:</a:t>
                </a:r>
              </a:p>
              <a:p>
                <a:pPr marL="2286000" lvl="4" indent="-457200" algn="just">
                  <a:buClr>
                    <a:srgbClr val="FFFF00"/>
                  </a:buClr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rgbClr val="FFFFFF"/>
                    </a:solidFill>
                    <a:latin typeface="Bodoni MT" panose="02070603080606020203" pitchFamily="18" charset="0"/>
                    <a:cs typeface="Times New Roman" panose="02020603050405020304" pitchFamily="18" charset="0"/>
                  </a:rPr>
                  <a:t>Initial Read</a:t>
                </a:r>
              </a:p>
              <a:p>
                <a:pPr marL="2286000" lvl="4" indent="-457200" algn="just">
                  <a:buClr>
                    <a:srgbClr val="FFFF00"/>
                  </a:buClr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rgbClr val="FFFFFF"/>
                    </a:solidFill>
                    <a:latin typeface="Bodoni MT" panose="02070603080606020203" pitchFamily="18" charset="0"/>
                    <a:cs typeface="Times New Roman" panose="02020603050405020304" pitchFamily="18" charset="0"/>
                  </a:rPr>
                  <a:t>Read Write Sequence</a:t>
                </a:r>
              </a:p>
              <a:p>
                <a:pPr marL="2286000" lvl="4" indent="-457200" algn="just">
                  <a:buClr>
                    <a:srgbClr val="FFFF00"/>
                  </a:buClr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solidFill>
                      <a:srgbClr val="FFFFFF"/>
                    </a:solidFill>
                    <a:latin typeface="Bodoni MT" panose="02070603080606020203" pitchFamily="18" charset="0"/>
                    <a:cs typeface="Times New Roman" panose="02020603050405020304" pitchFamily="18" charset="0"/>
                  </a:rPr>
                  <a:t>Final Update</a:t>
                </a:r>
                <a:endParaRPr lang="en-IN" sz="2400" b="1" dirty="0">
                  <a:solidFill>
                    <a:srgbClr val="FFFF00"/>
                  </a:solidFill>
                  <a:latin typeface="Bodoni MT" panose="02070603080606020203" pitchFamily="18" charset="0"/>
                  <a:cs typeface="Times New Roman" panose="02020603050405020304" pitchFamily="18" charset="0"/>
                </a:endParaRPr>
              </a:p>
              <a:p>
                <a:pPr algn="just">
                  <a:buClr>
                    <a:srgbClr val="FFFF00"/>
                  </a:buClr>
                </a:pPr>
                <a:endParaRPr lang="en-IN" sz="3200" b="1" dirty="0">
                  <a:latin typeface="Bodoni MT" panose="02070603080606020203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Shap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80" y="2060848"/>
                <a:ext cx="10898022" cy="4286280"/>
              </a:xfrm>
              <a:prstGeom prst="rect">
                <a:avLst/>
              </a:prstGeom>
              <a:blipFill>
                <a:blip r:embed="rId4"/>
                <a:stretch>
                  <a:fillRect l="-1398" t="-1849" r="-14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247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A705EA-C07A-42EC-B391-9736B57A05EA}"/>
              </a:ext>
            </a:extLst>
          </p:cNvPr>
          <p:cNvSpPr txBox="1"/>
          <p:nvPr/>
        </p:nvSpPr>
        <p:spPr>
          <a:xfrm>
            <a:off x="983432" y="551289"/>
            <a:ext cx="1058517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u="sng" dirty="0">
                <a:solidFill>
                  <a:srgbClr val="FFFF00"/>
                </a:solidFill>
                <a:effectLst/>
                <a:latin typeface="Book Antiqua" panose="02040602050305030304" pitchFamily="18" charset="0"/>
              </a:rPr>
              <a:t>View Equivalent Schedules</a:t>
            </a:r>
          </a:p>
          <a:p>
            <a:pPr algn="ctr"/>
            <a:endParaRPr lang="en-US" sz="1600" dirty="0">
              <a:latin typeface="Book Antiqua" panose="02040602050305030304" pitchFamily="18" charset="0"/>
            </a:endParaRPr>
          </a:p>
          <a:p>
            <a:r>
              <a:rPr lang="en-US" sz="3200" dirty="0">
                <a:latin typeface="Book Antiqua" panose="02040602050305030304" pitchFamily="18" charset="0"/>
              </a:rPr>
              <a:t>Schedules S1 and S2 are called view equivalent if the following three conditions hold true for them.</a:t>
            </a:r>
          </a:p>
          <a:p>
            <a:endParaRPr lang="en-US" sz="3200" dirty="0">
              <a:latin typeface="Book Antiqua" panose="02040602050305030304" pitchFamily="18" charset="0"/>
            </a:endParaRPr>
          </a:p>
          <a:p>
            <a:pPr marL="742950" indent="-742950">
              <a:buAutoNum type="arabicPeriod"/>
            </a:pPr>
            <a:r>
              <a:rPr lang="en-US" sz="2800" dirty="0">
                <a:latin typeface="Book Antiqua" panose="02040602050305030304" pitchFamily="18" charset="0"/>
              </a:rPr>
              <a:t>“</a:t>
            </a:r>
            <a:r>
              <a:rPr lang="en-US" sz="3200" b="1" dirty="0">
                <a:latin typeface="Book Antiqua" panose="02040602050305030304" pitchFamily="18" charset="0"/>
              </a:rPr>
              <a:t>Initial readers must be same for all the data items”.</a:t>
            </a:r>
          </a:p>
          <a:p>
            <a:pPr marL="742950" indent="-742950">
              <a:buAutoNum type="arabicPeriod"/>
            </a:pPr>
            <a:r>
              <a:rPr lang="en-US" sz="3200" b="1" dirty="0">
                <a:latin typeface="Book Antiqua" panose="02040602050305030304" pitchFamily="18" charset="0"/>
              </a:rPr>
              <a:t>“Final writers must be same for all the data items”.</a:t>
            </a:r>
          </a:p>
          <a:p>
            <a:pPr marL="742950" indent="-742950">
              <a:buFontTx/>
              <a:buAutoNum type="arabicPeriod"/>
            </a:pPr>
            <a:r>
              <a:rPr lang="en-US" sz="3200" b="1" dirty="0">
                <a:latin typeface="Book Antiqua" panose="02040602050305030304" pitchFamily="18" charset="0"/>
              </a:rPr>
              <a:t>“Write-read(Update Read) sequence must be same.”</a:t>
            </a:r>
          </a:p>
          <a:p>
            <a:endParaRPr lang="en-US" sz="28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659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D47800A8-15A1-4B1E-BA2E-444C20480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207323"/>
            <a:ext cx="4211469" cy="6443354"/>
          </a:xfrm>
          <a:prstGeom prst="rect">
            <a:avLst/>
          </a:prstGeom>
        </p:spPr>
      </p:pic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50A8CBE9-B220-474F-A189-0B109563F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3" y="207323"/>
            <a:ext cx="4211469" cy="63870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4AC6A1-9F3E-458C-A79E-7316A3AD084D}"/>
              </a:ext>
            </a:extLst>
          </p:cNvPr>
          <p:cNvSpPr/>
          <p:nvPr/>
        </p:nvSpPr>
        <p:spPr>
          <a:xfrm>
            <a:off x="2207568" y="219005"/>
            <a:ext cx="115212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66484-FD6D-410D-AEE0-662C7466CA50}"/>
              </a:ext>
            </a:extLst>
          </p:cNvPr>
          <p:cNvSpPr/>
          <p:nvPr/>
        </p:nvSpPr>
        <p:spPr>
          <a:xfrm>
            <a:off x="7824192" y="207323"/>
            <a:ext cx="1152128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1059930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ADFD06-E5A6-4231-825B-086F17EF9FF4}"/>
              </a:ext>
            </a:extLst>
          </p:cNvPr>
          <p:cNvSpPr txBox="1"/>
          <p:nvPr/>
        </p:nvSpPr>
        <p:spPr>
          <a:xfrm>
            <a:off x="1055440" y="1412776"/>
            <a:ext cx="1036915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1.Initial Read</a:t>
            </a:r>
          </a:p>
          <a:p>
            <a:r>
              <a:rPr lang="en-US" sz="4400" b="1" dirty="0"/>
              <a:t>2. Final Write</a:t>
            </a:r>
          </a:p>
          <a:p>
            <a:r>
              <a:rPr lang="en-IN" sz="4400" b="1" dirty="0"/>
              <a:t>3. Update Read</a:t>
            </a:r>
          </a:p>
          <a:p>
            <a:r>
              <a:rPr lang="en-US" sz="4400" b="1" dirty="0"/>
              <a:t>Since, above all conditions met, we can say S1 and S2 are View Equivalent.</a:t>
            </a:r>
          </a:p>
        </p:txBody>
      </p:sp>
    </p:spTree>
    <p:extLst>
      <p:ext uri="{BB962C8B-B14F-4D97-AF65-F5344CB8AC3E}">
        <p14:creationId xmlns:p14="http://schemas.microsoft.com/office/powerpoint/2010/main" val="1393508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E3628-A473-4E0D-919D-9678E05ACDC0}"/>
              </a:ext>
            </a:extLst>
          </p:cNvPr>
          <p:cNvSpPr txBox="1"/>
          <p:nvPr/>
        </p:nvSpPr>
        <p:spPr>
          <a:xfrm>
            <a:off x="911424" y="0"/>
            <a:ext cx="108732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>
                <a:solidFill>
                  <a:srgbClr val="FFFF00"/>
                </a:solidFill>
                <a:effectLst/>
              </a:rPr>
              <a:t>Checking Whether a Schedule is View Serializable Or Not</a:t>
            </a:r>
            <a:endParaRPr lang="en-US" sz="4000" b="1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932EC-9C9D-4E01-B098-F9C852BC3CE5}"/>
              </a:ext>
            </a:extLst>
          </p:cNvPr>
          <p:cNvSpPr txBox="1"/>
          <p:nvPr/>
        </p:nvSpPr>
        <p:spPr>
          <a:xfrm>
            <a:off x="983432" y="1268760"/>
            <a:ext cx="105131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effectLst/>
              </a:rPr>
              <a:t>Method-01: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the given schedule </a:t>
            </a:r>
            <a:r>
              <a:rPr lang="en-US" sz="2400" dirty="0">
                <a:solidFill>
                  <a:srgbClr val="FFFF00"/>
                </a:solidFill>
              </a:rPr>
              <a:t>is </a:t>
            </a:r>
            <a:r>
              <a:rPr lang="en-US" sz="2400" b="1" dirty="0">
                <a:solidFill>
                  <a:srgbClr val="FFFF00"/>
                </a:solidFill>
              </a:rPr>
              <a:t>conflict serializable</a:t>
            </a:r>
            <a:r>
              <a:rPr lang="en-US" sz="2400" dirty="0"/>
              <a:t>, then it is surely </a:t>
            </a:r>
            <a:r>
              <a:rPr lang="en-US" sz="2400" b="1" dirty="0">
                <a:solidFill>
                  <a:srgbClr val="FFFF00"/>
                </a:solidFill>
              </a:rPr>
              <a:t>view serializable.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the given schedule is not conflict serializable, then it may or may not be view serializable. Go and check using other methods</a:t>
            </a:r>
          </a:p>
          <a:p>
            <a:r>
              <a:rPr lang="en-US" sz="2400" b="1" u="sng" dirty="0"/>
              <a:t>Method-02: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No blind write means not a view serializable schedule</a:t>
            </a:r>
            <a:r>
              <a:rPr lang="en-US" sz="2400" dirty="0"/>
              <a:t>. (Writing without reading is called as a blind write).</a:t>
            </a:r>
          </a:p>
          <a:p>
            <a:r>
              <a:rPr lang="en-US" sz="2400" b="1" u="sng" dirty="0">
                <a:effectLst/>
              </a:rPr>
              <a:t>Method-03:</a:t>
            </a:r>
            <a:endParaRPr lang="en-US" sz="2400" b="1" dirty="0"/>
          </a:p>
          <a:p>
            <a:r>
              <a:rPr lang="en-US" sz="2400" dirty="0"/>
              <a:t> In this method, try finding a view equivalent serial schedule.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By using the above three conditions, write all the dependencies.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Then, draw a graph using those dependencies.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</a:rPr>
              <a:t>If there exists no cycle in the graph, then the schedule is view serializable otherwise not.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61945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0929C0E1-CD83-4CC3-8BE4-5A14E1E70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996" y="116632"/>
            <a:ext cx="7946004" cy="56165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04B77D-A18C-464D-A261-920CABEB3898}"/>
              </a:ext>
            </a:extLst>
          </p:cNvPr>
          <p:cNvSpPr txBox="1"/>
          <p:nvPr/>
        </p:nvSpPr>
        <p:spPr>
          <a:xfrm>
            <a:off x="875931" y="1052736"/>
            <a:ext cx="33503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FFFF00"/>
                </a:solidFill>
                <a:effectLst/>
              </a:rPr>
              <a:t>Problem-01:</a:t>
            </a:r>
            <a:endParaRPr lang="en-US" sz="3600" dirty="0">
              <a:solidFill>
                <a:srgbClr val="FFFF00"/>
              </a:solidFill>
            </a:endParaRPr>
          </a:p>
          <a:p>
            <a:r>
              <a:rPr lang="en-US" sz="3600" dirty="0">
                <a:solidFill>
                  <a:srgbClr val="FFFF00"/>
                </a:solidFill>
              </a:rPr>
              <a:t>Check whether the given schedule S is view serializable or not-</a:t>
            </a:r>
          </a:p>
        </p:txBody>
      </p:sp>
    </p:spTree>
    <p:extLst>
      <p:ext uri="{BB962C8B-B14F-4D97-AF65-F5344CB8AC3E}">
        <p14:creationId xmlns:p14="http://schemas.microsoft.com/office/powerpoint/2010/main" val="17309626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E6995C-DDCE-40A1-A5BE-FDC9A3ED37F8}"/>
              </a:ext>
            </a:extLst>
          </p:cNvPr>
          <p:cNvSpPr txBox="1"/>
          <p:nvPr/>
        </p:nvSpPr>
        <p:spPr>
          <a:xfrm>
            <a:off x="1055440" y="764704"/>
            <a:ext cx="107765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effectLst/>
              </a:rPr>
              <a:t>Step-01:</a:t>
            </a:r>
            <a:r>
              <a:rPr lang="en-US" sz="2800" b="1" u="sng" dirty="0">
                <a:effectLst/>
              </a:rPr>
              <a:t>Checking Whether S is Conflict Serializable Or Not-</a:t>
            </a:r>
            <a:endParaRPr lang="en-US" sz="2800" b="1" u="sng" dirty="0"/>
          </a:p>
          <a:p>
            <a:r>
              <a:rPr lang="en-IN" sz="2800" dirty="0"/>
              <a:t>List all the conflicting operations and determine the dependency between the transactions-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2800" dirty="0"/>
              <a:t>W</a:t>
            </a:r>
            <a:r>
              <a:rPr lang="en-IN" sz="2800" baseline="-25000" dirty="0"/>
              <a:t>1</a:t>
            </a:r>
            <a:r>
              <a:rPr lang="en-IN" sz="2800" dirty="0"/>
              <a:t>(B) , W</a:t>
            </a:r>
            <a:r>
              <a:rPr lang="en-IN" sz="2800" baseline="-25000" dirty="0"/>
              <a:t>2</a:t>
            </a:r>
            <a:r>
              <a:rPr lang="en-IN" sz="2800" dirty="0"/>
              <a:t>(B)              (T</a:t>
            </a:r>
            <a:r>
              <a:rPr lang="en-IN" sz="2800" baseline="-25000" dirty="0"/>
              <a:t>1</a:t>
            </a:r>
            <a:r>
              <a:rPr lang="en-IN" sz="2800" dirty="0"/>
              <a:t> → T</a:t>
            </a:r>
            <a:r>
              <a:rPr lang="en-IN" sz="2800" baseline="-25000" dirty="0"/>
              <a:t>2</a:t>
            </a:r>
            <a:r>
              <a:rPr lang="en-IN" sz="2800" dirty="0"/>
              <a:t>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2800" dirty="0"/>
              <a:t>W</a:t>
            </a:r>
            <a:r>
              <a:rPr lang="en-IN" sz="2800" baseline="-25000" dirty="0"/>
              <a:t>1</a:t>
            </a:r>
            <a:r>
              <a:rPr lang="en-IN" sz="2800" dirty="0"/>
              <a:t>(B) , W</a:t>
            </a:r>
            <a:r>
              <a:rPr lang="en-IN" sz="2800" baseline="-25000" dirty="0"/>
              <a:t>3</a:t>
            </a:r>
            <a:r>
              <a:rPr lang="en-IN" sz="2800" dirty="0"/>
              <a:t>(B)              (T</a:t>
            </a:r>
            <a:r>
              <a:rPr lang="en-IN" sz="2800" baseline="-25000" dirty="0"/>
              <a:t>1</a:t>
            </a:r>
            <a:r>
              <a:rPr lang="en-IN" sz="2800" dirty="0"/>
              <a:t> → T</a:t>
            </a:r>
            <a:r>
              <a:rPr lang="en-IN" sz="2800" baseline="-25000" dirty="0"/>
              <a:t>3</a:t>
            </a:r>
            <a:r>
              <a:rPr lang="en-IN" sz="2800" dirty="0"/>
              <a:t>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2800" dirty="0"/>
              <a:t>W</a:t>
            </a:r>
            <a:r>
              <a:rPr lang="en-IN" sz="2800" baseline="-25000" dirty="0"/>
              <a:t>1</a:t>
            </a:r>
            <a:r>
              <a:rPr lang="en-IN" sz="2800" dirty="0"/>
              <a:t>(B) , W</a:t>
            </a:r>
            <a:r>
              <a:rPr lang="en-IN" sz="2800" baseline="-25000" dirty="0"/>
              <a:t>4</a:t>
            </a:r>
            <a:r>
              <a:rPr lang="en-IN" sz="2800" dirty="0"/>
              <a:t>(B)              (T</a:t>
            </a:r>
            <a:r>
              <a:rPr lang="en-IN" sz="2800" baseline="-25000" dirty="0"/>
              <a:t>1</a:t>
            </a:r>
            <a:r>
              <a:rPr lang="en-IN" sz="2800" dirty="0"/>
              <a:t> → T</a:t>
            </a:r>
            <a:r>
              <a:rPr lang="en-IN" sz="2800" baseline="-25000" dirty="0"/>
              <a:t>4</a:t>
            </a:r>
            <a:r>
              <a:rPr lang="en-IN" sz="2800" dirty="0"/>
              <a:t>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2800" dirty="0"/>
              <a:t>W</a:t>
            </a:r>
            <a:r>
              <a:rPr lang="en-IN" sz="2800" baseline="-25000" dirty="0"/>
              <a:t>2</a:t>
            </a:r>
            <a:r>
              <a:rPr lang="en-IN" sz="2800" dirty="0"/>
              <a:t>(B) , W</a:t>
            </a:r>
            <a:r>
              <a:rPr lang="en-IN" sz="2800" baseline="-25000" dirty="0"/>
              <a:t>3</a:t>
            </a:r>
            <a:r>
              <a:rPr lang="en-IN" sz="2800" dirty="0"/>
              <a:t>(B)              (T</a:t>
            </a:r>
            <a:r>
              <a:rPr lang="en-IN" sz="2800" baseline="-25000" dirty="0"/>
              <a:t>2</a:t>
            </a:r>
            <a:r>
              <a:rPr lang="en-IN" sz="2800" dirty="0"/>
              <a:t> → T</a:t>
            </a:r>
            <a:r>
              <a:rPr lang="en-IN" sz="2800" baseline="-25000" dirty="0"/>
              <a:t>3</a:t>
            </a:r>
            <a:r>
              <a:rPr lang="en-IN" sz="2800" dirty="0"/>
              <a:t>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2800" dirty="0"/>
              <a:t>W</a:t>
            </a:r>
            <a:r>
              <a:rPr lang="en-IN" sz="2800" baseline="-25000" dirty="0"/>
              <a:t>2</a:t>
            </a:r>
            <a:r>
              <a:rPr lang="en-IN" sz="2800" dirty="0"/>
              <a:t>(B) , W</a:t>
            </a:r>
            <a:r>
              <a:rPr lang="en-IN" sz="2800" baseline="-25000" dirty="0"/>
              <a:t>4</a:t>
            </a:r>
            <a:r>
              <a:rPr lang="en-IN" sz="2800" dirty="0"/>
              <a:t>(B)              (T</a:t>
            </a:r>
            <a:r>
              <a:rPr lang="en-IN" sz="2800" baseline="-25000" dirty="0"/>
              <a:t>2</a:t>
            </a:r>
            <a:r>
              <a:rPr lang="en-IN" sz="2800" dirty="0"/>
              <a:t> → T</a:t>
            </a:r>
            <a:r>
              <a:rPr lang="en-IN" sz="2800" baseline="-25000" dirty="0"/>
              <a:t>4</a:t>
            </a:r>
            <a:r>
              <a:rPr lang="en-IN" sz="2800" dirty="0"/>
              <a:t>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2800" dirty="0"/>
              <a:t>W</a:t>
            </a:r>
            <a:r>
              <a:rPr lang="en-IN" sz="2800" baseline="-25000" dirty="0"/>
              <a:t>3</a:t>
            </a:r>
            <a:r>
              <a:rPr lang="en-IN" sz="2800" dirty="0"/>
              <a:t>(B) , W</a:t>
            </a:r>
            <a:r>
              <a:rPr lang="en-IN" sz="2800" baseline="-25000" dirty="0"/>
              <a:t>4</a:t>
            </a:r>
            <a:r>
              <a:rPr lang="en-IN" sz="2800" dirty="0"/>
              <a:t>(B)              (T</a:t>
            </a:r>
            <a:r>
              <a:rPr lang="en-IN" sz="2800" baseline="-25000" dirty="0"/>
              <a:t>3</a:t>
            </a:r>
            <a:r>
              <a:rPr lang="en-IN" sz="2800" dirty="0"/>
              <a:t> → T</a:t>
            </a:r>
            <a:r>
              <a:rPr lang="en-IN" sz="2800" baseline="-25000" dirty="0"/>
              <a:t>4</a:t>
            </a:r>
            <a:r>
              <a:rPr lang="en-IN" sz="2800" dirty="0"/>
              <a:t>)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190362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7C6A8F9-4E89-410D-AB7A-FA623DBB2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80" y="360040"/>
            <a:ext cx="5531645" cy="364502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6F69FA0-2B13-42DE-8767-25A18139FF4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35959" y="1829479"/>
            <a:ext cx="633670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Book Antiqua" panose="0204060205030503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latin typeface="Book Antiqua" panose="02040602050305030304" pitchFamily="18" charset="0"/>
              </a:rPr>
              <a:t>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here exists no cycle in the precedence graph.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Therefore, the given schedule 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ook Antiqua" panose="02040602050305030304" pitchFamily="18" charset="0"/>
              </a:rPr>
              <a:t>is conflict serializable.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Thus, we conclude that the given schedule is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ook Antiqua" panose="02040602050305030304" pitchFamily="18" charset="0"/>
              </a:rPr>
              <a:t>also view serializable. </a:t>
            </a:r>
          </a:p>
        </p:txBody>
      </p:sp>
    </p:spTree>
    <p:extLst>
      <p:ext uri="{BB962C8B-B14F-4D97-AF65-F5344CB8AC3E}">
        <p14:creationId xmlns:p14="http://schemas.microsoft.com/office/powerpoint/2010/main" val="10672433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CC43A-DF9E-4DE6-BC39-430210DEE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3" y="2060848"/>
            <a:ext cx="388843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PROBLEM 2:-Check whether S is view serializable or not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6C2757C-B703-4935-97B9-B803D3B9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136" y="0"/>
            <a:ext cx="7776864" cy="69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4806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E3628-A473-4E0D-919D-9678E05ACDC0}"/>
              </a:ext>
            </a:extLst>
          </p:cNvPr>
          <p:cNvSpPr txBox="1"/>
          <p:nvPr/>
        </p:nvSpPr>
        <p:spPr>
          <a:xfrm>
            <a:off x="911424" y="0"/>
            <a:ext cx="108732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>
                <a:solidFill>
                  <a:srgbClr val="FFFF00"/>
                </a:solidFill>
                <a:effectLst/>
              </a:rPr>
              <a:t>Steps to build a Precedence Graph</a:t>
            </a:r>
            <a:endParaRPr lang="en-US" sz="4000" b="1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932EC-9C9D-4E01-B098-F9C852BC3CE5}"/>
              </a:ext>
            </a:extLst>
          </p:cNvPr>
          <p:cNvSpPr txBox="1"/>
          <p:nvPr/>
        </p:nvSpPr>
        <p:spPr>
          <a:xfrm>
            <a:off x="983432" y="1268760"/>
            <a:ext cx="105131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/>
              <a:t>Analyze</a:t>
            </a:r>
            <a:r>
              <a:rPr lang="fr-FR" b="1" dirty="0"/>
              <a:t> the </a:t>
            </a:r>
            <a:r>
              <a:rPr lang="fr-FR" b="1" dirty="0" err="1"/>
              <a:t>given</a:t>
            </a:r>
            <a:r>
              <a:rPr lang="fr-FR" b="1" dirty="0"/>
              <a:t> </a:t>
            </a:r>
            <a:r>
              <a:rPr lang="fr-FR" b="1" dirty="0" err="1"/>
              <a:t>schedule</a:t>
            </a:r>
            <a:r>
              <a:rPr lang="fr-FR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Transactions: T1​, T2​, and T3​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Operations: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T1 : R(A),W(A)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T2 : R(A)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T3 : W(A)</a:t>
            </a:r>
          </a:p>
          <a:p>
            <a:r>
              <a:rPr lang="en-IN" b="1" dirty="0"/>
              <a:t>Conflicting operations:</a:t>
            </a:r>
          </a:p>
          <a:p>
            <a:r>
              <a:rPr lang="en-US" b="1" dirty="0"/>
              <a:t>List all the conflicting operations and determine the dependency between the transactions-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R1(A) , W3(A)              (T1 → T3)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R2(A) , W3(A)              (T2 → T3)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R2(A) , W1(A)              (T2 → T1)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W3(A) , W1(A)             (T3 → T1)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50541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33855E9B-B286-40A2-9320-A572B8D05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1392"/>
            <a:ext cx="5064004" cy="34563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583739-8B74-4872-BF76-73F16CDA1177}"/>
              </a:ext>
            </a:extLst>
          </p:cNvPr>
          <p:cNvSpPr/>
          <p:nvPr/>
        </p:nvSpPr>
        <p:spPr>
          <a:xfrm>
            <a:off x="1466720" y="44623"/>
            <a:ext cx="4302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Conflict or not?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2E2EF-356A-494C-85FC-327A1A23DD3C}"/>
              </a:ext>
            </a:extLst>
          </p:cNvPr>
          <p:cNvSpPr txBox="1"/>
          <p:nvPr/>
        </p:nvSpPr>
        <p:spPr>
          <a:xfrm>
            <a:off x="5447928" y="1340768"/>
            <a:ext cx="677053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500" dirty="0"/>
              <a:t>Clearly, there exists a cycle in the precedence graph.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500" dirty="0"/>
              <a:t>Therefore, the given schedule S is not conflict serializable.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500" dirty="0"/>
              <a:t>Since, the given schedule S is not conflict serializable, so, it may or may not be view serializable.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500" dirty="0"/>
              <a:t>To check whether S is view serializable or not, let us use another method.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FF0000"/>
                </a:solidFill>
              </a:rPr>
              <a:t>Let us check for blind writes.</a:t>
            </a:r>
            <a:endParaRPr lang="en-IN" sz="2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405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CFA8F5-D4F3-47E9-B54B-3226CD889A00}"/>
              </a:ext>
            </a:extLst>
          </p:cNvPr>
          <p:cNvSpPr/>
          <p:nvPr/>
        </p:nvSpPr>
        <p:spPr>
          <a:xfrm>
            <a:off x="1343472" y="528349"/>
            <a:ext cx="854843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Blind Write exists or not?</a:t>
            </a:r>
            <a:endParaRPr lang="en-US" sz="6600" b="0" cap="none" spc="0" dirty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A211CA-C54E-4001-BEB4-29EE632F7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472" y="2667109"/>
            <a:ext cx="964907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a blind write W</a:t>
            </a:r>
            <a:r>
              <a:rPr kumimoji="0" lang="en-US" altLang="en-US" sz="36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(A) in the given schedule 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given schedule S may or may not be view serializable. </a:t>
            </a:r>
          </a:p>
        </p:txBody>
      </p:sp>
    </p:spTree>
    <p:extLst>
      <p:ext uri="{BB962C8B-B14F-4D97-AF65-F5344CB8AC3E}">
        <p14:creationId xmlns:p14="http://schemas.microsoft.com/office/powerpoint/2010/main" val="9106354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CFA8F5-D4F3-47E9-B54B-3226CD889A00}"/>
              </a:ext>
            </a:extLst>
          </p:cNvPr>
          <p:cNvSpPr/>
          <p:nvPr/>
        </p:nvSpPr>
        <p:spPr>
          <a:xfrm>
            <a:off x="1789651" y="528349"/>
            <a:ext cx="765607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Let us derive the dependencies </a:t>
            </a:r>
          </a:p>
          <a:p>
            <a:pPr algn="ctr"/>
            <a:r>
              <a:rPr lang="en-US" sz="40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and then draw a dependency graph</a:t>
            </a:r>
            <a:endParaRPr lang="en-US" sz="4000" b="0" cap="none" spc="0" dirty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A211CA-C54E-4001-BEB4-29EE632F7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472" y="2051556"/>
            <a:ext cx="964907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T1 first reads A but T3 updates A first.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So, T1 must execute before T3.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Thus, we get the dependency T1 → T3.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A is made by the transaction T1.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So, T1 must execute after all other transactions.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Thus, we get the dependency (T2, T3) → T1.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exists no write-read sequence.</a:t>
            </a:r>
          </a:p>
        </p:txBody>
      </p:sp>
    </p:spTree>
    <p:extLst>
      <p:ext uri="{BB962C8B-B14F-4D97-AF65-F5344CB8AC3E}">
        <p14:creationId xmlns:p14="http://schemas.microsoft.com/office/powerpoint/2010/main" val="42603848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6B8A14-ED7C-45B9-838B-0853EE58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1582342"/>
            <a:ext cx="68407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600" b="1" i="0" u="sng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Book Antiqua" panose="02040602050305030304" pitchFamily="18" charset="0"/>
                <a:cs typeface="Times New Roman" panose="02020603050405020304" pitchFamily="18" charset="0"/>
              </a:rPr>
              <a:t>Drawing a Dependency Graph-</a:t>
            </a: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cs typeface="Times New Roman" panose="02020603050405020304" pitchFamily="18" charset="0"/>
              </a:rPr>
              <a:t>T1 → T3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cs typeface="Times New Roman" panose="02020603050405020304" pitchFamily="18" charset="0"/>
              </a:rPr>
              <a:t>(T2, T3) → T1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600" dirty="0">
                <a:latin typeface="Book Antiqua" panose="0204060205030503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cs typeface="Times New Roman" panose="02020603050405020304" pitchFamily="18" charset="0"/>
              </a:rPr>
              <a:t>here exists a cycle in the dependency graph.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  <a:cs typeface="Times New Roman" panose="02020603050405020304" pitchFamily="18" charset="0"/>
              </a:rPr>
              <a:t>Thus, we conclude that the given schedule S is not view serializable.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C165723-055A-4467-83D0-8E713150D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1052736"/>
            <a:ext cx="4382748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4790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4F6E2B-93B1-45E1-A308-8894E0E959DC}"/>
              </a:ext>
            </a:extLst>
          </p:cNvPr>
          <p:cNvSpPr txBox="1"/>
          <p:nvPr/>
        </p:nvSpPr>
        <p:spPr>
          <a:xfrm>
            <a:off x="947428" y="1268760"/>
            <a:ext cx="102971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>
                <a:solidFill>
                  <a:srgbClr val="FFFF00"/>
                </a:solidFill>
                <a:effectLst/>
              </a:rPr>
              <a:t>Problem-04:</a:t>
            </a:r>
            <a:endParaRPr lang="en-US" sz="4800" dirty="0">
              <a:solidFill>
                <a:srgbClr val="FFFF00"/>
              </a:solidFill>
            </a:endParaRPr>
          </a:p>
          <a:p>
            <a:r>
              <a:rPr lang="en-US" sz="4800" dirty="0">
                <a:solidFill>
                  <a:srgbClr val="FFFF00"/>
                </a:solidFill>
              </a:rPr>
              <a:t>Check whether the given schedule S is view serializable or not. If yes, then give the serial schedule.</a:t>
            </a:r>
          </a:p>
          <a:p>
            <a:pPr algn="ctr"/>
            <a:r>
              <a:rPr lang="en-US" sz="4800" b="1" dirty="0">
                <a:solidFill>
                  <a:srgbClr val="FFFF00"/>
                </a:solidFill>
                <a:effectLst/>
              </a:rPr>
              <a:t>S : R</a:t>
            </a:r>
            <a:r>
              <a:rPr lang="en-US" sz="4800" b="1" baseline="-25000" dirty="0">
                <a:solidFill>
                  <a:srgbClr val="FFFF00"/>
                </a:solidFill>
                <a:effectLst/>
              </a:rPr>
              <a:t>1</a:t>
            </a:r>
            <a:r>
              <a:rPr lang="en-US" sz="4800" b="1" dirty="0">
                <a:solidFill>
                  <a:srgbClr val="FFFF00"/>
                </a:solidFill>
                <a:effectLst/>
              </a:rPr>
              <a:t>(A) , W</a:t>
            </a:r>
            <a:r>
              <a:rPr lang="en-US" sz="4800" b="1" baseline="-25000" dirty="0">
                <a:solidFill>
                  <a:srgbClr val="FFFF00"/>
                </a:solidFill>
                <a:effectLst/>
              </a:rPr>
              <a:t>2</a:t>
            </a:r>
            <a:r>
              <a:rPr lang="en-US" sz="4800" b="1" dirty="0">
                <a:solidFill>
                  <a:srgbClr val="FFFF00"/>
                </a:solidFill>
                <a:effectLst/>
              </a:rPr>
              <a:t>(A) , R</a:t>
            </a:r>
            <a:r>
              <a:rPr lang="en-US" sz="4800" b="1" baseline="-25000" dirty="0">
                <a:solidFill>
                  <a:srgbClr val="FFFF00"/>
                </a:solidFill>
                <a:effectLst/>
              </a:rPr>
              <a:t>3</a:t>
            </a:r>
            <a:r>
              <a:rPr lang="en-US" sz="4800" b="1" dirty="0">
                <a:solidFill>
                  <a:srgbClr val="FFFF00"/>
                </a:solidFill>
                <a:effectLst/>
              </a:rPr>
              <a:t>(A) , W</a:t>
            </a:r>
            <a:r>
              <a:rPr lang="en-US" sz="4800" b="1" baseline="-25000" dirty="0">
                <a:solidFill>
                  <a:srgbClr val="FFFF00"/>
                </a:solidFill>
                <a:effectLst/>
              </a:rPr>
              <a:t>1</a:t>
            </a:r>
            <a:r>
              <a:rPr lang="en-US" sz="4800" b="1" dirty="0">
                <a:solidFill>
                  <a:srgbClr val="FFFF00"/>
                </a:solidFill>
                <a:effectLst/>
              </a:rPr>
              <a:t>(A) , W</a:t>
            </a:r>
            <a:r>
              <a:rPr lang="en-US" sz="4800" b="1" baseline="-25000" dirty="0">
                <a:solidFill>
                  <a:srgbClr val="FFFF00"/>
                </a:solidFill>
                <a:effectLst/>
              </a:rPr>
              <a:t>3</a:t>
            </a:r>
            <a:r>
              <a:rPr lang="en-US" sz="4800" b="1" dirty="0">
                <a:solidFill>
                  <a:srgbClr val="FFFF00"/>
                </a:solidFill>
                <a:effectLst/>
              </a:rPr>
              <a:t>(A)</a:t>
            </a:r>
            <a:endParaRPr lang="en-US" sz="4800" dirty="0">
              <a:solidFill>
                <a:srgbClr val="FFFF00"/>
              </a:solidFill>
              <a:effectLst/>
            </a:endParaRPr>
          </a:p>
          <a:p>
            <a:r>
              <a:rPr lang="en-US" sz="4800" dirty="0">
                <a:solidFill>
                  <a:srgbClr val="FFFF00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946681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AF7199-11B3-409C-A5E6-F4CD29A61764}"/>
              </a:ext>
            </a:extLst>
          </p:cNvPr>
          <p:cNvSpPr txBox="1"/>
          <p:nvPr/>
        </p:nvSpPr>
        <p:spPr>
          <a:xfrm>
            <a:off x="1487488" y="0"/>
            <a:ext cx="9361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>
                <a:solidFill>
                  <a:srgbClr val="FFFF00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Non - Serializable schedule </a:t>
            </a:r>
            <a:endParaRPr lang="en-IN" sz="4800" b="1" dirty="0">
              <a:solidFill>
                <a:srgbClr val="FFFF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26E98-EF3A-239B-A7FF-633E26B7625C}"/>
              </a:ext>
            </a:extLst>
          </p:cNvPr>
          <p:cNvSpPr txBox="1"/>
          <p:nvPr/>
        </p:nvSpPr>
        <p:spPr>
          <a:xfrm>
            <a:off x="1199456" y="1124745"/>
            <a:ext cx="101531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The non-serializable schedule is divided into two types, </a:t>
            </a:r>
          </a:p>
          <a:p>
            <a:endParaRPr lang="en-US" sz="2800" dirty="0">
              <a:solidFill>
                <a:srgbClr val="FFFFFF"/>
              </a:solidFill>
              <a:latin typeface="Book Antiqua" panose="02040602050305030304" pitchFamily="18" charset="0"/>
            </a:endParaRPr>
          </a:p>
          <a:p>
            <a:pPr lvl="2"/>
            <a:r>
              <a:rPr lang="en-US" sz="2800" b="0" i="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Recoverable and </a:t>
            </a:r>
          </a:p>
          <a:p>
            <a:pPr lvl="2"/>
            <a:r>
              <a:rPr lang="en-US" sz="2800" b="0" i="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Non-recoverable Schedule.</a:t>
            </a:r>
            <a:endParaRPr lang="en-IN" sz="28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5013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AF7199-11B3-409C-A5E6-F4CD29A61764}"/>
              </a:ext>
            </a:extLst>
          </p:cNvPr>
          <p:cNvSpPr txBox="1"/>
          <p:nvPr/>
        </p:nvSpPr>
        <p:spPr>
          <a:xfrm>
            <a:off x="1487488" y="0"/>
            <a:ext cx="9361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- R</a:t>
            </a:r>
            <a:r>
              <a:rPr lang="en-IN" sz="5400" b="1" u="sng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ecoverable Schedules</a:t>
            </a:r>
            <a:endParaRPr lang="en-IN" sz="5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34B4A5-66CF-4293-BC46-92E3E2113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1392330"/>
            <a:ext cx="5831349" cy="40528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2C6CC7-98FD-F76C-31C6-1C5233DE87F2}"/>
              </a:ext>
            </a:extLst>
          </p:cNvPr>
          <p:cNvSpPr txBox="1"/>
          <p:nvPr/>
        </p:nvSpPr>
        <p:spPr>
          <a:xfrm>
            <a:off x="1170465" y="1196752"/>
            <a:ext cx="470951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Example: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 Consider the following schedule involving two transactions T</a:t>
            </a:r>
            <a:r>
              <a:rPr lang="en-US" sz="2400" b="0" i="0" baseline="-2500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1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 and T</a:t>
            </a:r>
            <a:r>
              <a:rPr lang="en-US" sz="2400" b="0" i="0" baseline="-2500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2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.</a:t>
            </a:r>
          </a:p>
          <a:p>
            <a:endParaRPr lang="en-US" sz="2400" dirty="0">
              <a:solidFill>
                <a:srgbClr val="FFFFFF"/>
              </a:solidFill>
              <a:latin typeface="Book Antiqua" panose="02040602050305030304" pitchFamily="18" charset="0"/>
            </a:endParaRPr>
          </a:p>
          <a:p>
            <a:r>
              <a:rPr lang="en-US" sz="2400" dirty="0">
                <a:latin typeface="Book Antiqua" panose="02040602050305030304" pitchFamily="18" charset="0"/>
              </a:rPr>
              <a:t>T2 read the value of A written by T1, and committed. </a:t>
            </a:r>
          </a:p>
          <a:p>
            <a:endParaRPr lang="en-US" sz="2400" dirty="0">
              <a:latin typeface="Book Antiqua" panose="02040602050305030304" pitchFamily="18" charset="0"/>
            </a:endParaRPr>
          </a:p>
          <a:p>
            <a:r>
              <a:rPr lang="en-US" sz="2400" dirty="0">
                <a:latin typeface="Book Antiqua" panose="02040602050305030304" pitchFamily="18" charset="0"/>
              </a:rPr>
              <a:t>T1 later aborted, therefore the value read by T2 is wrong, but since T2 committed, this schedule is non-recoverable.</a:t>
            </a:r>
            <a:endParaRPr lang="en-IN" sz="2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732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D78CBD-F2B4-4E59-BB71-4CAF3A6F55C8}"/>
              </a:ext>
            </a:extLst>
          </p:cNvPr>
          <p:cNvSpPr txBox="1"/>
          <p:nvPr/>
        </p:nvSpPr>
        <p:spPr>
          <a:xfrm>
            <a:off x="2756544" y="0"/>
            <a:ext cx="61028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u="sng" dirty="0">
                <a:solidFill>
                  <a:srgbClr val="FFFF00"/>
                </a:solidFill>
                <a:effectLst/>
              </a:rPr>
              <a:t>Recoverable Schedules</a:t>
            </a:r>
            <a:endParaRPr lang="en-IN" sz="4800" b="1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9C4B7-451A-408B-BB79-0CF8189F7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404" y="980728"/>
            <a:ext cx="5118596" cy="4241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8386D1-1231-A84C-25FB-3A81DC03D9A0}"/>
              </a:ext>
            </a:extLst>
          </p:cNvPr>
          <p:cNvSpPr txBox="1"/>
          <p:nvPr/>
        </p:nvSpPr>
        <p:spPr>
          <a:xfrm>
            <a:off x="839416" y="1268760"/>
            <a:ext cx="610164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Schedules in which transactions commit only after all transactions whose changes they read commit are called recoverable schedules. </a:t>
            </a:r>
          </a:p>
          <a:p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</a:rPr>
              <a:t>In other words, if some transaction </a:t>
            </a:r>
            <a:r>
              <a:rPr lang="en-US" sz="2000" dirty="0" err="1">
                <a:latin typeface="Book Antiqua" panose="02040602050305030304" pitchFamily="18" charset="0"/>
              </a:rPr>
              <a:t>Tj</a:t>
            </a:r>
            <a:r>
              <a:rPr lang="en-US" sz="2000" dirty="0">
                <a:latin typeface="Book Antiqua" panose="02040602050305030304" pitchFamily="18" charset="0"/>
              </a:rPr>
              <a:t> is reading value updated or written by some other transaction Ti, then the commit of </a:t>
            </a:r>
            <a:r>
              <a:rPr lang="en-US" sz="2000" dirty="0" err="1">
                <a:latin typeface="Book Antiqua" panose="02040602050305030304" pitchFamily="18" charset="0"/>
              </a:rPr>
              <a:t>Tj</a:t>
            </a:r>
            <a:r>
              <a:rPr lang="en-US" sz="2000" dirty="0">
                <a:latin typeface="Book Antiqua" panose="02040602050305030304" pitchFamily="18" charset="0"/>
              </a:rPr>
              <a:t> must occur after the commit of Ti.</a:t>
            </a:r>
          </a:p>
          <a:p>
            <a:endParaRPr lang="en-US" sz="2000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</a:rPr>
              <a:t>Example – Consider the following schedule involving two transactions T1 and T2.</a:t>
            </a:r>
            <a:endParaRPr lang="en-IN" sz="2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2531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67D20C-B146-432E-87CE-EBE1D7F89DB7}"/>
              </a:ext>
            </a:extLst>
          </p:cNvPr>
          <p:cNvSpPr txBox="1"/>
          <p:nvPr/>
        </p:nvSpPr>
        <p:spPr>
          <a:xfrm>
            <a:off x="1343473" y="188640"/>
            <a:ext cx="108485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u="sng" dirty="0">
                <a:solidFill>
                  <a:srgbClr val="FFFF00"/>
                </a:solidFill>
                <a:effectLst/>
              </a:rPr>
              <a:t>Types of Recoverable Schedules</a:t>
            </a:r>
            <a:endParaRPr lang="en-IN" sz="6000" b="1" dirty="0">
              <a:solidFill>
                <a:srgbClr val="FFFF00"/>
              </a:solidFill>
            </a:endParaRPr>
          </a:p>
        </p:txBody>
      </p:sp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7F876FCB-49A7-4FC5-BDF1-6756CE19A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496931"/>
            <a:ext cx="9463446" cy="38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40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CA71B0-B5DE-4F7A-951D-17CFFABA9D22}"/>
              </a:ext>
            </a:extLst>
          </p:cNvPr>
          <p:cNvSpPr/>
          <p:nvPr/>
        </p:nvSpPr>
        <p:spPr>
          <a:xfrm>
            <a:off x="2265824" y="116632"/>
            <a:ext cx="73709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CASCADING SCHEDULES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4E18CB-69D8-4E84-B2A9-60C6FC599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920" y="1340768"/>
            <a:ext cx="5578080" cy="43582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86C5CA-B47C-4D59-8868-73B89705673B}"/>
              </a:ext>
            </a:extLst>
          </p:cNvPr>
          <p:cNvSpPr txBox="1"/>
          <p:nvPr/>
        </p:nvSpPr>
        <p:spPr>
          <a:xfrm>
            <a:off x="1035840" y="1484784"/>
            <a:ext cx="55780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  <a:cs typeface="Aparajita" panose="02020603050405020304" pitchFamily="18" charset="0"/>
              </a:rPr>
              <a:t>When there is a failure in one transaction and this leads to the rolling back or aborting other dependent transactions, then such scheduling is referred to as </a:t>
            </a:r>
            <a:r>
              <a:rPr lang="en-US" sz="2800" b="1" dirty="0">
                <a:solidFill>
                  <a:srgbClr val="FFFF00"/>
                </a:solidFill>
                <a:latin typeface="Book Antiqua" panose="02040602050305030304" pitchFamily="18" charset="0"/>
                <a:cs typeface="Aparajita" panose="02020603050405020304" pitchFamily="18" charset="0"/>
              </a:rPr>
              <a:t>Cascading Schedule</a:t>
            </a:r>
            <a:r>
              <a:rPr lang="en-US" sz="2800" dirty="0">
                <a:solidFill>
                  <a:srgbClr val="FFFF00"/>
                </a:solidFill>
                <a:latin typeface="Book Antiqua" panose="02040602050305030304" pitchFamily="18" charset="0"/>
                <a:cs typeface="Aparajita" panose="02020603050405020304" pitchFamily="18" charset="0"/>
              </a:rPr>
              <a:t> or </a:t>
            </a:r>
            <a:r>
              <a:rPr lang="en-US" sz="2800" b="1" dirty="0">
                <a:solidFill>
                  <a:srgbClr val="FFFF00"/>
                </a:solidFill>
                <a:latin typeface="Book Antiqua" panose="02040602050305030304" pitchFamily="18" charset="0"/>
                <a:cs typeface="Aparajita" panose="02020603050405020304" pitchFamily="18" charset="0"/>
              </a:rPr>
              <a:t>Cascading Rollback</a:t>
            </a:r>
            <a:r>
              <a:rPr lang="en-US" sz="2800" dirty="0">
                <a:solidFill>
                  <a:srgbClr val="FFFF00"/>
                </a:solidFill>
                <a:latin typeface="Book Antiqua" panose="02040602050305030304" pitchFamily="18" charset="0"/>
                <a:cs typeface="Aparajita" panose="02020603050405020304" pitchFamily="18" charset="0"/>
              </a:rPr>
              <a:t> or </a:t>
            </a:r>
            <a:r>
              <a:rPr lang="en-US" sz="2800" b="1" dirty="0">
                <a:solidFill>
                  <a:srgbClr val="FFFF00"/>
                </a:solidFill>
                <a:latin typeface="Book Antiqua" panose="02040602050305030304" pitchFamily="18" charset="0"/>
                <a:cs typeface="Aparajita" panose="02020603050405020304" pitchFamily="18" charset="0"/>
              </a:rPr>
              <a:t>Cascading Abort</a:t>
            </a:r>
            <a:r>
              <a:rPr lang="en-US" sz="2800" dirty="0">
                <a:solidFill>
                  <a:srgbClr val="FFFF00"/>
                </a:solidFill>
                <a:latin typeface="Book Antiqua" panose="02040602050305030304" pitchFamily="18" charset="0"/>
                <a:cs typeface="Aparajita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65523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BDB19F-DDF0-4CCB-9AFA-03D57D4479BC}"/>
              </a:ext>
            </a:extLst>
          </p:cNvPr>
          <p:cNvSpPr txBox="1"/>
          <p:nvPr/>
        </p:nvSpPr>
        <p:spPr>
          <a:xfrm>
            <a:off x="1703513" y="97671"/>
            <a:ext cx="72035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CASCADELESS SCHEDULES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AF8747-EF55-47F6-8F60-7224A7BAA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2503311"/>
            <a:ext cx="519381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Cascadeless schedule allows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only committed read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D9E805BE-24D0-4C38-8CB6-761A3EF82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631" y="864185"/>
            <a:ext cx="6499942" cy="58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492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886C67-6004-49B1-97FA-A6DC71DEEAD6}"/>
              </a:ext>
            </a:extLst>
          </p:cNvPr>
          <p:cNvSpPr txBox="1"/>
          <p:nvPr/>
        </p:nvSpPr>
        <p:spPr>
          <a:xfrm>
            <a:off x="2855640" y="188640"/>
            <a:ext cx="61028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STRICT</a:t>
            </a:r>
            <a:r>
              <a:rPr lang="en-US" sz="4400" b="1" cap="none" spc="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SCHEDULES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DE066EB-4E5E-468D-943D-91EBA23828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29"/>
          <a:stretch/>
        </p:blipFill>
        <p:spPr>
          <a:xfrm>
            <a:off x="6600056" y="2060846"/>
            <a:ext cx="4978080" cy="38000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C9E3A5-CBC6-46E6-B061-DB49CCC65CA6}"/>
              </a:ext>
            </a:extLst>
          </p:cNvPr>
          <p:cNvSpPr txBox="1"/>
          <p:nvPr/>
        </p:nvSpPr>
        <p:spPr>
          <a:xfrm>
            <a:off x="1127448" y="2221927"/>
            <a:ext cx="532859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Aparajita" panose="02020603050405020304" pitchFamily="18" charset="0"/>
                <a:cs typeface="Aparajita" panose="02020603050405020304" pitchFamily="18" charset="0"/>
              </a:rPr>
              <a:t>Transaction is neither allowed to read nor write a data item until the last transaction that has written it is committed or aborted, then such a schedule is called as a </a:t>
            </a:r>
            <a:r>
              <a:rPr lang="en-US" sz="3600" b="1" dirty="0">
                <a:solidFill>
                  <a:srgbClr val="FFFF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Strict Schedule</a:t>
            </a:r>
            <a:r>
              <a:rPr lang="en-US" sz="4000" dirty="0">
                <a:solidFill>
                  <a:srgbClr val="FFFF00"/>
                </a:solidFill>
              </a:rPr>
              <a:t>.</a:t>
            </a:r>
            <a:endParaRPr lang="en-IN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1513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B818B949-C265-495F-9ADB-E4D6044B4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8" y="3035362"/>
            <a:ext cx="7200800" cy="33900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DDCE01-B9C4-45B5-9F3F-B74886BD95BE}"/>
              </a:ext>
            </a:extLst>
          </p:cNvPr>
          <p:cNvSpPr txBox="1"/>
          <p:nvPr/>
        </p:nvSpPr>
        <p:spPr>
          <a:xfrm>
            <a:off x="1559496" y="764704"/>
            <a:ext cx="110172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sz="400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Strict schedules are stricter than cascadeless schedules.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Aparajita" panose="02020603050405020304" pitchFamily="18" charset="0"/>
                <a:cs typeface="Aparajita" panose="02020603050405020304" pitchFamily="18" charset="0"/>
              </a:rPr>
              <a:t>All strict schedules are cascadeless schedules.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Aparajita" panose="02020603050405020304" pitchFamily="18" charset="0"/>
                <a:cs typeface="Aparajita" panose="02020603050405020304" pitchFamily="18" charset="0"/>
              </a:rPr>
              <a:t>All cascadeless schedules are not strict schedules.</a:t>
            </a:r>
          </a:p>
        </p:txBody>
      </p:sp>
    </p:spTree>
    <p:extLst>
      <p:ext uri="{BB962C8B-B14F-4D97-AF65-F5344CB8AC3E}">
        <p14:creationId xmlns:p14="http://schemas.microsoft.com/office/powerpoint/2010/main" val="16486169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7568" y="1340768"/>
            <a:ext cx="7776864" cy="2528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 algn="ctr">
              <a:buNone/>
            </a:pPr>
            <a:r>
              <a:rPr lang="en-US" sz="6600" dirty="0"/>
              <a:t>    </a:t>
            </a:r>
            <a:r>
              <a:rPr lang="en-US" sz="8800" b="1" dirty="0"/>
              <a:t>THANK YOU</a:t>
            </a:r>
          </a:p>
        </p:txBody>
      </p:sp>
      <p:cxnSp>
        <p:nvCxnSpPr>
          <p:cNvPr id="29699" name="Straight Arrow Connector 16"/>
          <p:cNvCxnSpPr>
            <a:cxnSpLocks noChangeShapeType="1"/>
          </p:cNvCxnSpPr>
          <p:nvPr/>
        </p:nvCxnSpPr>
        <p:spPr bwMode="auto">
          <a:xfrm rot="5400000">
            <a:off x="6506370" y="4015583"/>
            <a:ext cx="384175" cy="331787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sp>
        <p:nvSpPr>
          <p:cNvPr id="12" name="Title 1"/>
          <p:cNvSpPr txBox="1">
            <a:spLocks/>
          </p:cNvSpPr>
          <p:nvPr/>
        </p:nvSpPr>
        <p:spPr bwMode="auto">
          <a:xfrm>
            <a:off x="1343472" y="6093296"/>
            <a:ext cx="10044606" cy="432048"/>
          </a:xfrm>
          <a:prstGeom prst="rect">
            <a:avLst/>
          </a:prstGeom>
          <a:solidFill>
            <a:srgbClr val="FFFF0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defTabSz="914400" eaLnBrk="0" hangingPunct="0">
              <a:spcBef>
                <a:spcPct val="50000"/>
              </a:spcBef>
              <a:defRPr/>
            </a:pPr>
            <a:r>
              <a:rPr lang="en-US" sz="2400" kern="0" dirty="0">
                <a:latin typeface="Times New Roman" pitchFamily="18" charset="0"/>
                <a:ea typeface="+mj-ea"/>
                <a:cs typeface="Times New Roman" pitchFamily="18" charset="0"/>
              </a:rPr>
              <a:t>22CS201-DBMS						Dept. of CSE</a:t>
            </a:r>
          </a:p>
        </p:txBody>
      </p:sp>
    </p:spTree>
    <p:extLst>
      <p:ext uri="{BB962C8B-B14F-4D97-AF65-F5344CB8AC3E}">
        <p14:creationId xmlns:p14="http://schemas.microsoft.com/office/powerpoint/2010/main" val="84693408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13342</TotalTime>
  <Words>3154</Words>
  <Application>Microsoft Office PowerPoint</Application>
  <PresentationFormat>Widescreen</PresentationFormat>
  <Paragraphs>416</Paragraphs>
  <Slides>63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5" baseType="lpstr">
      <vt:lpstr>Aparajita</vt:lpstr>
      <vt:lpstr>Arial</vt:lpstr>
      <vt:lpstr>Bodoni MT</vt:lpstr>
      <vt:lpstr>Book Antiqua</vt:lpstr>
      <vt:lpstr>Bookman Old Style</vt:lpstr>
      <vt:lpstr>Calibri</vt:lpstr>
      <vt:lpstr>Cambria Math</vt:lpstr>
      <vt:lpstr>Courier New</vt:lpstr>
      <vt:lpstr>Nunito</vt:lpstr>
      <vt:lpstr>Times New Roman</vt:lpstr>
      <vt:lpstr>Wingdings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Ch. Pushya</dc:creator>
  <cp:lastModifiedBy>JHANSI LAXMI</cp:lastModifiedBy>
  <cp:revision>55</cp:revision>
  <dcterms:created xsi:type="dcterms:W3CDTF">2020-12-16T06:43:00Z</dcterms:created>
  <dcterms:modified xsi:type="dcterms:W3CDTF">2024-10-25T04:04:29Z</dcterms:modified>
</cp:coreProperties>
</file>